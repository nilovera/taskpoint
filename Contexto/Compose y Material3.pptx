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B90F3-5146-57BE-ED48-AD9D1BBCABB8}" v="2" dt="2026-04-30T17:27:33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JAS KATERINA ANDREA" userId="S::kcejas@uade.edu.ar::3aa78b9a-f7ef-41b9-a7ad-882cba3845fd" providerId="AD" clId="Web-{6E6EB8BF-C454-EDB5-5D6E-F7AC221D11BA}"/>
    <pc:docChg chg="modSld">
      <pc:chgData name="CEJAS KATERINA ANDREA" userId="S::kcejas@uade.edu.ar::3aa78b9a-f7ef-41b9-a7ad-882cba3845fd" providerId="AD" clId="Web-{6E6EB8BF-C454-EDB5-5D6E-F7AC221D11BA}" dt="2026-04-16T22:02:22.978" v="0" actId="1076"/>
      <pc:docMkLst>
        <pc:docMk/>
      </pc:docMkLst>
      <pc:sldChg chg="modSp">
        <pc:chgData name="CEJAS KATERINA ANDREA" userId="S::kcejas@uade.edu.ar::3aa78b9a-f7ef-41b9-a7ad-882cba3845fd" providerId="AD" clId="Web-{6E6EB8BF-C454-EDB5-5D6E-F7AC221D11BA}" dt="2026-04-16T22:02:22.978" v="0" actId="1076"/>
        <pc:sldMkLst>
          <pc:docMk/>
          <pc:sldMk cId="0" sldId="264"/>
        </pc:sldMkLst>
        <pc:picChg chg="mod">
          <ac:chgData name="CEJAS KATERINA ANDREA" userId="S::kcejas@uade.edu.ar::3aa78b9a-f7ef-41b9-a7ad-882cba3845fd" providerId="AD" clId="Web-{6E6EB8BF-C454-EDB5-5D6E-F7AC221D11BA}" dt="2026-04-16T22:02:22.978" v="0" actId="1076"/>
          <ac:picMkLst>
            <pc:docMk/>
            <pc:sldMk cId="0" sldId="264"/>
            <ac:picMk id="114" creationId="{00000000-0000-0000-0000-000000000000}"/>
          </ac:picMkLst>
        </pc:picChg>
      </pc:sldChg>
    </pc:docChg>
  </pc:docChgLst>
  <pc:docChgLst>
    <pc:chgData name="MICHURA TOBIAS" userId="S::tmichura@uade.edu.ar::f9853b39-83be-4139-84f9-a654902631a2" providerId="AD" clId="Web-{A86B90F3-5146-57BE-ED48-AD9D1BBCABB8}"/>
    <pc:docChg chg="modSld">
      <pc:chgData name="MICHURA TOBIAS" userId="S::tmichura@uade.edu.ar::f9853b39-83be-4139-84f9-a654902631a2" providerId="AD" clId="Web-{A86B90F3-5146-57BE-ED48-AD9D1BBCABB8}" dt="2026-04-30T17:27:33.497" v="1" actId="20577"/>
      <pc:docMkLst>
        <pc:docMk/>
      </pc:docMkLst>
      <pc:sldChg chg="modSp">
        <pc:chgData name="MICHURA TOBIAS" userId="S::tmichura@uade.edu.ar::f9853b39-83be-4139-84f9-a654902631a2" providerId="AD" clId="Web-{A86B90F3-5146-57BE-ED48-AD9D1BBCABB8}" dt="2026-04-30T17:27:33.497" v="1" actId="20577"/>
        <pc:sldMkLst>
          <pc:docMk/>
          <pc:sldMk cId="0" sldId="260"/>
        </pc:sldMkLst>
        <pc:spChg chg="mod">
          <ac:chgData name="MICHURA TOBIAS" userId="S::tmichura@uade.edu.ar::f9853b39-83be-4139-84f9-a654902631a2" providerId="AD" clId="Web-{A86B90F3-5146-57BE-ED48-AD9D1BBCABB8}" dt="2026-04-30T17:27:33.497" v="1" actId="20577"/>
          <ac:spMkLst>
            <pc:docMk/>
            <pc:sldMk cId="0" sldId="260"/>
            <ac:spMk id="90" creationId="{00000000-0000-0000-0000-000000000000}"/>
          </ac:spMkLst>
        </pc:spChg>
      </pc:sldChg>
    </pc:docChg>
  </pc:docChgLst>
  <pc:docChgLst>
    <pc:chgData name="GIL ROCES BAUTISTA" userId="aaa6832e-8d09-4708-9ef6-3159bc7ae72d" providerId="ADAL" clId="{79F2CD1F-196E-4F56-A351-6BCF82DE6730}"/>
    <pc:docChg chg="undo custSel addSld delSld modSld">
      <pc:chgData name="GIL ROCES BAUTISTA" userId="aaa6832e-8d09-4708-9ef6-3159bc7ae72d" providerId="ADAL" clId="{79F2CD1F-196E-4F56-A351-6BCF82DE6730}" dt="2026-04-23T18:27:22.693" v="2" actId="27636"/>
      <pc:docMkLst>
        <pc:docMk/>
      </pc:docMkLst>
      <pc:sldChg chg="modSp add del mod">
        <pc:chgData name="GIL ROCES BAUTISTA" userId="aaa6832e-8d09-4708-9ef6-3159bc7ae72d" providerId="ADAL" clId="{79F2CD1F-196E-4F56-A351-6BCF82DE6730}" dt="2026-04-23T18:27:22.693" v="2" actId="27636"/>
        <pc:sldMkLst>
          <pc:docMk/>
          <pc:sldMk cId="0" sldId="268"/>
        </pc:sldMkLst>
        <pc:spChg chg="mod">
          <ac:chgData name="GIL ROCES BAUTISTA" userId="aaa6832e-8d09-4708-9ef6-3159bc7ae72d" providerId="ADAL" clId="{79F2CD1F-196E-4F56-A351-6BCF82DE6730}" dt="2026-04-23T18:27:22.693" v="2" actId="27636"/>
          <ac:spMkLst>
            <pc:docMk/>
            <pc:sldMk cId="0" sldId="268"/>
            <ac:spMk id="1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51ab2b43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51ab2b43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5242fc3df_0_9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5242fc3df_0_9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5242fc3d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5242fc3d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242fc3d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5242fc3d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5242fc3d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5242fc3d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5242fc3df_0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5242fc3df_0_9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242fc3d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5242fc3d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5242fc3d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5242fc3d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5242fc3d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5242fc3d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5242fc3d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5242fc3df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5242fc3df_0_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5242fc3df_0_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5242fc3d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5242fc3d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5242fc3d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5242fc3d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 Jetpack Compose &amp; Material 3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Jetpack Compose con Material Design 3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4827750" y="424171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Adrian A. Narducci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Jetpack Compose?</a:t>
            </a: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Toolkit moderno y declarativo para construir UI nativa en Android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Todo en Kotlin (sin XML)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Cambio de paradigma: Imperativo → Declarativo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Ventajas: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Menos código boilerplate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Más intuitivo y reactivo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Mejor performance y mantenibilidad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Jetpack Compose?</a:t>
            </a:r>
            <a:endParaRPr/>
          </a:p>
        </p:txBody>
      </p:sp>
      <p:pic>
        <p:nvPicPr>
          <p:cNvPr id="78" name="Google Shape;78;p15" title="Screenshot 2026-04-09 at 7.50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776" y="1988292"/>
            <a:ext cx="6875275" cy="24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 lo Imperativo (XML) a lo Declarativo (Kotlin)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</a:rPr>
              <a:t>Imperativo (XML tradicional):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Describís </a:t>
            </a:r>
            <a:r>
              <a:rPr lang="es" b="1">
                <a:solidFill>
                  <a:schemeClr val="dk1"/>
                </a:solidFill>
              </a:rPr>
              <a:t>cómo</a:t>
            </a:r>
            <a:r>
              <a:rPr lang="es">
                <a:solidFill>
                  <a:schemeClr val="dk1"/>
                </a:solidFill>
              </a:rPr>
              <a:t> construir la UI paso a paso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findViewById, setText, setOnClickListener, etc.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Mucho código repetitivo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</a:rPr>
              <a:t>Declarativo (Compose):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Describís </a:t>
            </a:r>
            <a:r>
              <a:rPr lang="es" b="1">
                <a:solidFill>
                  <a:schemeClr val="dk1"/>
                </a:solidFill>
              </a:rPr>
              <a:t>qué</a:t>
            </a:r>
            <a:r>
              <a:rPr lang="es">
                <a:solidFill>
                  <a:schemeClr val="dk1"/>
                </a:solidFill>
              </a:rPr>
              <a:t> debe mostrar la UI según el estado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La UI se actualiza automáticamente cuando el estado cambia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Todo en funciones @Composable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Pensar en Compose: Recomposición y Ciclo de Vida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@Composable: Funciones especiales que describen UI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/>
              <a:t>Recomposición: Cuando el estado cambia, </a:t>
            </a:r>
            <a:r>
              <a:rPr lang="es" dirty="0" err="1"/>
              <a:t>Compose</a:t>
            </a:r>
            <a:r>
              <a:rPr lang="es" dirty="0"/>
              <a:t> vuelve a ejecutar las funciones @Composable afectadas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/>
              <a:t>Ciclo de vida de un </a:t>
            </a:r>
            <a:r>
              <a:rPr lang="es" dirty="0" err="1"/>
              <a:t>Composable</a:t>
            </a:r>
            <a:r>
              <a:rPr lang="es" dirty="0"/>
              <a:t>:</a:t>
            </a:r>
            <a:endParaRPr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Entra en la composición (primera vez)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dirty="0"/>
              <a:t>Se </a:t>
            </a:r>
            <a:r>
              <a:rPr lang="es"/>
              <a:t>recompone</a:t>
            </a:r>
            <a:r>
              <a:rPr lang="es" dirty="0"/>
              <a:t> (0 o más veces) cuando cambia el estado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Sale de la composición (se elimina)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 dirty="0" err="1"/>
              <a:t>Compose</a:t>
            </a:r>
            <a:r>
              <a:rPr lang="es" dirty="0"/>
              <a:t> es inteligente: solo </a:t>
            </a:r>
            <a:r>
              <a:rPr lang="es" dirty="0" err="1"/>
              <a:t>recompo</a:t>
            </a:r>
            <a:r>
              <a:rPr lang="es" dirty="0"/>
              <a:t> </a:t>
            </a:r>
            <a:r>
              <a:rPr lang="es" dirty="0" err="1"/>
              <a:t>ne</a:t>
            </a:r>
            <a:r>
              <a:rPr lang="es" dirty="0"/>
              <a:t> lo que realmente cambió (</a:t>
            </a:r>
            <a:r>
              <a:rPr lang="es" dirty="0" err="1"/>
              <a:t>smart</a:t>
            </a:r>
            <a:r>
              <a:rPr lang="es" dirty="0"/>
              <a:t> </a:t>
            </a:r>
            <a:r>
              <a:rPr lang="es" dirty="0" err="1"/>
              <a:t>recomposition</a:t>
            </a:r>
            <a:r>
              <a:rPr lang="e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Material Design 3 (Material You)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Nueva versión de Material Design de Google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Colores dinámicos (Dynamic Color): se adapta al wallpaper del usuario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Jerarquía de temas: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MaterialTheme (colores, tipografía, formas)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ColorScheme (primary, secondary, tertiary, surface, etc.)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Typography y Shape personalizables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Accesibilidad mejorada y personalización profunda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Material Design 3 (Material You)</a:t>
            </a:r>
            <a:endParaRPr/>
          </a:p>
        </p:txBody>
      </p:sp>
      <p:pic>
        <p:nvPicPr>
          <p:cNvPr id="102" name="Google Shape;102;p19" title="Screenshot 2026-04-09 at 7.39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400" y="730788"/>
            <a:ext cx="4166400" cy="3681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Contenedores Básicos: Column, Row y Box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 b="1">
                <a:solidFill>
                  <a:schemeClr val="dk1"/>
                </a:solidFill>
              </a:rPr>
              <a:t>Column</a:t>
            </a:r>
            <a:r>
              <a:rPr lang="es" sz="1700">
                <a:solidFill>
                  <a:schemeClr val="dk1"/>
                </a:solidFill>
              </a:rPr>
              <a:t>: Organiza elementos </a:t>
            </a:r>
            <a:r>
              <a:rPr lang="es" sz="1700" b="1">
                <a:solidFill>
                  <a:schemeClr val="dk1"/>
                </a:solidFill>
              </a:rPr>
              <a:t>verticalmente</a:t>
            </a:r>
            <a:r>
              <a:rPr lang="es" sz="1700">
                <a:solidFill>
                  <a:schemeClr val="dk1"/>
                </a:solidFill>
              </a:rPr>
              <a:t> (uno debajo del otro)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 b="1">
                <a:solidFill>
                  <a:schemeClr val="dk1"/>
                </a:solidFill>
              </a:rPr>
              <a:t>Row</a:t>
            </a:r>
            <a:r>
              <a:rPr lang="es" sz="1700">
                <a:solidFill>
                  <a:schemeClr val="dk1"/>
                </a:solidFill>
              </a:rPr>
              <a:t>: Organiza elementos </a:t>
            </a:r>
            <a:r>
              <a:rPr lang="es" sz="1700" b="1">
                <a:solidFill>
                  <a:schemeClr val="dk1"/>
                </a:solidFill>
              </a:rPr>
              <a:t>horizontalmente</a:t>
            </a:r>
            <a:r>
              <a:rPr lang="es" sz="1700">
                <a:solidFill>
                  <a:schemeClr val="dk1"/>
                </a:solidFill>
              </a:rPr>
              <a:t> (uno al lado del otro)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 b="1">
                <a:solidFill>
                  <a:schemeClr val="dk1"/>
                </a:solidFill>
              </a:rPr>
              <a:t>Box</a:t>
            </a:r>
            <a:r>
              <a:rPr lang="es" sz="1700">
                <a:solidFill>
                  <a:schemeClr val="dk1"/>
                </a:solidFill>
              </a:rPr>
              <a:t>: Apila elementos (como un FrameLayout). Útil para superponer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 b="1">
                <a:solidFill>
                  <a:schemeClr val="dk1"/>
                </a:solidFill>
              </a:rPr>
              <a:t>Parámetros importantes: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</a:rPr>
              <a:t>verticalArrangement / horizontalArrangement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</a:rPr>
              <a:t>verticalAlignment / horizontalAlignment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Contenedores Básicos: Column, Row y Box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21" title="Screenshot 2026-04-09 at 7.38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1850" y="413995"/>
            <a:ext cx="5389950" cy="44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Modificadores: El "estilismo" en Compose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</a:rPr>
              <a:t>Los </a:t>
            </a:r>
            <a:r>
              <a:rPr lang="es" sz="1700" b="1">
                <a:solidFill>
                  <a:schemeClr val="dk1"/>
                </a:solidFill>
              </a:rPr>
              <a:t>Modifiers</a:t>
            </a:r>
            <a:r>
              <a:rPr lang="es" sz="1700">
                <a:solidFill>
                  <a:schemeClr val="dk1"/>
                </a:solidFill>
              </a:rPr>
              <a:t> son la forma de dar estilo, tamaño, comportamiento y posición a los elementos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</a:rPr>
              <a:t>Se encadenan con . (chainable)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 b="1">
                <a:solidFill>
                  <a:schemeClr val="dk1"/>
                </a:solidFill>
              </a:rPr>
              <a:t>Ejemplos comunes: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</a:rPr>
              <a:t>.padding(16.dp)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</a:rPr>
              <a:t>.size(200.dp) o .fillMaxWidth()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</a:rPr>
              <a:t>.background(Color.Blue)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</a:rPr>
              <a:t>.clickable { ... }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" sz="1700">
                <a:solidFill>
                  <a:schemeClr val="dk1"/>
                </a:solidFill>
              </a:rPr>
              <a:t>.border(...), .shadow(...), etc.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Scaffold, TopAppBar y FloatingActionButton - Material3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100" b="1">
                <a:solidFill>
                  <a:schemeClr val="dk1"/>
                </a:solidFill>
              </a:rPr>
              <a:t>Scaffold</a:t>
            </a:r>
            <a:r>
              <a:rPr lang="es" sz="2100">
                <a:solidFill>
                  <a:schemeClr val="dk1"/>
                </a:solidFill>
              </a:rPr>
              <a:t>: Estructura base de la pantalla (proporciona padding correcto)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100" b="1">
                <a:solidFill>
                  <a:schemeClr val="dk1"/>
                </a:solidFill>
              </a:rPr>
              <a:t>TopAppBar</a:t>
            </a:r>
            <a:r>
              <a:rPr lang="es" sz="2100">
                <a:solidFill>
                  <a:schemeClr val="dk1"/>
                </a:solidFill>
              </a:rPr>
              <a:t>: Barra superior con título, navegación y acciones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100" b="1">
                <a:solidFill>
                  <a:schemeClr val="dk1"/>
                </a:solidFill>
              </a:rPr>
              <a:t>FloatingActionButton (FAB)</a:t>
            </a:r>
            <a:r>
              <a:rPr lang="es" sz="2100">
                <a:solidFill>
                  <a:schemeClr val="dk1"/>
                </a:solidFill>
              </a:rPr>
              <a:t>: Botón flotante de acción principal (generalmente +)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Scaffold, TopAppBar y FloatingActionButton - Material3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/>
          </a:p>
        </p:txBody>
      </p:sp>
      <p:pic>
        <p:nvPicPr>
          <p:cNvPr id="133" name="Google Shape;133;p24" title="Screenshot 2026-04-09 at 7.40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7938" y="1666375"/>
            <a:ext cx="4339874" cy="1810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Card, Button y Text - Material3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s" sz="2200" b="1">
                <a:solidFill>
                  <a:schemeClr val="dk1"/>
                </a:solidFill>
              </a:rPr>
              <a:t>Card</a:t>
            </a:r>
            <a:r>
              <a:rPr lang="es" sz="2200">
                <a:solidFill>
                  <a:schemeClr val="dk1"/>
                </a:solidFill>
              </a:rPr>
              <a:t>: Contenedor elevado con sombra (ideal para contenido agrupado)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s" sz="2200" b="1">
                <a:solidFill>
                  <a:schemeClr val="dk1"/>
                </a:solidFill>
              </a:rPr>
              <a:t>Button</a:t>
            </a:r>
            <a:r>
              <a:rPr lang="es" sz="2200">
                <a:solidFill>
                  <a:schemeClr val="dk1"/>
                </a:solidFill>
              </a:rPr>
              <a:t>: Botones de diferentes estilos (Filled, Outlined, Text, etc.)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s" sz="2200" b="1">
                <a:solidFill>
                  <a:schemeClr val="dk1"/>
                </a:solidFill>
              </a:rPr>
              <a:t>Text</a:t>
            </a:r>
            <a:r>
              <a:rPr lang="es" sz="2200">
                <a:solidFill>
                  <a:schemeClr val="dk1"/>
                </a:solidFill>
              </a:rPr>
              <a:t>: Texto con </a:t>
            </a:r>
            <a:r>
              <a:rPr lang="es" sz="2200" b="1">
                <a:solidFill>
                  <a:schemeClr val="dk1"/>
                </a:solidFill>
              </a:rPr>
              <a:t>Typography</a:t>
            </a:r>
            <a:r>
              <a:rPr lang="es" sz="2200">
                <a:solidFill>
                  <a:schemeClr val="dk1"/>
                </a:solidFill>
              </a:rPr>
              <a:t> de Material (displayLarge, headlineMedium, bodyLarge, etc.)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Gracias!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125" y="2236100"/>
            <a:ext cx="4144238" cy="276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A0978C92AED346A5B2D7523A4F38C1" ma:contentTypeVersion="7" ma:contentTypeDescription="Crear nuevo documento." ma:contentTypeScope="" ma:versionID="b8f9f304219515137087e73dbb27e9d8">
  <xsd:schema xmlns:xsd="http://www.w3.org/2001/XMLSchema" xmlns:xs="http://www.w3.org/2001/XMLSchema" xmlns:p="http://schemas.microsoft.com/office/2006/metadata/properties" xmlns:ns2="6817ed02-5f63-452f-a9ab-4e2e87cdde74" targetNamespace="http://schemas.microsoft.com/office/2006/metadata/properties" ma:root="true" ma:fieldsID="7368f7f269e55e9201cd92fa5041eb77" ns2:_="">
    <xsd:import namespace="6817ed02-5f63-452f-a9ab-4e2e87cdde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05249-91E0-47B5-A4BF-9CEFB0BED5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2E92E5-99C7-4761-86DC-1A60458C23F6}">
  <ds:schemaRefs>
    <ds:schemaRef ds:uri="6817ed02-5f63-452f-a9ab-4e2e87cdde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351E763-C864-4F5F-917C-014DAD26EAD2}">
  <ds:schemaRefs>
    <ds:schemaRef ds:uri="6817ed02-5f63-452f-a9ab-4e2e87cdde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Paradigm</vt:lpstr>
      <vt:lpstr>Introducción a Jetpack Compose &amp; Material 3</vt:lpstr>
      <vt:lpstr>¿Qué es Jetpack Compose?</vt:lpstr>
      <vt:lpstr>¿Qué es Jetpack Compose?</vt:lpstr>
      <vt:lpstr>De lo Imperativo (XML) a lo Declarativo (Kotlin)</vt:lpstr>
      <vt:lpstr>Pensar en Compose: Recomposición y Ciclo de Vida </vt:lpstr>
      <vt:lpstr>Material Design 3 (Material You)</vt:lpstr>
      <vt:lpstr>Material Design 3 (Material You)</vt:lpstr>
      <vt:lpstr>Contenedores Básicos: Column, Row y Box </vt:lpstr>
      <vt:lpstr>Contenedores Básicos: Column, Row y Box </vt:lpstr>
      <vt:lpstr>Modificadores: El "estilismo" en Compose </vt:lpstr>
      <vt:lpstr>Scaffold, TopAppBar y FloatingActionButton - Material3 </vt:lpstr>
      <vt:lpstr>Scaffold, TopAppBar y FloatingActionButton - Material3 </vt:lpstr>
      <vt:lpstr>Card, Button y Text - Material3 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2026-04-30T17:35:19Z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