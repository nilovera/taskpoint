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58"/>
  </p:notesMasterIdLst>
  <p:handoutMasterIdLst>
    <p:handoutMasterId r:id="rId59"/>
  </p:handoutMasterIdLst>
  <p:sldIdLst>
    <p:sldId id="543" r:id="rId5"/>
    <p:sldId id="477" r:id="rId6"/>
    <p:sldId id="383" r:id="rId7"/>
    <p:sldId id="443" r:id="rId8"/>
    <p:sldId id="494" r:id="rId9"/>
    <p:sldId id="444" r:id="rId10"/>
    <p:sldId id="503" r:id="rId11"/>
    <p:sldId id="480" r:id="rId12"/>
    <p:sldId id="481" r:id="rId13"/>
    <p:sldId id="531" r:id="rId14"/>
    <p:sldId id="504" r:id="rId15"/>
    <p:sldId id="446" r:id="rId16"/>
    <p:sldId id="482" r:id="rId17"/>
    <p:sldId id="447" r:id="rId18"/>
    <p:sldId id="493" r:id="rId19"/>
    <p:sldId id="505" r:id="rId20"/>
    <p:sldId id="525" r:id="rId21"/>
    <p:sldId id="532" r:id="rId22"/>
    <p:sldId id="533" r:id="rId23"/>
    <p:sldId id="534" r:id="rId24"/>
    <p:sldId id="513" r:id="rId25"/>
    <p:sldId id="514" r:id="rId26"/>
    <p:sldId id="517" r:id="rId27"/>
    <p:sldId id="515" r:id="rId28"/>
    <p:sldId id="535" r:id="rId29"/>
    <p:sldId id="536" r:id="rId30"/>
    <p:sldId id="511" r:id="rId31"/>
    <p:sldId id="512" r:id="rId32"/>
    <p:sldId id="516" r:id="rId33"/>
    <p:sldId id="526" r:id="rId34"/>
    <p:sldId id="527" r:id="rId35"/>
    <p:sldId id="528" r:id="rId36"/>
    <p:sldId id="529" r:id="rId37"/>
    <p:sldId id="530" r:id="rId38"/>
    <p:sldId id="483" r:id="rId39"/>
    <p:sldId id="506" r:id="rId40"/>
    <p:sldId id="484" r:id="rId41"/>
    <p:sldId id="537" r:id="rId42"/>
    <p:sldId id="507" r:id="rId43"/>
    <p:sldId id="508" r:id="rId44"/>
    <p:sldId id="510" r:id="rId45"/>
    <p:sldId id="518" r:id="rId46"/>
    <p:sldId id="519" r:id="rId47"/>
    <p:sldId id="520" r:id="rId48"/>
    <p:sldId id="521" r:id="rId49"/>
    <p:sldId id="522" r:id="rId50"/>
    <p:sldId id="523" r:id="rId51"/>
    <p:sldId id="524" r:id="rId52"/>
    <p:sldId id="538" r:id="rId53"/>
    <p:sldId id="539" r:id="rId54"/>
    <p:sldId id="540" r:id="rId55"/>
    <p:sldId id="541" r:id="rId56"/>
    <p:sldId id="542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5B8600-A01B-CAF4-52CE-654997155A64}" v="1" dt="2026-04-29T23:23:33.629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66" Type="http://schemas.microsoft.com/office/2015/10/relationships/revisionInfo" Target="revisionInfo.xml"/><Relationship Id="rId5" Type="http://schemas.openxmlformats.org/officeDocument/2006/relationships/slide" Target="slides/slide1.xml"/><Relationship Id="rId61" Type="http://schemas.openxmlformats.org/officeDocument/2006/relationships/presProps" Target="pres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handoutMaster" Target="handoutMasters/handoutMaster1.xml"/><Relationship Id="rId67" Type="http://schemas.microsoft.com/office/2018/10/relationships/authors" Target="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commentAuthors" Target="commentAuthors.xml"/><Relationship Id="rId65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RAPODI AGUSTINA" userId="S::amarrapodi@uade.edu.ar::b2f92dd6-80b7-4efa-bf4f-bf884a2fad02" providerId="AD" clId="Web-{9C5B8600-A01B-CAF4-52CE-654997155A64}"/>
    <pc:docChg chg="modSld">
      <pc:chgData name="MARRAPODI AGUSTINA" userId="S::amarrapodi@uade.edu.ar::b2f92dd6-80b7-4efa-bf4f-bf884a2fad02" providerId="AD" clId="Web-{9C5B8600-A01B-CAF4-52CE-654997155A64}" dt="2026-04-29T23:23:33.629" v="0" actId="1076"/>
      <pc:docMkLst>
        <pc:docMk/>
      </pc:docMkLst>
      <pc:sldChg chg="modSp">
        <pc:chgData name="MARRAPODI AGUSTINA" userId="S::amarrapodi@uade.edu.ar::b2f92dd6-80b7-4efa-bf4f-bf884a2fad02" providerId="AD" clId="Web-{9C5B8600-A01B-CAF4-52CE-654997155A64}" dt="2026-04-29T23:23:33.629" v="0" actId="1076"/>
        <pc:sldMkLst>
          <pc:docMk/>
          <pc:sldMk cId="3969764305" sldId="531"/>
        </pc:sldMkLst>
        <pc:spChg chg="mod">
          <ac:chgData name="MARRAPODI AGUSTINA" userId="S::amarrapodi@uade.edu.ar::b2f92dd6-80b7-4efa-bf4f-bf884a2fad02" providerId="AD" clId="Web-{9C5B8600-A01B-CAF4-52CE-654997155A64}" dt="2026-04-29T23:23:33.629" v="0" actId="1076"/>
          <ac:spMkLst>
            <pc:docMk/>
            <pc:sldMk cId="3969764305" sldId="531"/>
            <ac:spMk id="31" creationId="{F02B8EB4-C312-C508-88D1-CD1CE9788B61}"/>
          </ac:spMkLst>
        </pc:spChg>
      </pc:sldChg>
    </pc:docChg>
  </pc:docChgLst>
  <pc:docChgLst>
    <pc:chgData name="ORTUZAR TOMAS" userId="S::tortuzar@uade.edu.ar::47fc6d3d-1dc1-4ee7-8cdc-1ad909d32f2d" providerId="AD" clId="Web-{415D5ABC-74B9-F266-84B6-2DD81F96DB86}"/>
    <pc:docChg chg="modSld">
      <pc:chgData name="ORTUZAR TOMAS" userId="S::tortuzar@uade.edu.ar::47fc6d3d-1dc1-4ee7-8cdc-1ad909d32f2d" providerId="AD" clId="Web-{415D5ABC-74B9-F266-84B6-2DD81F96DB86}" dt="2026-04-23T23:09:22.403" v="2" actId="20577"/>
      <pc:docMkLst>
        <pc:docMk/>
      </pc:docMkLst>
      <pc:sldChg chg="modSp">
        <pc:chgData name="ORTUZAR TOMAS" userId="S::tortuzar@uade.edu.ar::47fc6d3d-1dc1-4ee7-8cdc-1ad909d32f2d" providerId="AD" clId="Web-{415D5ABC-74B9-F266-84B6-2DD81F96DB86}" dt="2026-04-23T23:09:22.403" v="2" actId="20577"/>
        <pc:sldMkLst>
          <pc:docMk/>
          <pc:sldMk cId="3053278925" sldId="526"/>
        </pc:sldMkLst>
        <pc:spChg chg="mod">
          <ac:chgData name="ORTUZAR TOMAS" userId="S::tortuzar@uade.edu.ar::47fc6d3d-1dc1-4ee7-8cdc-1ad909d32f2d" providerId="AD" clId="Web-{415D5ABC-74B9-F266-84B6-2DD81F96DB86}" dt="2026-04-23T23:09:22.403" v="2" actId="20577"/>
          <ac:spMkLst>
            <pc:docMk/>
            <pc:sldMk cId="3053278925" sldId="526"/>
            <ac:spMk id="6" creationId="{A3DACBFF-92AB-1F81-695A-C3D7B28B243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8E285-74C6-5799-D075-EC0F8AFC8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149B5A-5E57-1CA4-D884-C11B1689E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A2C9F2-38AE-7EA3-742F-76A034B5E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172BD-0A5E-1A1D-6E4D-6B58FFC64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321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52B72-4AB8-B97B-0C8F-63ACF2B8A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089BB5-A107-AA1D-6D56-9E98EE2242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486F76-6FD9-4CCA-2587-5EDC05F13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19E3B-D442-36DE-7294-4339CFF90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066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E965E-74B4-9B01-4C4B-4CEF6EC56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3766FB-08FF-1B92-158C-3B1C29AD8C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E5CD51-918D-5854-196A-5F905D0F9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E1ABE-D58B-EE92-F37F-B0419C19D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9415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33B21-13B4-5559-2C0F-2C1091097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806959-7499-AB3D-D88D-2E5C14E5BC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1E98B8-4DDF-6A83-D956-E2714D913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F6068-94A5-AD62-6876-75B7EA72C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83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EF2FD-1CF3-2469-8F44-BEADD4574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30F692-1C1A-8789-F5E6-42B8F699E9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C7F993-3ED2-43CB-1A69-C62738559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102E6-9024-C9D4-A045-65325D5452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831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E0B45-F5E5-B9F7-DFA7-6AEC109E2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F5110C-23C0-EDCA-D3AF-85E4B3A26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121025-EB98-2DFA-152F-1C0242CA9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7626D-C53F-2D39-B443-BD764FA4C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5247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55951-B214-E67F-AC67-FD2D25357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52DBA-E3D2-E1E9-CEC3-60A963C308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7F9090-B782-D9D9-FAFF-D02DA60F3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D9ABB-68EE-C340-0240-448061259B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5708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D5A5D-AE06-F882-CABF-D55FCC317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57F3B5-C0BF-1F0D-3490-1CDBCEE06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ACCA99-3458-A7C7-38DF-88C43FF8D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A34E8-DA6B-2A54-5A56-D3531A7DA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0806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E525D-A9E8-4FBB-E25C-9834F4176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C5D9B-BEE3-70E8-9C1A-A177B8CEAB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E79D8B-FA7A-AA02-A05D-0C1F8F288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C367E-172C-A7C5-2C05-C3D7991A59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4282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68053-D6A7-5C88-04A0-F8BBF427A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D500A3-D3A0-EF33-A088-8D15B8E42B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50753-8DB8-A049-77F4-D9A664330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5BEEE-2882-EE9D-6F82-5E5131D653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476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94B58-21B4-2F94-D8F8-B55C8F898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DF9C52-0392-6ED7-A7DE-AE5FE5D64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ABA8FD-5A35-E41D-16BD-D63248B0F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06FBB-25A6-B3E2-FD03-C598B8FB47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16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0B74F-42DD-1FAB-F754-9034320B8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BA7237-8C77-C9DB-EB4F-52FF286A10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9F9B3B-538E-E9EC-16CB-97BF6D5B5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97098-ED34-27BF-08B5-6D20258E3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0035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C14AC-025E-8916-AA75-8E1AF461F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940F2F-6B09-A560-7E76-37B48D043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1B6F1F-B641-0EAA-B945-978993BAA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85058-411A-53AD-290F-C5301E1EFF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5656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96A1A-B4DB-0CA3-5F40-4C5A0BAF5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314815-059E-B4F7-445D-B084DFC72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AA1EC4-1368-9D8D-5719-12B54DCD7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A7723-428E-0BE9-FE6F-A329B95114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6178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91D04-E7BD-0251-AB5A-825BEE39F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8EBFCA-E1F0-2CED-B67F-746E1B5A5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CA3FAD-C6CC-E790-7953-907CAB172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7A0A6-4FBB-B131-7298-1213A3C56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8495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D9400-35B1-A0B4-A299-38A49C804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4B636E-F0B6-613E-088E-6E2B8B853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2372A5-28A5-82E0-6C38-17F083E7B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9E3B26-1FC4-9F69-6684-F21646637F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6464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2D361-43C3-78BF-14A4-1C0CC411B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D4E831-B075-30DD-4DC6-C571C75010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87B87B-D07B-6335-13AF-8685D15C4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0140D-4E81-5BD2-E50F-954F41A1C9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8476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C3837-10A0-B4B5-F282-2088CDD49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3B6936-3CC6-1DB6-8B7F-6D27DF378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1F35AA-5A2F-1D0B-DE89-93876A48E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6882C-2EEE-288E-EDA1-A1A3A2F04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923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ED978-4560-477D-BB95-89B3C1D14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147FD3-A479-820F-9F75-E9A0092367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2A7E7C-3DD2-A37E-1324-11F2B1C8C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CAB0C-C748-5C9F-7FE8-A7BC8117DE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281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206B2-FA5D-46CB-BC50-8CC390956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7AD580-37F3-0B7A-8119-C12934FFE3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3B494-8FA2-873D-54FB-27BB03C63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95E31-3542-AED8-2E61-BA01D456B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6787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4499F-D642-3993-FDB5-D983015FF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C1FA5C-A200-3C27-DD1E-AD991F7B8E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CCC8A6-8F46-EC41-52FE-F0245FE94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0F6A5-4994-D4A7-9DDB-507C783685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5801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08667-25D1-0029-6095-627FC0A46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3BA17-B776-A953-E2A4-BD1C44CBEE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373AA5-B1E7-6690-724E-F3F3FF6EA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A7A41-7EC3-2408-A8EE-680C4ECA31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3929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8D7B5-EA34-892C-3384-4CD1B5165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4973C5-AFA9-B30F-EAC6-E416E4E89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EF79ED-134A-92C4-6775-34E4AFE99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33131-9878-F986-C20B-9BCB305C21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807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BF343-0310-BE2F-0F0A-F704AA34C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1009AF-5DA2-C8E7-0E69-4B3FBDCDEC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4220F-C8C1-E255-1460-48444072C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0E65E-1C22-20C7-F1D3-FF0B3112F9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6652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1D2BA-B51A-FE60-6AA1-06D2ABD73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146613-3240-989C-8A6F-ABD82F300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62359-40E7-0B1C-B7ED-6AF2C4ADA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2F607-7729-9E43-C7EE-B8276FA276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1222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C08AC-1034-CA95-BBFB-40FD89FA3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B49DB-F54A-F068-90D9-95724778B5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B9B141-D576-A2A0-CEED-4CD087C6E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99606-9841-4A79-7681-652C5FEB0C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1581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3F204-1A67-DC99-5A26-F2C0DBAFB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36509-7013-9D90-99F6-C69691A0D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5D193-2223-CBA8-8183-5DDC83441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C6599-F9D7-C2CE-FB09-34ABFB522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9536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FD7B1-1FE2-B5AC-30A8-4985C1404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96889F-3653-DE67-3544-DA020A019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AB6F60-4561-84C8-0986-920063D89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36CC5-9809-CFB6-587F-426195C777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8315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37162-0EB5-E7E3-FC1B-820FA7E7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F5CF3-89AA-5524-F9F3-17798A9D0D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BC794-CC7C-124F-2C50-E01A95067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BDC7E-CF0B-9F61-D55F-6781B50D8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7586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EE18A-89C3-A478-A251-7FE43E330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040E84-2148-77F4-57BA-EFF5C04626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B9F54-D5B9-68D0-B665-789526293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35F70-243F-203B-1467-761C527384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4264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7B15F-7C4D-5CFB-E4A5-DB729BD8A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8603CE-046F-D1F7-CEA8-3C48CF4F80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9560C6-EDCB-F587-3ADE-724993D67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4F499-A98A-F753-E8A8-21FFAC943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255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4EBC0-769F-BEAC-2CD8-C0A36FE21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7FE8A-E70F-7717-860B-760969286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C170A3-AA5F-19A1-DDE0-EB5D44759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58092-20E0-43F3-BB0E-059B7EBFB2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60620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83CF7-21BE-D64F-23C4-43DBF5F39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42942A-786A-52AF-0D57-3DD638D9A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BADFDD-BAC7-4314-A197-705672B79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336E7-9469-1F05-BFDE-E2F5DEC5F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3946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EDDF2-8273-8AD5-F733-DACEE1FC3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AD41E8-CE95-2F1C-33A3-262CD5C80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749E93-CC34-9876-0FEE-4D33592851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D12DF-CA0A-0581-8764-DF5B9497F7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9910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F246C-32AE-7F05-A013-FB40DD94B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7F857A-C3CC-DE92-6264-FC9B05C1B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FC8765-372F-F1A4-9131-4B7CA8F5E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B980B-354D-AD6C-0FA2-677567609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02872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0FC7F-467D-4FEC-995B-53CF009AB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250915-3385-8376-8EFC-FA493A76E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765DF1-62D4-8B86-1D6C-9C5A1C6E13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E73D8-A50E-666B-F004-92078F661F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05183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B7C02-D54D-5071-E11F-392CED7BF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368239-9836-7461-72A8-0C1908AE33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C34BAD-8376-A50A-B835-446F97AB5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9B67C-A460-0A7D-319B-480686AC6A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9974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3D17C-6ACF-34D0-1A17-134B9252C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FF59A-94C1-BCC7-4A2D-FFAF9B8F1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35CF63-3BC8-647A-DD29-19573A242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9D1EE-83D1-F830-9F2C-D92B42627E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58364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BE033-920B-AC3C-F913-3B6C280F0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22B02F-4BCB-B42A-1A85-311B81BD64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92BBBD-546B-EF7C-CA86-0B5A1DCC6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D917D-F26D-68A6-AA68-E2EC14426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75379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6CDF9-ECD6-5B8E-E188-FDBC22EB3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8A1BBC-ED32-D6C4-ADB8-6C6F8B248C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B4648A-B0B8-D178-58FA-FC61088B8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DEE07-5312-44E0-B100-A1F26F1F2F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185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636C7-33E2-8998-F663-5E88709A4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1DE544-048E-7134-79CF-CF41C6E3AB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19137F-6B12-BE02-EB17-A3EEF057D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7B189-3778-EBC0-FB29-749CF40A19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7304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BC270-CF2C-452A-A163-215D8E1F9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259F3A-85E9-0F1F-6878-E45184CE5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CBBA6-CA49-879E-2A49-4FD3C1390B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88014-14E1-B581-7CF4-9E4AB4C16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4562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04FCE-2545-EA18-A7FE-8DD5AC096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A9329E-52FA-8601-44C2-AAE699172C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0A9AD-342B-C569-A252-78936755C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97EB7-E188-CC71-0098-909716652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09000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FA788-50F2-F62E-6193-7D67FD1B9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EDC14F-A378-4F35-C4D9-97699494C5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AD9D9B-19E2-69F4-E6BA-128FA017D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E43EF-C68B-6B07-DC61-17E6E3FF33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3538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B77FE-EF03-5DA3-4182-3F55CE2CC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4906BC-AD11-AA9B-F9D5-93BF7D24B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5657D1-1595-86F3-7057-019D14E76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2B7A6-070D-C5EA-F1E7-BE69A2EB24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82600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8C665-9D7D-2953-4251-A6CE512CB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9EF678-437D-E7D0-F0CA-589B0F168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C7C5FA-546A-B1F7-331B-CFBC4BC4D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90832-D46C-6A3A-F359-1ED11F7AEF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11288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918AA-1B6B-4B42-7474-3CFEAB5EC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3AD65B-5ED7-2FE5-0694-5642CC1558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CF896E-9AFB-3029-059B-F3E7F8A14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E9061-A2BA-15A3-71E2-9C7C53BE4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4059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D9F6E-2CAE-DDAE-6AD5-E6D4F4F9D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7F0488-8F9F-6C86-FED3-007A2B414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8C4E04-61F1-FFB8-4A00-BDCBA2A7C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0FAAB-C89D-6E67-79E0-11FAAB2F59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03986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0BE4F-6801-BB47-41BD-0C06FF6BA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C6CEF6-8FBB-00E6-6D2B-5EA84D8A6E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7B972B-661D-3BC3-807D-D430333B7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2F34D-8F4E-0C0A-1CD6-FCDC58FEF6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2778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EDC33-12BD-DA4B-610E-FE21FDC7A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C0CC8C-F78F-F657-8C8B-E624BC4D4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18C74-FA48-9A67-A4D7-2C4E6D5ED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DAF33-6810-39EC-B152-5CFD8BAA31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8627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44442-FEF8-6E0B-8FA7-CD03B778F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000546-BBB8-C0B8-E800-3937303F03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4AAAA5-1A87-E6B8-A3C4-B8A0FF39F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FD04A-2735-D4D5-96DC-ECB597D976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202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endParaRPr lang="en-US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6380" y="606823"/>
            <a:ext cx="9019159" cy="2916252"/>
          </a:xfrm>
        </p:spPr>
        <p:txBody>
          <a:bodyPr/>
          <a:lstStyle/>
          <a:p>
            <a:r>
              <a:rPr lang="es-AR" sz="4400">
                <a:latin typeface="Arial" panose="020B0604020202020204" pitchFamily="34" charset="0"/>
                <a:cs typeface="Arial" panose="020B0604020202020204" pitchFamily="34" charset="0"/>
              </a:rPr>
              <a:t>Android Compile &amp; </a:t>
            </a:r>
            <a:r>
              <a:rPr lang="es-AR" sz="4400" err="1">
                <a:latin typeface="Arial" panose="020B0604020202020204" pitchFamily="34" charset="0"/>
                <a:cs typeface="Arial" panose="020B0604020202020204" pitchFamily="34" charset="0"/>
              </a:rPr>
              <a:t>Runtime</a:t>
            </a:r>
            <a:r>
              <a:rPr lang="es-AR" sz="440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es-AR" sz="44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AR" sz="4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AR" sz="4400">
                <a:latin typeface="Arial" panose="020B0604020202020204" pitchFamily="34" charset="0"/>
                <a:cs typeface="Arial" panose="020B0604020202020204" pitchFamily="34" charset="0"/>
              </a:rPr>
              <a:t>JIT – AOT &amp; </a:t>
            </a:r>
            <a:r>
              <a:rPr lang="es-AR" sz="4400" err="1">
                <a:latin typeface="Arial" panose="020B0604020202020204" pitchFamily="34" charset="0"/>
                <a:cs typeface="Arial" panose="020B0604020202020204" pitchFamily="34" charset="0"/>
              </a:rPr>
              <a:t>Profiling</a:t>
            </a:r>
            <a:br>
              <a:rPr lang="es-AR" sz="4400" noProof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AR" noProof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AR" sz="3600" b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3600" b="0" noProof="0" err="1">
                <a:latin typeface="Arial" panose="020B0604020202020204" pitchFamily="34" charset="0"/>
                <a:cs typeface="Arial" panose="020B0604020202020204" pitchFamily="34" charset="0"/>
              </a:rPr>
              <a:t>plicaciones</a:t>
            </a:r>
            <a:r>
              <a:rPr lang="es-AR" sz="3600" b="0" noProof="0">
                <a:latin typeface="Arial" panose="020B0604020202020204" pitchFamily="34" charset="0"/>
                <a:cs typeface="Arial" panose="020B0604020202020204" pitchFamily="34" charset="0"/>
              </a:rPr>
              <a:t> I - Desarrollo de Aplicaciones para Dispositivos Móviles</a:t>
            </a:r>
            <a:endParaRPr lang="es-AR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AB1658-76EA-64EE-8F64-5228CD799A57}"/>
              </a:ext>
            </a:extLst>
          </p:cNvPr>
          <p:cNvSpPr txBox="1">
            <a:spLocks/>
          </p:cNvSpPr>
          <p:nvPr/>
        </p:nvSpPr>
        <p:spPr>
          <a:xfrm>
            <a:off x="9201911" y="5799733"/>
            <a:ext cx="2990089" cy="87979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1600">
                <a:latin typeface="Arial" panose="020B0604020202020204" pitchFamily="34" charset="0"/>
                <a:cs typeface="Arial" panose="020B0604020202020204" pitchFamily="34" charset="0"/>
              </a:rPr>
              <a:t>Facultad de Ingeniería y Cs. Exactas (FAIN)</a:t>
            </a:r>
          </a:p>
          <a:p>
            <a:r>
              <a:rPr lang="es-AR" sz="1600">
                <a:latin typeface="Arial" panose="020B0604020202020204" pitchFamily="34" charset="0"/>
                <a:cs typeface="Arial" panose="020B0604020202020204" pitchFamily="34" charset="0"/>
              </a:rPr>
              <a:t>Depto. Informática</a:t>
            </a:r>
            <a:endParaRPr lang="es-AR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UADE Online | UADE | Universidad Argentina de la Empresa">
            <a:extLst>
              <a:ext uri="{FF2B5EF4-FFF2-40B4-BE49-F238E27FC236}">
                <a16:creationId xmlns:a16="http://schemas.microsoft.com/office/drawing/2014/main" id="{0F0477C4-A8F1-7AC5-28E4-334DACE4F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7695" y="4356526"/>
            <a:ext cx="2990089" cy="15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7167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795B9-3F9E-F417-F4C4-A32BF8C32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Otto, el Gato de la UADE : r/ArgentinaBenderStyle">
            <a:extLst>
              <a:ext uri="{FF2B5EF4-FFF2-40B4-BE49-F238E27FC236}">
                <a16:creationId xmlns:a16="http://schemas.microsoft.com/office/drawing/2014/main" id="{BE8091BE-A791-4EB8-3053-A96BBDB79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4" r="9041" b="2"/>
          <a:stretch>
            <a:fillRect/>
          </a:stretch>
        </p:blipFill>
        <p:spPr bwMode="auto">
          <a:xfrm>
            <a:off x="162866" y="216788"/>
            <a:ext cx="6723485" cy="420890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softEdge rad="112500"/>
          </a:effectLst>
        </p:spPr>
      </p:pic>
      <p:pic>
        <p:nvPicPr>
          <p:cNvPr id="13314" name="Picture 2" descr="el gato de UADE">
            <a:extLst>
              <a:ext uri="{FF2B5EF4-FFF2-40B4-BE49-F238E27FC236}">
                <a16:creationId xmlns:a16="http://schemas.microsoft.com/office/drawing/2014/main" id="{86FA11EA-7B66-D1F8-981D-2C5C19D41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63" r="-2" b="27981"/>
          <a:stretch>
            <a:fillRect/>
          </a:stretch>
        </p:blipFill>
        <p:spPr bwMode="auto">
          <a:xfrm>
            <a:off x="7031736" y="2545875"/>
            <a:ext cx="4474348" cy="407795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EA74B13-00DA-C4EE-8AB7-EBB53A910C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0918" y="4689647"/>
            <a:ext cx="2521937" cy="184183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548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s-AR" noProof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9"/>
            <a:ext cx="6788150" cy="3408362"/>
          </a:xfrm>
        </p:spPr>
        <p:txBody>
          <a:bodyPr tIns="457200">
            <a:normAutofit lnSpcReduction="10000"/>
          </a:bodyPr>
          <a:lstStyle/>
          <a:p>
            <a:r>
              <a:rPr lang="es-AR" noProof="0" err="1">
                <a:solidFill>
                  <a:schemeClr val="accent3"/>
                </a:solidFill>
              </a:rPr>
              <a:t>Dalvik</a:t>
            </a:r>
            <a:endParaRPr lang="es-AR" noProof="0">
              <a:solidFill>
                <a:schemeClr val="accent3"/>
              </a:solidFill>
            </a:endParaRPr>
          </a:p>
          <a:p>
            <a:r>
              <a:rPr lang="es-AR" noProof="0">
                <a:solidFill>
                  <a:schemeClr val="accent3"/>
                </a:solidFill>
              </a:rPr>
              <a:t>Android </a:t>
            </a:r>
            <a:r>
              <a:rPr lang="es-AR" noProof="0" err="1">
                <a:solidFill>
                  <a:schemeClr val="accent3"/>
                </a:solidFill>
              </a:rPr>
              <a:t>Runtime</a:t>
            </a:r>
            <a:r>
              <a:rPr lang="es-AR" noProof="0">
                <a:solidFill>
                  <a:schemeClr val="accent3"/>
                </a:solidFill>
              </a:rPr>
              <a:t> - ART</a:t>
            </a:r>
          </a:p>
          <a:p>
            <a:r>
              <a:rPr lang="es-AR" noProof="0">
                <a:solidFill>
                  <a:schemeClr val="accent3"/>
                </a:solidFill>
              </a:rPr>
              <a:t>Diferencias</a:t>
            </a:r>
          </a:p>
          <a:p>
            <a:r>
              <a:rPr lang="es-AR" noProof="0" err="1">
                <a:solidFill>
                  <a:schemeClr val="accent3"/>
                </a:solidFill>
              </a:rPr>
              <a:t>AoT</a:t>
            </a:r>
            <a:r>
              <a:rPr lang="es-AR" noProof="0">
                <a:solidFill>
                  <a:schemeClr val="accent3"/>
                </a:solidFill>
              </a:rPr>
              <a:t> – JIT</a:t>
            </a:r>
          </a:p>
          <a:p>
            <a:r>
              <a:rPr lang="es-AR" noProof="0">
                <a:solidFill>
                  <a:schemeClr val="accent3"/>
                </a:solidFill>
              </a:rPr>
              <a:t>AOT + JIT </a:t>
            </a:r>
            <a:r>
              <a:rPr lang="es-AR" noProof="0">
                <a:solidFill>
                  <a:schemeClr val="accent3"/>
                </a:solidFill>
                <a:sym typeface="Wingdings" panose="05000000000000000000" pitchFamily="2" charset="2"/>
              </a:rPr>
              <a:t> Android 7.0</a:t>
            </a:r>
          </a:p>
          <a:p>
            <a:r>
              <a:rPr lang="es-AR" noProof="0" err="1">
                <a:solidFill>
                  <a:schemeClr val="accent3"/>
                </a:solidFill>
                <a:sym typeface="Wingdings" panose="05000000000000000000" pitchFamily="2" charset="2"/>
              </a:rPr>
              <a:t>Profile</a:t>
            </a:r>
            <a:r>
              <a:rPr lang="es-AR" noProof="0">
                <a:solidFill>
                  <a:schemeClr val="accent3"/>
                </a:solidFill>
                <a:sym typeface="Wingdings" panose="05000000000000000000" pitchFamily="2" charset="2"/>
              </a:rPr>
              <a:t> </a:t>
            </a:r>
            <a:r>
              <a:rPr lang="es-AR" noProof="0" err="1">
                <a:solidFill>
                  <a:schemeClr val="accent3"/>
                </a:solidFill>
                <a:sym typeface="Wingdings" panose="05000000000000000000" pitchFamily="2" charset="2"/>
              </a:rPr>
              <a:t>on</a:t>
            </a:r>
            <a:r>
              <a:rPr lang="es-AR" noProof="0">
                <a:solidFill>
                  <a:schemeClr val="accent3"/>
                </a:solidFill>
                <a:sym typeface="Wingdings" panose="05000000000000000000" pitchFamily="2" charset="2"/>
              </a:rPr>
              <a:t> Cloud</a:t>
            </a:r>
            <a:endParaRPr lang="es-AR" noProof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0C917-B2AA-5E46-E854-941D7B0E8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F0AF83EB-192D-FF47-8CD0-5BF5AE24C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926A4EE-451F-F6E0-CCEA-4184DB9DBDF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27422E4-885D-4337-3F01-33F09DBA8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BFA4A60-0111-3391-FED5-B8F5BE586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pic>
        <p:nvPicPr>
          <p:cNvPr id="14340" name="Picture 4" descr="Sistema Operativo Android">
            <a:extLst>
              <a:ext uri="{FF2B5EF4-FFF2-40B4-BE49-F238E27FC236}">
                <a16:creationId xmlns:a16="http://schemas.microsoft.com/office/drawing/2014/main" id="{6E5F545A-1753-A74D-FFA8-3DCF3637C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596" y="1115981"/>
            <a:ext cx="8663051" cy="4774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735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21D67-60CB-7CA8-1FD3-29EB7F91B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FBB0DD-F07C-65F9-AE3B-307EB021D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Arquitectura Android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EFAEFD9-1726-BB64-B4C5-5ED5D10D285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59226" y="2281238"/>
            <a:ext cx="8508874" cy="3700462"/>
          </a:xfrm>
        </p:spPr>
        <p:txBody>
          <a:bodyPr vert="horz" lIns="0" tIns="228600" rIns="0" bIns="0" rtlCol="0" anchor="t">
            <a:normAutofit/>
          </a:bodyPr>
          <a:lstStyle/>
          <a:p>
            <a:pPr marL="0" indent="0">
              <a:buNone/>
            </a:pPr>
            <a:r>
              <a:rPr lang="es-AR" sz="2800" noProof="0">
                <a:cs typeface="Arial"/>
              </a:rPr>
              <a:t>Desde el punto de vista de un usuario promedio, simplemente descargamos la app que nos gusta de la tienda, esperamos unos segundos y listo.</a:t>
            </a:r>
          </a:p>
          <a:p>
            <a:pPr marL="283210" indent="-283210"/>
            <a:r>
              <a:rPr lang="es-AR" sz="2800" noProof="0">
                <a:cs typeface="Arial"/>
              </a:rPr>
              <a:t>Es totalmente transparente todo el proceso</a:t>
            </a:r>
          </a:p>
          <a:p>
            <a:pPr marL="283210" indent="-283210"/>
            <a:r>
              <a:rPr lang="es-AR" sz="2800" noProof="0">
                <a:cs typeface="Arial"/>
              </a:rPr>
              <a:t>Apenas damos unos </a:t>
            </a:r>
            <a:r>
              <a:rPr lang="es-AR" sz="2800" noProof="0" err="1">
                <a:cs typeface="Arial"/>
              </a:rPr>
              <a:t>clicks</a:t>
            </a:r>
            <a:r>
              <a:rPr lang="es-AR" sz="2800" noProof="0">
                <a:cs typeface="Arial"/>
              </a:rPr>
              <a:t>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8F5E707-94C7-B40F-E574-3DD04667DA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7DDF714-7604-9A53-9C02-E2D5E86D1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DE17F95-7BD9-02AB-BE63-DD9ABBC504D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C23734A-E9E3-6136-1BDE-D23439FBA8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</p:spTree>
    <p:extLst>
      <p:ext uri="{BB962C8B-B14F-4D97-AF65-F5344CB8AC3E}">
        <p14:creationId xmlns:p14="http://schemas.microsoft.com/office/powerpoint/2010/main" val="1746149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9449E-0BD8-CE9E-090B-1044DE5F6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706C5B-C387-F4AA-1C4D-310394E8F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Arquitectura Android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938FF1E-6AC2-D535-7ABA-2A21AB6AD0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59226" y="2281238"/>
            <a:ext cx="8508874" cy="3700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800" noProof="0"/>
              <a:t>Recordemos que Android trabaja en varias capas, en términos generales, como cualquier arquitectura típica de computadoras</a:t>
            </a:r>
          </a:p>
          <a:p>
            <a:endParaRPr lang="es-AR" sz="2800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14C3981-42CC-B49E-2B60-11840D2B8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5B1DE7E0-67DA-2AD1-FB54-8DD5B22A190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07CFA46-4FAD-784B-18C9-0105E543A59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8A24E0EC-D48C-1E47-31B0-598B87E83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pic>
        <p:nvPicPr>
          <p:cNvPr id="15362" name="Picture 2">
            <a:extLst>
              <a:ext uri="{FF2B5EF4-FFF2-40B4-BE49-F238E27FC236}">
                <a16:creationId xmlns:a16="http://schemas.microsoft.com/office/drawing/2014/main" id="{4FC82504-9320-2A52-DB13-2BBCFA606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9588" y="3711355"/>
            <a:ext cx="200977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8298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81E20-F6AB-6638-FC9F-B3CF3E31A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78D5F7-1E63-FA0A-1FF9-B8CF13634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Arquitectura Android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37C6C95-2A97-0523-1137-64388D45FC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59226" y="2049901"/>
            <a:ext cx="8508874" cy="3700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800" noProof="0"/>
              <a:t>A fin de ir un poco más por debajo, nos encontramos que dentro del SO Android tenemos:</a:t>
            </a:r>
          </a:p>
          <a:p>
            <a:endParaRPr lang="es-AR" sz="2800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58CF5B2-59CE-7EB5-A737-16F1EDC5B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024A7E0-2DA9-4670-99B9-AA3CDA97A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F9112D5-1D7D-DF0D-7148-9512337F216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416E287-4DE6-EAF1-0929-C95F257FA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5" name="AutoShape 6" descr="Qué es Android?">
            <a:extLst>
              <a:ext uri="{FF2B5EF4-FFF2-40B4-BE49-F238E27FC236}">
                <a16:creationId xmlns:a16="http://schemas.microsoft.com/office/drawing/2014/main" id="{EADF2433-E481-9EDF-1486-A3D7587CAC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B81928-1736-DDA7-84AF-04F909E03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221" y="3276600"/>
            <a:ext cx="4550531" cy="322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572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3C37F-CFCA-6C06-102A-4C6368CA9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7E390B-C29D-7969-CFE8-6F25C38C3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Arquitectura Android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49F55B2-C877-A351-01BB-BE57DB6C104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31653" y="2022342"/>
            <a:ext cx="8508874" cy="81926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AR" noProof="0"/>
              <a:t>Como desarrolladores, solamente trabajamos con las capas mas altas, la del SO y aplicaciones. Puntualmente con SDK y el API Framework y tal vez con NDK C/C++</a:t>
            </a:r>
          </a:p>
          <a:p>
            <a:pPr marL="0" indent="0">
              <a:buNone/>
            </a:pPr>
            <a:endParaRPr lang="es-AR" sz="2800" noProof="0"/>
          </a:p>
          <a:p>
            <a:endParaRPr lang="es-AR" sz="2800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40A3DA-2AED-7F0B-A218-25DB4B86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0E49C1E-E0F8-6692-F9AF-75D2BD717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D3ADE78-BC68-962E-5486-FA852207A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3CDA851-5E7C-A3F6-6D82-EB13EC427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71869BA2-57FB-CDC3-D4EE-172F52EBC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682" y="3887700"/>
            <a:ext cx="4820323" cy="28674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47BAE0-9123-CD3F-1888-733DBA941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682" y="3080868"/>
            <a:ext cx="4839375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973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D15FF-DFBD-3FE6-153F-3C1A8A13E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19B7E6-FEB8-4339-BAE4-FA705308E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Arquitectura Android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E78C3A4-DFCB-CF7F-7A08-0BEE58A3A2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59226" y="2281238"/>
            <a:ext cx="8508874" cy="370046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AR" sz="2800" noProof="0"/>
              <a:t>Recordemos entonces:</a:t>
            </a:r>
          </a:p>
          <a:p>
            <a:r>
              <a:rPr lang="es-AR" sz="2800" b="1" noProof="0"/>
              <a:t>Aplicaciones:</a:t>
            </a:r>
            <a:r>
              <a:rPr lang="es-AR" sz="2800" noProof="0"/>
              <a:t> Cualquier tipo de app Android. Capa de cara al usuario. Son desarrolladas con el SDK de Android.</a:t>
            </a:r>
          </a:p>
          <a:p>
            <a:r>
              <a:rPr lang="es-AR" sz="2800" b="1" noProof="0"/>
              <a:t>Framework Android:</a:t>
            </a:r>
            <a:r>
              <a:rPr lang="es-AR" sz="2800" noProof="0"/>
              <a:t> Provee </a:t>
            </a:r>
            <a:r>
              <a:rPr lang="es-AR" sz="2800" noProof="0" err="1"/>
              <a:t>abtracciones</a:t>
            </a:r>
            <a:r>
              <a:rPr lang="es-AR" sz="2800" noProof="0"/>
              <a:t> de alto nivel que representan componentes de hardware. Las apps interactúan con las clases del </a:t>
            </a:r>
            <a:r>
              <a:rPr lang="es-AR" sz="2800" noProof="0" err="1"/>
              <a:t>framework</a:t>
            </a:r>
            <a:r>
              <a:rPr lang="es-AR" sz="2800" noProof="0"/>
              <a:t>. Luego el SO utiliza Binder para acceder a niveles inferiores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243242B-3973-B291-6436-66E9386FC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40E92B4-ECB7-35A9-C553-0D9E583A4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15A6463-0856-370E-1F1E-5F91F0540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D91828C9-BCD9-55B3-412C-DE2904B646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</p:spTree>
    <p:extLst>
      <p:ext uri="{BB962C8B-B14F-4D97-AF65-F5344CB8AC3E}">
        <p14:creationId xmlns:p14="http://schemas.microsoft.com/office/powerpoint/2010/main" val="674873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A9701-9743-C747-DE13-6003B8782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D2E212-4605-B9E2-6048-34A181872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Arquitectura Android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0AA4DB9-0902-C56B-E891-B7D5B1C49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FDB5FF3-B26C-BE0F-4564-B48DB785338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C8DFA5A-BEF8-0658-B9FF-9641F2D8891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6CB91F4-ECE5-2823-D3C2-1A6BA4565B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F5081E78-CD65-F9C6-351D-C603FBFA98F0}"/>
              </a:ext>
            </a:extLst>
          </p:cNvPr>
          <p:cNvSpPr/>
          <p:nvPr/>
        </p:nvSpPr>
        <p:spPr>
          <a:xfrm>
            <a:off x="1124324" y="2851222"/>
            <a:ext cx="1988374" cy="576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err="1"/>
              <a:t>CameraManager</a:t>
            </a:r>
            <a:endParaRPr lang="es-A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C90D57-5F71-8112-B4D5-07394D99A0D6}"/>
              </a:ext>
            </a:extLst>
          </p:cNvPr>
          <p:cNvSpPr/>
          <p:nvPr/>
        </p:nvSpPr>
        <p:spPr>
          <a:xfrm>
            <a:off x="3380041" y="2851222"/>
            <a:ext cx="1988374" cy="576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err="1"/>
              <a:t>ICameraService</a:t>
            </a:r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FB53ED-28B2-4305-3894-E8701EB84808}"/>
              </a:ext>
            </a:extLst>
          </p:cNvPr>
          <p:cNvSpPr/>
          <p:nvPr/>
        </p:nvSpPr>
        <p:spPr>
          <a:xfrm>
            <a:off x="5635758" y="2852058"/>
            <a:ext cx="1988374" cy="576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err="1"/>
              <a:t>CameraServer</a:t>
            </a:r>
            <a:endParaRPr lang="es-A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DB51FA-1CBC-AEA3-8009-BF998D997B01}"/>
              </a:ext>
            </a:extLst>
          </p:cNvPr>
          <p:cNvSpPr/>
          <p:nvPr/>
        </p:nvSpPr>
        <p:spPr>
          <a:xfrm>
            <a:off x="7891475" y="2851222"/>
            <a:ext cx="1988374" cy="576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/>
              <a:t>Camera HAL V3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11CCA300-5470-E850-A8B7-B98B08F7DC13}"/>
              </a:ext>
            </a:extLst>
          </p:cNvPr>
          <p:cNvSpPr/>
          <p:nvPr/>
        </p:nvSpPr>
        <p:spPr>
          <a:xfrm>
            <a:off x="10265229" y="2843666"/>
            <a:ext cx="1676401" cy="57694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/>
              <a:t>Driver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FD199DA-C247-94E6-A1FB-EB75417A449C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12698" y="3139693"/>
            <a:ext cx="267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22C9F9-E78A-785D-9500-0FDF4E4DC29A}"/>
              </a:ext>
            </a:extLst>
          </p:cNvPr>
          <p:cNvCxnSpPr/>
          <p:nvPr/>
        </p:nvCxnSpPr>
        <p:spPr>
          <a:xfrm>
            <a:off x="5368415" y="3132137"/>
            <a:ext cx="267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C27746B-F23F-E5F2-2FD3-C6B92676358C}"/>
              </a:ext>
            </a:extLst>
          </p:cNvPr>
          <p:cNvCxnSpPr/>
          <p:nvPr/>
        </p:nvCxnSpPr>
        <p:spPr>
          <a:xfrm>
            <a:off x="7624132" y="3161085"/>
            <a:ext cx="267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3DA6417-FE15-48E4-34D8-E3E1C70078E7}"/>
              </a:ext>
            </a:extLst>
          </p:cNvPr>
          <p:cNvCxnSpPr>
            <a:cxnSpLocks/>
          </p:cNvCxnSpPr>
          <p:nvPr/>
        </p:nvCxnSpPr>
        <p:spPr>
          <a:xfrm>
            <a:off x="9879849" y="3161085"/>
            <a:ext cx="6357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F46110F-582C-CCB3-BADE-F04E8EEFF94D}"/>
              </a:ext>
            </a:extLst>
          </p:cNvPr>
          <p:cNvSpPr/>
          <p:nvPr/>
        </p:nvSpPr>
        <p:spPr>
          <a:xfrm>
            <a:off x="1124324" y="3933201"/>
            <a:ext cx="1988374" cy="576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err="1"/>
              <a:t>VibratorManager</a:t>
            </a:r>
            <a:endParaRPr lang="es-A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49C4E6-54A5-5593-1EBD-E2793F7F17A4}"/>
              </a:ext>
            </a:extLst>
          </p:cNvPr>
          <p:cNvSpPr/>
          <p:nvPr/>
        </p:nvSpPr>
        <p:spPr>
          <a:xfrm>
            <a:off x="3380041" y="3933201"/>
            <a:ext cx="1988374" cy="576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err="1"/>
              <a:t>IVibratorService</a:t>
            </a:r>
            <a:endParaRPr lang="es-A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2EFAF7-28E8-294E-594A-570572371182}"/>
              </a:ext>
            </a:extLst>
          </p:cNvPr>
          <p:cNvSpPr/>
          <p:nvPr/>
        </p:nvSpPr>
        <p:spPr>
          <a:xfrm>
            <a:off x="5635758" y="3962149"/>
            <a:ext cx="1988374" cy="576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err="1"/>
              <a:t>Vibrator</a:t>
            </a:r>
            <a:r>
              <a:rPr lang="es-AR"/>
              <a:t> HAL</a:t>
            </a: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CBFC551D-BA3E-FC4C-37A3-4EEE94D59833}"/>
              </a:ext>
            </a:extLst>
          </p:cNvPr>
          <p:cNvSpPr/>
          <p:nvPr/>
        </p:nvSpPr>
        <p:spPr>
          <a:xfrm>
            <a:off x="8009512" y="3954593"/>
            <a:ext cx="1676401" cy="57694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/>
              <a:t>Driver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7BC55BE-893D-54D0-EE9E-45376BB949A2}"/>
              </a:ext>
            </a:extLst>
          </p:cNvPr>
          <p:cNvCxnSpPr>
            <a:stCxn id="18" idx="3"/>
            <a:endCxn id="23" idx="1"/>
          </p:cNvCxnSpPr>
          <p:nvPr/>
        </p:nvCxnSpPr>
        <p:spPr>
          <a:xfrm>
            <a:off x="3112698" y="4221672"/>
            <a:ext cx="267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DD2C48D-A686-6FF7-32BB-DB50E182A9DC}"/>
              </a:ext>
            </a:extLst>
          </p:cNvPr>
          <p:cNvCxnSpPr/>
          <p:nvPr/>
        </p:nvCxnSpPr>
        <p:spPr>
          <a:xfrm>
            <a:off x="5368415" y="4214116"/>
            <a:ext cx="267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13C24A5-14D5-154D-924F-3B0FEB86BAFD}"/>
              </a:ext>
            </a:extLst>
          </p:cNvPr>
          <p:cNvCxnSpPr>
            <a:cxnSpLocks/>
          </p:cNvCxnSpPr>
          <p:nvPr/>
        </p:nvCxnSpPr>
        <p:spPr>
          <a:xfrm>
            <a:off x="7624132" y="4272012"/>
            <a:ext cx="6357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02B8EB4-C312-C508-88D1-CD1CE9788B61}"/>
              </a:ext>
            </a:extLst>
          </p:cNvPr>
          <p:cNvSpPr txBox="1"/>
          <p:nvPr/>
        </p:nvSpPr>
        <p:spPr>
          <a:xfrm>
            <a:off x="3930870" y="5015180"/>
            <a:ext cx="540410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>
                <a:solidFill>
                  <a:schemeClr val="bg1"/>
                </a:solidFill>
              </a:rPr>
              <a:t>App (Java/</a:t>
            </a:r>
            <a:r>
              <a:rPr lang="es-AR" err="1">
                <a:solidFill>
                  <a:schemeClr val="bg1"/>
                </a:solidFill>
              </a:rPr>
              <a:t>Kotlin</a:t>
            </a:r>
            <a:r>
              <a:rPr lang="es-AR">
                <a:solidFill>
                  <a:schemeClr val="bg1"/>
                </a:solidFill>
              </a:rPr>
              <a:t>)</a:t>
            </a:r>
          </a:p>
          <a:p>
            <a:r>
              <a:rPr lang="es-AR">
                <a:solidFill>
                  <a:schemeClr val="bg1"/>
                </a:solidFill>
              </a:rPr>
              <a:t>   ↓  </a:t>
            </a:r>
            <a:r>
              <a:rPr lang="es-AR" err="1">
                <a:solidFill>
                  <a:schemeClr val="bg1"/>
                </a:solidFill>
              </a:rPr>
              <a:t>APIs</a:t>
            </a:r>
            <a:r>
              <a:rPr lang="es-AR">
                <a:solidFill>
                  <a:schemeClr val="bg1"/>
                </a:solidFill>
              </a:rPr>
              <a:t> del Framework (clases que modelan HW)</a:t>
            </a:r>
          </a:p>
          <a:p>
            <a:r>
              <a:rPr lang="es-AR">
                <a:solidFill>
                  <a:schemeClr val="bg1"/>
                </a:solidFill>
              </a:rPr>
              <a:t>Binder IPC → </a:t>
            </a:r>
            <a:r>
              <a:rPr lang="es-AR" err="1">
                <a:solidFill>
                  <a:schemeClr val="bg1"/>
                </a:solidFill>
              </a:rPr>
              <a:t>System</a:t>
            </a:r>
            <a:r>
              <a:rPr lang="es-AR">
                <a:solidFill>
                  <a:schemeClr val="bg1"/>
                </a:solidFill>
              </a:rPr>
              <a:t> </a:t>
            </a:r>
            <a:r>
              <a:rPr lang="es-AR" err="1">
                <a:solidFill>
                  <a:schemeClr val="bg1"/>
                </a:solidFill>
              </a:rPr>
              <a:t>Services</a:t>
            </a:r>
            <a:r>
              <a:rPr lang="es-AR">
                <a:solidFill>
                  <a:schemeClr val="bg1"/>
                </a:solidFill>
              </a:rPr>
              <a:t> (nativos)</a:t>
            </a:r>
          </a:p>
          <a:p>
            <a:r>
              <a:rPr lang="es-AR">
                <a:solidFill>
                  <a:schemeClr val="bg1"/>
                </a:solidFill>
              </a:rPr>
              <a:t>   ↓</a:t>
            </a:r>
          </a:p>
          <a:p>
            <a:r>
              <a:rPr lang="es-AR">
                <a:solidFill>
                  <a:schemeClr val="bg1"/>
                </a:solidFill>
              </a:rPr>
              <a:t>HAL (AIDL/HIDL) → Drivers / HW</a:t>
            </a:r>
          </a:p>
        </p:txBody>
      </p:sp>
    </p:spTree>
    <p:extLst>
      <p:ext uri="{BB962C8B-B14F-4D97-AF65-F5344CB8AC3E}">
        <p14:creationId xmlns:p14="http://schemas.microsoft.com/office/powerpoint/2010/main" val="3969764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B22FE-477D-CAFA-EE49-1E88B3407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BD99D6-1F77-C4E1-7871-E5F08ECA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Arquitectura Android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496FDDF-59DA-C212-6076-C2A56209C3F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11732" y="2163778"/>
            <a:ext cx="8656368" cy="428229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AR" sz="2800" noProof="0"/>
              <a:t>Recordemos entonces:</a:t>
            </a:r>
          </a:p>
          <a:p>
            <a:r>
              <a:rPr lang="es-AR" sz="2800" b="1" noProof="0" err="1"/>
              <a:t>Bibliotecs</a:t>
            </a:r>
            <a:r>
              <a:rPr lang="es-AR" sz="2800" b="1" noProof="0"/>
              <a:t> C/C++: </a:t>
            </a:r>
            <a:r>
              <a:rPr lang="es-AR" sz="2800" noProof="0"/>
              <a:t>SI por algún motivo necesitamos rendimiento o trabajos más a bajo nivel, podemos usar el NDK. </a:t>
            </a:r>
            <a:r>
              <a:rPr lang="es-AR" sz="2800" noProof="0" err="1"/>
              <a:t>Ej</a:t>
            </a:r>
            <a:r>
              <a:rPr lang="es-AR" sz="2800" noProof="0"/>
              <a:t>: OpenGL, WebKit, </a:t>
            </a:r>
            <a:r>
              <a:rPr lang="es-AR" sz="2800" noProof="0" err="1"/>
              <a:t>libc</a:t>
            </a:r>
            <a:r>
              <a:rPr lang="es-AR" sz="2800" noProof="0"/>
              <a:t>.</a:t>
            </a:r>
          </a:p>
          <a:p>
            <a:r>
              <a:rPr lang="es-AR" sz="2800" b="1" noProof="0"/>
              <a:t>Framework Android:</a:t>
            </a:r>
            <a:r>
              <a:rPr lang="es-AR" sz="2800" noProof="0"/>
              <a:t> conjunto de </a:t>
            </a:r>
            <a:r>
              <a:rPr lang="es-AR" sz="2800" noProof="0" err="1"/>
              <a:t>APIs</a:t>
            </a:r>
            <a:r>
              <a:rPr lang="es-AR" sz="2800" noProof="0"/>
              <a:t> de alto nivel (principalmente en Java/</a:t>
            </a:r>
            <a:r>
              <a:rPr lang="es-AR" sz="2800" noProof="0" err="1"/>
              <a:t>Kotlin</a:t>
            </a:r>
            <a:r>
              <a:rPr lang="es-AR" sz="2800" noProof="0"/>
              <a:t>) que permiten a los desarrolladores crear aplicaciones reutilizando componentes ya provistos (</a:t>
            </a:r>
            <a:r>
              <a:rPr lang="es-AR" sz="2800" noProof="0" err="1"/>
              <a:t>Activities</a:t>
            </a:r>
            <a:r>
              <a:rPr lang="es-AR" sz="2800" noProof="0"/>
              <a:t>, </a:t>
            </a:r>
            <a:r>
              <a:rPr lang="es-AR" sz="2800" noProof="0" err="1"/>
              <a:t>Fragments</a:t>
            </a:r>
            <a:r>
              <a:rPr lang="es-AR" sz="2800" noProof="0"/>
              <a:t>, </a:t>
            </a:r>
            <a:r>
              <a:rPr lang="es-AR" sz="2800" noProof="0" err="1"/>
              <a:t>Views</a:t>
            </a:r>
            <a:r>
              <a:rPr lang="es-AR" sz="2800" noProof="0"/>
              <a:t>, </a:t>
            </a:r>
            <a:r>
              <a:rPr lang="es-AR" sz="2800" noProof="0" err="1"/>
              <a:t>Services</a:t>
            </a:r>
            <a:r>
              <a:rPr lang="es-AR" sz="2800" noProof="0"/>
              <a:t>, etc.). </a:t>
            </a:r>
          </a:p>
          <a:p>
            <a:pPr lvl="1"/>
            <a:r>
              <a:rPr lang="es-AR" sz="2800" noProof="0"/>
              <a:t>El Framework se comunica con los </a:t>
            </a:r>
            <a:r>
              <a:rPr lang="es-AR" sz="2800" noProof="0" err="1"/>
              <a:t>System</a:t>
            </a:r>
            <a:r>
              <a:rPr lang="es-AR" sz="2800" noProof="0"/>
              <a:t> </a:t>
            </a:r>
            <a:r>
              <a:rPr lang="es-AR" sz="2800" noProof="0" err="1"/>
              <a:t>Services</a:t>
            </a:r>
            <a:r>
              <a:rPr lang="es-AR" sz="2800" noProof="0"/>
              <a:t> y, a través del mecanismo Binder IPC, con capas inferiores como HAL y el </a:t>
            </a:r>
            <a:r>
              <a:rPr lang="es-AR" sz="2800" noProof="0" err="1"/>
              <a:t>Kernel</a:t>
            </a:r>
            <a:r>
              <a:rPr lang="es-AR" sz="2800" noProof="0"/>
              <a:t>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E84CE7C-29C7-2CF3-CAE3-893A9136E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5DFA2C6-9DAC-30E4-0A3A-FE13885DB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0A5B243-79FD-5F56-DC7A-F29D58B0130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D1D1D7F6-9514-33BA-7026-F85657FC19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</p:spTree>
    <p:extLst>
      <p:ext uri="{BB962C8B-B14F-4D97-AF65-F5344CB8AC3E}">
        <p14:creationId xmlns:p14="http://schemas.microsoft.com/office/powerpoint/2010/main" val="260352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A435F-5976-80C0-D3D5-2C87B4E98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080CD4-4517-5D53-3BDB-E08B9605B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Arquitectura Android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8439B-0E0E-F4C5-DBAE-99B0E61E4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59226" y="2281238"/>
            <a:ext cx="8508874" cy="37004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AR" sz="2800" noProof="0"/>
              <a:t>Binder IPC (Inter </a:t>
            </a:r>
            <a:r>
              <a:rPr lang="es-AR" sz="2800" noProof="0" err="1"/>
              <a:t>Process</a:t>
            </a:r>
            <a:r>
              <a:rPr lang="es-AR" sz="2800" noProof="0"/>
              <a:t> </a:t>
            </a:r>
            <a:r>
              <a:rPr lang="es-AR" sz="2800" noProof="0" err="1"/>
              <a:t>Comunication</a:t>
            </a:r>
            <a:r>
              <a:rPr lang="es-AR" sz="2800" noProof="0"/>
              <a:t>): Mecanismo que permite que los procesos se comuniquen de forma segura en Android.</a:t>
            </a:r>
          </a:p>
          <a:p>
            <a:pPr marL="0" indent="0">
              <a:buNone/>
            </a:pPr>
            <a:r>
              <a:rPr lang="es-AR" sz="2800" noProof="0"/>
              <a:t>Habilita llamadas desde el Framework hacia los servicios inferiores del sistema.</a:t>
            </a:r>
          </a:p>
          <a:p>
            <a:pPr marL="0" indent="0">
              <a:buNone/>
            </a:pPr>
            <a:r>
              <a:rPr lang="es-AR" sz="2800" noProof="0"/>
              <a:t>A su vez, estos servicios se comunican con la HAL y este con el </a:t>
            </a:r>
            <a:r>
              <a:rPr lang="es-AR" sz="2800" noProof="0" err="1"/>
              <a:t>Kernel</a:t>
            </a:r>
            <a:r>
              <a:rPr lang="es-AR" sz="2800" noProof="0"/>
              <a:t>. </a:t>
            </a:r>
          </a:p>
          <a:p>
            <a:pPr marL="0" indent="0">
              <a:buNone/>
            </a:pPr>
            <a:r>
              <a:rPr lang="es-AR" sz="2800" noProof="0"/>
              <a:t>Los servicios gestionan las ventanas, actividades, notificaciones, telefonía.</a:t>
            </a:r>
          </a:p>
          <a:p>
            <a:pPr marL="0" indent="0">
              <a:buNone/>
            </a:pPr>
            <a:endParaRPr lang="es-AR" sz="2800" noProof="0"/>
          </a:p>
          <a:p>
            <a:pPr marL="0" indent="0">
              <a:buNone/>
            </a:pPr>
            <a:endParaRPr lang="es-AR" sz="2800" noProof="0"/>
          </a:p>
          <a:p>
            <a:endParaRPr lang="es-AR" sz="2800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E667B09-59BF-E30F-0548-E1F6DC2BE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CA3176B-79D8-719A-B418-0028869F2F4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C9A2AB2-4473-DBD5-1AB3-A7779DE7D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07F89BD-858A-31C7-3CA6-7DB047E6D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</p:spTree>
    <p:extLst>
      <p:ext uri="{BB962C8B-B14F-4D97-AF65-F5344CB8AC3E}">
        <p14:creationId xmlns:p14="http://schemas.microsoft.com/office/powerpoint/2010/main" val="4181398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3F7AA-F6A8-F681-21E5-F56A1179E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9EC1B9-44BB-19E5-A89D-9D1BDB5AC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 err="1"/>
              <a:t>Runtime</a:t>
            </a:r>
            <a:r>
              <a:rPr lang="es-AR" noProof="0"/>
              <a:t> de Android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0C0EAC-E097-5F0C-379F-456B90E7B9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23424" y="2272185"/>
            <a:ext cx="8508874" cy="3700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800" noProof="0"/>
              <a:t>Proporciona el entorno para ejecutar las aplicaciones escritas en Java/</a:t>
            </a:r>
            <a:r>
              <a:rPr lang="es-AR" sz="2800" noProof="0" err="1"/>
              <a:t>Kotlin</a:t>
            </a:r>
            <a:r>
              <a:rPr lang="es-AR" sz="2800" noProof="0"/>
              <a:t>.</a:t>
            </a:r>
          </a:p>
          <a:p>
            <a:r>
              <a:rPr lang="es-AR" sz="2800" noProof="0"/>
              <a:t>Hasta </a:t>
            </a:r>
            <a:r>
              <a:rPr lang="es-AR" sz="2800" b="1" noProof="0"/>
              <a:t>Android 5.0 </a:t>
            </a:r>
            <a:r>
              <a:rPr lang="es-AR" sz="2800" noProof="0"/>
              <a:t>se utilizaba la </a:t>
            </a:r>
            <a:r>
              <a:rPr lang="es-AR" sz="2800" noProof="0" err="1"/>
              <a:t>Dalvik</a:t>
            </a:r>
            <a:r>
              <a:rPr lang="es-AR" sz="2800" noProof="0"/>
              <a:t> </a:t>
            </a:r>
            <a:r>
              <a:rPr lang="es-AR" sz="2800" noProof="0">
                <a:sym typeface="Wingdings" panose="05000000000000000000" pitchFamily="2" charset="2"/>
              </a:rPr>
              <a:t> JIT</a:t>
            </a:r>
          </a:p>
          <a:p>
            <a:r>
              <a:rPr lang="es-AR" sz="2800" noProof="0">
                <a:sym typeface="Wingdings" panose="05000000000000000000" pitchFamily="2" charset="2"/>
              </a:rPr>
              <a:t>Actualmente se utiliza ART  AOT mejorando el rendimiento y memoria.</a:t>
            </a:r>
            <a:endParaRPr lang="es-AR" sz="2800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F0AFE07-AE1E-060E-C74F-168F64FD1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59B93B21-D5BB-3618-F6EA-85BF6B752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A122ABB-202F-AD2E-BF6C-C4B105D0C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0447964-DCDA-11BE-949E-7E8B609CA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3964F40-85CC-0B45-1200-7729DD794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678037"/>
            <a:ext cx="1656900" cy="177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040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12CBD-D25F-9299-4997-5441AD43F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FF1B82-FE15-CB0D-6B98-F9B132D83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 err="1"/>
              <a:t>Dalvik</a:t>
            </a:r>
            <a:r>
              <a:rPr lang="es-AR" noProof="0"/>
              <a:t> vs Dart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6F517B5-567D-E2ED-458E-C69DF6349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F798F8C-68A5-1805-1054-11339A448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B794FB4-B0FE-A6CB-5A9D-39F58F85F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8072B36-E28D-115F-3D1D-C5B6B82103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AF9F1AF-6A9E-1515-B655-3CC2FC2739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35381" y="2413254"/>
            <a:ext cx="9406551" cy="3700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800" noProof="0"/>
              <a:t>Recordemos que nosotros trabajaremos siempre en la capa de Framework – a lo sumo en la de C/C++ con NDK </a:t>
            </a:r>
            <a:r>
              <a:rPr lang="es-AR" sz="2800" noProof="0" err="1"/>
              <a:t>via</a:t>
            </a:r>
            <a:r>
              <a:rPr lang="es-AR" sz="2800" noProof="0"/>
              <a:t> JNI.</a:t>
            </a:r>
          </a:p>
          <a:p>
            <a:pPr marL="0" indent="0">
              <a:buNone/>
            </a:pPr>
            <a:r>
              <a:rPr lang="es-AR" sz="2800"/>
              <a:t>Las apps de Android corren sobre el </a:t>
            </a:r>
            <a:r>
              <a:rPr lang="es-AR" sz="2800" err="1"/>
              <a:t>runtime</a:t>
            </a:r>
            <a:r>
              <a:rPr lang="es-AR" sz="2800"/>
              <a:t> disponible en el dispositivo, según la versión de Android y el </a:t>
            </a:r>
            <a:r>
              <a:rPr lang="es-AR" sz="2800" err="1"/>
              <a:t>minSDKVersion</a:t>
            </a:r>
            <a:r>
              <a:rPr lang="es-AR" sz="2800"/>
              <a:t>.</a:t>
            </a:r>
          </a:p>
          <a:p>
            <a:pPr marL="0" indent="0">
              <a:buNone/>
            </a:pPr>
            <a:endParaRPr lang="es-AR" sz="2800" noProof="0"/>
          </a:p>
          <a:p>
            <a:pPr marL="0" indent="0">
              <a:buNone/>
            </a:pPr>
            <a:endParaRPr lang="es-AR" sz="2800" noProof="0"/>
          </a:p>
          <a:p>
            <a:pPr marL="0" indent="0">
              <a:buNone/>
            </a:pPr>
            <a:endParaRPr lang="es-AR" sz="2800" noProof="0"/>
          </a:p>
          <a:p>
            <a:endParaRPr lang="es-AR" sz="2800" noProof="0"/>
          </a:p>
        </p:txBody>
      </p:sp>
    </p:spTree>
    <p:extLst>
      <p:ext uri="{BB962C8B-B14F-4D97-AF65-F5344CB8AC3E}">
        <p14:creationId xmlns:p14="http://schemas.microsoft.com/office/powerpoint/2010/main" val="1319913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CCF7C-D5FE-627D-11F7-CC4975272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8D5299-37A5-668E-7BE9-548BC08F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 err="1"/>
              <a:t>Bytecode</a:t>
            </a:r>
            <a:endParaRPr lang="es-AR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1495D45-E1B5-1532-F096-274297CB4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1ABC6B1-A614-C709-6E4A-789920F12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D31D679-10EB-21DE-0ADB-5806C3E68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80F1A15-DDF7-1E24-057C-76DDA26B1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AE20C1-90F0-D90D-7ACA-A1B14EE6EB0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50605" y="2309169"/>
            <a:ext cx="8618899" cy="3699328"/>
          </a:xfrm>
        </p:spPr>
        <p:txBody>
          <a:bodyPr/>
          <a:lstStyle/>
          <a:p>
            <a:pPr marL="0" indent="0">
              <a:buNone/>
            </a:pPr>
            <a:r>
              <a:rPr lang="es-AR" noProof="0"/>
              <a:t>Un </a:t>
            </a:r>
            <a:r>
              <a:rPr lang="es-AR" noProof="0" err="1"/>
              <a:t>Bytecode</a:t>
            </a:r>
            <a:r>
              <a:rPr lang="es-AR" noProof="0"/>
              <a:t> es un código intermedio entre el fuente y el Código máquina nativo.</a:t>
            </a:r>
          </a:p>
          <a:p>
            <a:r>
              <a:rPr lang="es-AR" noProof="0"/>
              <a:t>Primero se genera el </a:t>
            </a:r>
            <a:r>
              <a:rPr lang="es-AR" b="1" noProof="0"/>
              <a:t>.</a:t>
            </a:r>
            <a:r>
              <a:rPr lang="es-AR" b="1" noProof="0" err="1"/>
              <a:t>class</a:t>
            </a:r>
            <a:r>
              <a:rPr lang="es-AR" noProof="0"/>
              <a:t>, </a:t>
            </a:r>
            <a:r>
              <a:rPr lang="es-AR" noProof="0" err="1"/>
              <a:t>bytecode</a:t>
            </a:r>
            <a:r>
              <a:rPr lang="es-AR" noProof="0"/>
              <a:t> clásico de Java</a:t>
            </a:r>
          </a:p>
          <a:p>
            <a:r>
              <a:rPr lang="es-AR" noProof="0"/>
              <a:t>Luego, D8 transforma esos .</a:t>
            </a:r>
            <a:r>
              <a:rPr lang="es-AR" noProof="0" err="1"/>
              <a:t>class</a:t>
            </a:r>
            <a:r>
              <a:rPr lang="es-AR" noProof="0"/>
              <a:t> en .</a:t>
            </a:r>
            <a:r>
              <a:rPr lang="es-AR" noProof="0" err="1"/>
              <a:t>dex</a:t>
            </a:r>
            <a:r>
              <a:rPr lang="es-AR" noProof="0">
                <a:sym typeface="Wingdings" panose="05000000000000000000" pitchFamily="2" charset="2"/>
              </a:rPr>
              <a:t>(</a:t>
            </a:r>
            <a:r>
              <a:rPr lang="es-AR" noProof="0" err="1">
                <a:sym typeface="Wingdings" panose="05000000000000000000" pitchFamily="2" charset="2"/>
              </a:rPr>
              <a:t>Dalvik</a:t>
            </a:r>
            <a:r>
              <a:rPr lang="es-AR" noProof="0">
                <a:sym typeface="Wingdings" panose="05000000000000000000" pitchFamily="2" charset="2"/>
              </a:rPr>
              <a:t> </a:t>
            </a:r>
            <a:r>
              <a:rPr lang="es-AR" noProof="0" err="1">
                <a:sym typeface="Wingdings" panose="05000000000000000000" pitchFamily="2" charset="2"/>
              </a:rPr>
              <a:t>Executable</a:t>
            </a:r>
            <a:r>
              <a:rPr lang="es-AR" noProof="0">
                <a:sym typeface="Wingdings" panose="05000000000000000000" pitchFamily="2" charset="2"/>
              </a:rPr>
              <a:t>) que contiene </a:t>
            </a:r>
            <a:r>
              <a:rPr lang="es-AR" noProof="0" err="1">
                <a:sym typeface="Wingdings" panose="05000000000000000000" pitchFamily="2" charset="2"/>
              </a:rPr>
              <a:t>bytecode</a:t>
            </a:r>
            <a:r>
              <a:rPr lang="es-AR" noProof="0">
                <a:sym typeface="Wingdings" panose="05000000000000000000" pitchFamily="2" charset="2"/>
              </a:rPr>
              <a:t> capaz de ser interpretado por ART.</a:t>
            </a:r>
          </a:p>
          <a:p>
            <a:pPr marL="0" indent="0">
              <a:buNone/>
            </a:pPr>
            <a:r>
              <a:rPr lang="es-AR" noProof="0"/>
              <a:t>El </a:t>
            </a:r>
            <a:r>
              <a:rPr lang="es-AR" b="1" noProof="0" err="1"/>
              <a:t>bytecode</a:t>
            </a:r>
            <a:r>
              <a:rPr lang="es-AR" b="1" noProof="0"/>
              <a:t> en Android</a:t>
            </a:r>
            <a:r>
              <a:rPr lang="es-AR" noProof="0"/>
              <a:t> es el conjunto de instrucciones binarias intermedias, independientes del hardware, que serán interpretadas o compiladas (Just-In-Time o </a:t>
            </a:r>
            <a:r>
              <a:rPr lang="es-AR" noProof="0" err="1"/>
              <a:t>Ahead</a:t>
            </a:r>
            <a:r>
              <a:rPr lang="es-AR" noProof="0"/>
              <a:t>-</a:t>
            </a:r>
            <a:r>
              <a:rPr lang="es-AR" noProof="0" err="1"/>
              <a:t>Of</a:t>
            </a:r>
            <a:r>
              <a:rPr lang="es-AR" noProof="0"/>
              <a:t>-Time) por el entorno de ejecución de Android para que finalmente el procesador ejecute el programa.</a:t>
            </a:r>
            <a:endParaRPr lang="es-AR" noProof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00667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0652B-76A8-3434-261F-5698BD1DD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82241C4-2F31-54AC-0CCC-21344A462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 err="1"/>
              <a:t>Bytecode</a:t>
            </a:r>
            <a:endParaRPr lang="es-AR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0976EBA-75AE-17FD-6F78-9E0E1B1FD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4DA346D-58C5-0204-ACDB-C832316D1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96DFFA5-09BD-FA98-DC01-18ECEA9F9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D3366616-37DB-BF79-5167-D463102D7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27445D-3576-90F2-B894-5C4FA378FA6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50605" y="2309169"/>
            <a:ext cx="8618899" cy="3699328"/>
          </a:xfrm>
        </p:spPr>
        <p:txBody>
          <a:bodyPr/>
          <a:lstStyle/>
          <a:p>
            <a:r>
              <a:rPr lang="es-AR" noProof="0"/>
              <a:t>La diferencia con Java puro, es que existe un proceso intermedio en donde el .</a:t>
            </a:r>
            <a:r>
              <a:rPr lang="es-AR" b="1" noProof="0" err="1"/>
              <a:t>class</a:t>
            </a:r>
            <a:r>
              <a:rPr lang="es-AR" noProof="0"/>
              <a:t> se convierte a .</a:t>
            </a:r>
            <a:r>
              <a:rPr lang="es-AR" noProof="0" err="1"/>
              <a:t>dex</a:t>
            </a:r>
            <a:r>
              <a:rPr lang="es-AR" noProof="0"/>
              <a:t> optimizado y eficiente para dispositivos móviles, optimizando llamadas y reduciendo instrucciones.</a:t>
            </a:r>
            <a:endParaRPr lang="es-AR" noProof="0">
              <a:sym typeface="Wingdings" panose="05000000000000000000" pitchFamily="2" charset="2"/>
            </a:endParaRPr>
          </a:p>
        </p:txBody>
      </p:sp>
      <p:pic>
        <p:nvPicPr>
          <p:cNvPr id="17410" name="Picture 2" descr="DEX with Over 65K Methods problem and how to use MultiDex in Android">
            <a:extLst>
              <a:ext uri="{FF2B5EF4-FFF2-40B4-BE49-F238E27FC236}">
                <a16:creationId xmlns:a16="http://schemas.microsoft.com/office/drawing/2014/main" id="{257E6DEB-3B8D-B09D-7F5E-5A6E33B5E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621" y="3900132"/>
            <a:ext cx="7647537" cy="20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1307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71E5E-C609-5B69-DE1C-1AE6BF1AD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E6F145-929C-7B16-3C43-B6ED35998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D8: El compilador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0CB18D4-69BE-BE1E-6513-F06FF2FC7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EACCC3C-D8EF-93D3-B180-A0C615816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885A2B2-347B-3F28-C5F9-F738E8ACA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047B9645-D219-386D-0B5A-1B0BD7ECC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5DDCA4-E6E3-C2B2-F194-584EA81EE3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50605" y="2309169"/>
            <a:ext cx="8618899" cy="3699328"/>
          </a:xfrm>
        </p:spPr>
        <p:txBody>
          <a:bodyPr>
            <a:normAutofit lnSpcReduction="10000"/>
          </a:bodyPr>
          <a:lstStyle/>
          <a:p>
            <a:r>
              <a:rPr lang="es-AR" noProof="0"/>
              <a:t>Es el compilador de </a:t>
            </a:r>
            <a:r>
              <a:rPr lang="es-AR" noProof="0" err="1"/>
              <a:t>bytecode</a:t>
            </a:r>
            <a:r>
              <a:rPr lang="es-AR" noProof="0"/>
              <a:t> Java/</a:t>
            </a:r>
            <a:r>
              <a:rPr lang="es-AR" noProof="0" err="1"/>
              <a:t>Kotin</a:t>
            </a:r>
            <a:r>
              <a:rPr lang="es-AR" noProof="0"/>
              <a:t> a DEX</a:t>
            </a:r>
          </a:p>
          <a:p>
            <a:pPr lvl="1"/>
            <a:r>
              <a:rPr lang="es-AR" noProof="0">
                <a:sym typeface="Wingdings" panose="05000000000000000000" pitchFamily="2" charset="2"/>
              </a:rPr>
              <a:t>Convierte los .</a:t>
            </a:r>
            <a:r>
              <a:rPr lang="es-AR" noProof="0" err="1">
                <a:sym typeface="Wingdings" panose="05000000000000000000" pitchFamily="2" charset="2"/>
              </a:rPr>
              <a:t>class</a:t>
            </a:r>
            <a:r>
              <a:rPr lang="es-AR" noProof="0">
                <a:sym typeface="Wingdings" panose="05000000000000000000" pitchFamily="2" charset="2"/>
              </a:rPr>
              <a:t> (</a:t>
            </a:r>
            <a:r>
              <a:rPr lang="es-AR" noProof="0" err="1">
                <a:sym typeface="Wingdings" panose="05000000000000000000" pitchFamily="2" charset="2"/>
              </a:rPr>
              <a:t>bytecode</a:t>
            </a:r>
            <a:r>
              <a:rPr lang="es-AR" noProof="0">
                <a:sym typeface="Wingdings" panose="05000000000000000000" pitchFamily="2" charset="2"/>
              </a:rPr>
              <a:t> JVM) que genera el compilador de Java/</a:t>
            </a:r>
            <a:r>
              <a:rPr lang="es-AR" noProof="0" err="1">
                <a:sym typeface="Wingdings" panose="05000000000000000000" pitchFamily="2" charset="2"/>
              </a:rPr>
              <a:t>Kotlin</a:t>
            </a:r>
            <a:r>
              <a:rPr lang="es-AR" noProof="0">
                <a:sym typeface="Wingdings" panose="05000000000000000000" pitchFamily="2" charset="2"/>
              </a:rPr>
              <a:t> en archivos .</a:t>
            </a:r>
            <a:r>
              <a:rPr lang="es-AR" noProof="0" err="1">
                <a:sym typeface="Wingdings" panose="05000000000000000000" pitchFamily="2" charset="2"/>
              </a:rPr>
              <a:t>dex</a:t>
            </a:r>
            <a:r>
              <a:rPr lang="es-AR" noProof="0">
                <a:sym typeface="Wingdings" panose="05000000000000000000" pitchFamily="2" charset="2"/>
              </a:rPr>
              <a:t> que es el formato que entiende la </a:t>
            </a:r>
            <a:r>
              <a:rPr lang="es-AR" noProof="0" err="1">
                <a:sym typeface="Wingdings" panose="05000000000000000000" pitchFamily="2" charset="2"/>
              </a:rPr>
              <a:t>Dalvik</a:t>
            </a:r>
            <a:r>
              <a:rPr lang="es-AR" noProof="0">
                <a:sym typeface="Wingdings" panose="05000000000000000000" pitchFamily="2" charset="2"/>
              </a:rPr>
              <a:t>/ART</a:t>
            </a:r>
          </a:p>
          <a:p>
            <a:pPr lvl="1"/>
            <a:r>
              <a:rPr lang="es-AR" noProof="0">
                <a:sym typeface="Wingdings" panose="05000000000000000000" pitchFamily="2" charset="2"/>
              </a:rPr>
              <a:t>Produce DEX optimizado</a:t>
            </a:r>
          </a:p>
          <a:p>
            <a:pPr lvl="1"/>
            <a:r>
              <a:rPr lang="es-AR" noProof="0">
                <a:sym typeface="Wingdings" panose="05000000000000000000" pitchFamily="2" charset="2"/>
              </a:rPr>
              <a:t>Mejora la velocidad de compilación en </a:t>
            </a:r>
            <a:r>
              <a:rPr lang="es-AR" noProof="0" err="1">
                <a:sym typeface="Wingdings" panose="05000000000000000000" pitchFamily="2" charset="2"/>
              </a:rPr>
              <a:t>build</a:t>
            </a:r>
            <a:endParaRPr lang="es-AR" noProof="0">
              <a:sym typeface="Wingdings" panose="05000000000000000000" pitchFamily="2" charset="2"/>
            </a:endParaRPr>
          </a:p>
          <a:p>
            <a:pPr lvl="1"/>
            <a:r>
              <a:rPr lang="es-AR" noProof="0">
                <a:sym typeface="Wingdings" panose="05000000000000000000" pitchFamily="2" charset="2"/>
              </a:rPr>
              <a:t>Mejora el </a:t>
            </a:r>
            <a:r>
              <a:rPr lang="es-AR" noProof="0" err="1">
                <a:sym typeface="Wingdings" panose="05000000000000000000" pitchFamily="2" charset="2"/>
              </a:rPr>
              <a:t>desugaring</a:t>
            </a:r>
            <a:r>
              <a:rPr lang="es-AR" noProof="0">
                <a:sym typeface="Wingdings" panose="05000000000000000000" pitchFamily="2" charset="2"/>
              </a:rPr>
              <a:t>*</a:t>
            </a:r>
          </a:p>
          <a:p>
            <a:pPr lvl="1"/>
            <a:r>
              <a:rPr lang="es-AR" noProof="0">
                <a:sym typeface="Wingdings" panose="05000000000000000000" pitchFamily="2" charset="2"/>
              </a:rPr>
              <a:t>Mejora el tiempo de instalación y ejecución. Entrega un DEX más eficiente.</a:t>
            </a:r>
          </a:p>
        </p:txBody>
      </p:sp>
    </p:spTree>
    <p:extLst>
      <p:ext uri="{BB962C8B-B14F-4D97-AF65-F5344CB8AC3E}">
        <p14:creationId xmlns:p14="http://schemas.microsoft.com/office/powerpoint/2010/main" val="1280763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49363-2BCC-E93D-74F6-3A8F67D20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56EA6F-1949-C086-7A40-9830CC8B1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130" y="405671"/>
            <a:ext cx="10873740" cy="1188487"/>
          </a:xfrm>
        </p:spPr>
        <p:txBody>
          <a:bodyPr/>
          <a:lstStyle/>
          <a:p>
            <a:r>
              <a:rPr lang="es-AR" noProof="0" err="1"/>
              <a:t>Desugaring</a:t>
            </a:r>
            <a:r>
              <a:rPr lang="es-AR" noProof="0"/>
              <a:t> – “Sin Azúcar”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7E613AA-7E94-5453-555A-7BC7CA733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9B838B-F017-BD8B-F7CE-E5647C1EB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36A8C72-B107-4498-3982-DEB3298C6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0279705-817C-B71B-F53B-6061EF6D1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292CF6-41BC-E155-3628-569CCE54BAA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50605" y="2309169"/>
            <a:ext cx="8618899" cy="3699328"/>
          </a:xfrm>
        </p:spPr>
        <p:txBody>
          <a:bodyPr>
            <a:normAutofit lnSpcReduction="10000"/>
          </a:bodyPr>
          <a:lstStyle/>
          <a:p>
            <a:r>
              <a:rPr lang="es-AR" noProof="0">
                <a:sym typeface="Wingdings" panose="05000000000000000000" pitchFamily="2" charset="2"/>
              </a:rPr>
              <a:t>Proviene de “azúcar sintáctica”, popularizado por Peter </a:t>
            </a:r>
            <a:r>
              <a:rPr lang="es-AR" noProof="0" err="1">
                <a:sym typeface="Wingdings" panose="05000000000000000000" pitchFamily="2" charset="2"/>
              </a:rPr>
              <a:t>Landin</a:t>
            </a:r>
            <a:r>
              <a:rPr lang="es-AR" noProof="0">
                <a:sym typeface="Wingdings" panose="05000000000000000000" pitchFamily="2" charset="2"/>
              </a:rPr>
              <a:t> en los 60s.</a:t>
            </a:r>
          </a:p>
          <a:p>
            <a:r>
              <a:rPr lang="es-AR">
                <a:sym typeface="Wingdings" panose="05000000000000000000" pitchFamily="2" charset="2"/>
              </a:rPr>
              <a:t>Son formas de escritura más agradable que no agregan poder semántico al lenguaje</a:t>
            </a:r>
          </a:p>
          <a:p>
            <a:r>
              <a:rPr lang="es-AR" noProof="0" err="1">
                <a:sym typeface="Wingdings" panose="05000000000000000000" pitchFamily="2" charset="2"/>
              </a:rPr>
              <a:t>Desugaring</a:t>
            </a:r>
            <a:r>
              <a:rPr lang="es-AR" noProof="0">
                <a:sym typeface="Wingdings" panose="05000000000000000000" pitchFamily="2" charset="2"/>
              </a:rPr>
              <a:t>, o en castellano, “desazucarado”, es el proceso de quitar esa azúcar que posee el código. El compilador lo </a:t>
            </a:r>
            <a:r>
              <a:rPr lang="es-AR" noProof="0" err="1">
                <a:sym typeface="Wingdings" panose="05000000000000000000" pitchFamily="2" charset="2"/>
              </a:rPr>
              <a:t>reescrbibe</a:t>
            </a:r>
            <a:r>
              <a:rPr lang="es-AR" noProof="0">
                <a:sym typeface="Wingdings" panose="05000000000000000000" pitchFamily="2" charset="2"/>
              </a:rPr>
              <a:t> a una IR mas accesible.</a:t>
            </a:r>
          </a:p>
          <a:p>
            <a:r>
              <a:rPr lang="es-AR">
                <a:sym typeface="Wingdings" panose="05000000000000000000" pitchFamily="2" charset="2"/>
              </a:rPr>
              <a:t>Es el proceso para que pueda ejecutarse en </a:t>
            </a:r>
            <a:r>
              <a:rPr lang="es-AR" err="1">
                <a:sym typeface="Wingdings" panose="05000000000000000000" pitchFamily="2" charset="2"/>
              </a:rPr>
              <a:t>runtimes</a:t>
            </a:r>
            <a:r>
              <a:rPr lang="es-AR">
                <a:sym typeface="Wingdings" panose="05000000000000000000" pitchFamily="2" charset="2"/>
              </a:rPr>
              <a:t> y </a:t>
            </a:r>
            <a:r>
              <a:rPr lang="es-AR" err="1">
                <a:sym typeface="Wingdings" panose="05000000000000000000" pitchFamily="2" charset="2"/>
              </a:rPr>
              <a:t>APIs</a:t>
            </a:r>
            <a:r>
              <a:rPr lang="es-AR">
                <a:sym typeface="Wingdings" panose="05000000000000000000" pitchFamily="2" charset="2"/>
              </a:rPr>
              <a:t> más antiguos.</a:t>
            </a:r>
          </a:p>
          <a:p>
            <a:r>
              <a:rPr lang="en-US" b="1" i="1"/>
              <a:t>API desugaring</a:t>
            </a:r>
            <a:r>
              <a:rPr lang="en-US" i="1"/>
              <a:t> allows developers to use more APIs without requiring a minimum API level for your app.</a:t>
            </a:r>
            <a:endParaRPr lang="es-AR" i="1" noProof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48453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F6B41-273C-ED10-5637-972E6562E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4D170B-FBD0-818A-968D-C8739FEF0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130" y="405671"/>
            <a:ext cx="10873740" cy="1188487"/>
          </a:xfrm>
        </p:spPr>
        <p:txBody>
          <a:bodyPr/>
          <a:lstStyle/>
          <a:p>
            <a:r>
              <a:rPr lang="es-AR" noProof="0"/>
              <a:t>JIT – Just in Time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55A0A7C-6AA5-00D6-9D4C-BDB4A9B72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6A9B778-E217-661B-CADF-171A5199B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D12B25B-5AE5-4DE4-B5A3-58C4FD630F4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1794C2F-9795-BCE7-A223-FAAD12303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A68986-8345-C670-B9E3-F198046151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50605" y="2309169"/>
            <a:ext cx="8618899" cy="3699328"/>
          </a:xfrm>
        </p:spPr>
        <p:txBody>
          <a:bodyPr>
            <a:normAutofit fontScale="92500" lnSpcReduction="20000"/>
          </a:bodyPr>
          <a:lstStyle/>
          <a:p>
            <a:r>
              <a:rPr lang="es-AR" noProof="0">
                <a:sym typeface="Wingdings" panose="05000000000000000000" pitchFamily="2" charset="2"/>
              </a:rPr>
              <a:t>Compila en ejecución solo lo que se usa.</a:t>
            </a:r>
          </a:p>
          <a:p>
            <a:r>
              <a:rPr lang="es-AR" i="1">
                <a:sym typeface="Wingdings" panose="05000000000000000000" pitchFamily="2" charset="2"/>
              </a:rPr>
              <a:t>Fuente </a:t>
            </a:r>
            <a:r>
              <a:rPr lang="es-AR" i="1" err="1">
                <a:sym typeface="Wingdings" panose="05000000000000000000" pitchFamily="2" charset="2"/>
              </a:rPr>
              <a:t>Bytecode</a:t>
            </a:r>
            <a:r>
              <a:rPr lang="es-AR" i="1">
                <a:sym typeface="Wingdings" panose="05000000000000000000" pitchFamily="2" charset="2"/>
              </a:rPr>
              <a:t>/IR (intérprete) perfilado (</a:t>
            </a:r>
            <a:r>
              <a:rPr lang="es-AR" i="1" err="1">
                <a:sym typeface="Wingdings" panose="05000000000000000000" pitchFamily="2" charset="2"/>
              </a:rPr>
              <a:t>hot</a:t>
            </a:r>
            <a:r>
              <a:rPr lang="es-AR" i="1">
                <a:sym typeface="Wingdings" panose="05000000000000000000" pitchFamily="2" charset="2"/>
              </a:rPr>
              <a:t> </a:t>
            </a:r>
            <a:r>
              <a:rPr lang="es-AR" i="1" err="1">
                <a:sym typeface="Wingdings" panose="05000000000000000000" pitchFamily="2" charset="2"/>
              </a:rPr>
              <a:t>paths</a:t>
            </a:r>
            <a:r>
              <a:rPr lang="es-AR" i="1">
                <a:sym typeface="Wingdings" panose="05000000000000000000" pitchFamily="2" charset="2"/>
              </a:rPr>
              <a:t>) código nativo en caché</a:t>
            </a:r>
          </a:p>
          <a:p>
            <a:r>
              <a:rPr lang="es-ES" b="1" noProof="0" err="1">
                <a:sym typeface="Wingdings" panose="05000000000000000000" pitchFamily="2" charset="2"/>
              </a:rPr>
              <a:t>Warm</a:t>
            </a:r>
            <a:r>
              <a:rPr lang="es-ES" b="1" noProof="0">
                <a:sym typeface="Wingdings" panose="05000000000000000000" pitchFamily="2" charset="2"/>
              </a:rPr>
              <a:t>-up rápido</a:t>
            </a:r>
            <a:r>
              <a:rPr lang="es-ES" noProof="0">
                <a:sym typeface="Wingdings" panose="05000000000000000000" pitchFamily="2" charset="2"/>
              </a:rPr>
              <a:t>: </a:t>
            </a:r>
            <a:r>
              <a:rPr lang="es-ES" noProof="0" err="1">
                <a:sym typeface="Wingdings" panose="05000000000000000000" pitchFamily="2" charset="2"/>
              </a:rPr>
              <a:t>arrancás</a:t>
            </a:r>
            <a:r>
              <a:rPr lang="es-ES" noProof="0">
                <a:sym typeface="Wingdings" panose="05000000000000000000" pitchFamily="2" charset="2"/>
              </a:rPr>
              <a:t> inmediatamente.</a:t>
            </a:r>
          </a:p>
          <a:p>
            <a:r>
              <a:rPr lang="es-ES" noProof="0">
                <a:sym typeface="Wingdings" panose="05000000000000000000" pitchFamily="2" charset="2"/>
              </a:rPr>
              <a:t>Se adapta al uso real y al hardware (optimizaciones guiadas por perfil).</a:t>
            </a:r>
          </a:p>
          <a:p>
            <a:r>
              <a:rPr lang="es-ES" noProof="0">
                <a:sym typeface="Wingdings" panose="05000000000000000000" pitchFamily="2" charset="2"/>
              </a:rPr>
              <a:t>Puede </a:t>
            </a:r>
            <a:r>
              <a:rPr lang="es-ES" noProof="0" err="1">
                <a:sym typeface="Wingdings" panose="05000000000000000000" pitchFamily="2" charset="2"/>
              </a:rPr>
              <a:t>desoptimizar</a:t>
            </a:r>
            <a:r>
              <a:rPr lang="es-ES" noProof="0">
                <a:sym typeface="Wingdings" panose="05000000000000000000" pitchFamily="2" charset="2"/>
              </a:rPr>
              <a:t>/</a:t>
            </a:r>
            <a:r>
              <a:rPr lang="es-ES" noProof="0" err="1">
                <a:sym typeface="Wingdings" panose="05000000000000000000" pitchFamily="2" charset="2"/>
              </a:rPr>
              <a:t>reoptimizar</a:t>
            </a:r>
            <a:r>
              <a:rPr lang="es-ES" noProof="0">
                <a:sym typeface="Wingdings" panose="05000000000000000000" pitchFamily="2" charset="2"/>
              </a:rPr>
              <a:t> en vivo (OSR).</a:t>
            </a:r>
          </a:p>
          <a:p>
            <a:r>
              <a:rPr lang="es-ES" noProof="0">
                <a:sym typeface="Wingdings" panose="05000000000000000000" pitchFamily="2" charset="2"/>
              </a:rPr>
              <a:t>Menor tamaño en disco que compilar todo antes.</a:t>
            </a:r>
          </a:p>
          <a:p>
            <a:pPr marL="0" indent="0">
              <a:buNone/>
            </a:pPr>
            <a:r>
              <a:rPr lang="es-ES" i="1">
                <a:sym typeface="Wingdings" panose="05000000000000000000" pitchFamily="2" charset="2"/>
              </a:rPr>
              <a:t>Desde los 60s y 70s que existe la Dynamic </a:t>
            </a:r>
            <a:r>
              <a:rPr lang="es-ES" i="1" err="1">
                <a:sym typeface="Wingdings" panose="05000000000000000000" pitchFamily="2" charset="2"/>
              </a:rPr>
              <a:t>compilation</a:t>
            </a:r>
            <a:r>
              <a:rPr lang="es-ES" i="1">
                <a:sym typeface="Wingdings" panose="05000000000000000000" pitchFamily="2" charset="2"/>
              </a:rPr>
              <a:t> para lenguajes de sistemas y objetos. Java incorpora JIT en los 90s. JavaScript utiliza los </a:t>
            </a:r>
            <a:r>
              <a:rPr lang="es-ES" i="1" err="1">
                <a:sym typeface="Wingdings" panose="05000000000000000000" pitchFamily="2" charset="2"/>
              </a:rPr>
              <a:t>moteroes</a:t>
            </a:r>
            <a:r>
              <a:rPr lang="es-ES" i="1">
                <a:sym typeface="Wingdings" panose="05000000000000000000" pitchFamily="2" charset="2"/>
              </a:rPr>
              <a:t> modernos como V8</a:t>
            </a:r>
            <a:endParaRPr lang="es-AR" i="1" noProof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433335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FE073-D867-C9DF-2B23-2B30648D7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A265B7-BBCA-3CBB-8765-D1FBB66D9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130" y="405671"/>
            <a:ext cx="10873740" cy="1188487"/>
          </a:xfrm>
        </p:spPr>
        <p:txBody>
          <a:bodyPr/>
          <a:lstStyle/>
          <a:p>
            <a:r>
              <a:rPr lang="es-AR" noProof="0"/>
              <a:t>JIT – Just in Time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B52D10D-E721-2F60-D310-2FF1CB116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DB1E01A-B671-34FE-87D1-E64E96FE530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91007295-4361-130F-8654-855C6A637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0F80BC4-5812-2313-8CEC-976D9FD58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E1AB3A-D69E-BE18-A5AF-FB4CA8AC066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50605" y="2309169"/>
            <a:ext cx="8618899" cy="3699328"/>
          </a:xfrm>
        </p:spPr>
        <p:txBody>
          <a:bodyPr>
            <a:normAutofit/>
          </a:bodyPr>
          <a:lstStyle/>
          <a:p>
            <a:r>
              <a:rPr lang="es-ES" noProof="0">
                <a:sym typeface="Wingdings" panose="05000000000000000000" pitchFamily="2" charset="2"/>
              </a:rPr>
              <a:t>Pausas/</a:t>
            </a:r>
            <a:r>
              <a:rPr lang="es-ES" noProof="0" err="1">
                <a:sym typeface="Wingdings" panose="05000000000000000000" pitchFamily="2" charset="2"/>
              </a:rPr>
              <a:t>overhead</a:t>
            </a:r>
            <a:r>
              <a:rPr lang="es-ES" noProof="0">
                <a:sym typeface="Wingdings" panose="05000000000000000000" pitchFamily="2" charset="2"/>
              </a:rPr>
              <a:t> de compilación en </a:t>
            </a:r>
            <a:r>
              <a:rPr lang="es-ES" noProof="0" err="1">
                <a:sym typeface="Wingdings" panose="05000000000000000000" pitchFamily="2" charset="2"/>
              </a:rPr>
              <a:t>runtime</a:t>
            </a:r>
            <a:r>
              <a:rPr lang="es-ES" noProof="0">
                <a:sym typeface="Wingdings" panose="05000000000000000000" pitchFamily="2" charset="2"/>
              </a:rPr>
              <a:t>.</a:t>
            </a:r>
          </a:p>
          <a:p>
            <a:r>
              <a:rPr lang="es-ES" noProof="0">
                <a:sym typeface="Wingdings" panose="05000000000000000000" pitchFamily="2" charset="2"/>
              </a:rPr>
              <a:t>Latencia inicial hasta “entrar en calor”.</a:t>
            </a:r>
          </a:p>
          <a:p>
            <a:r>
              <a:rPr lang="es-ES" noProof="0">
                <a:sym typeface="Wingdings" panose="05000000000000000000" pitchFamily="2" charset="2"/>
              </a:rPr>
              <a:t>Más uso de RAM para caché de código JIT.</a:t>
            </a:r>
          </a:p>
          <a:p>
            <a:endParaRPr lang="es-ES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s-ES" noProof="0">
                <a:sym typeface="Wingdings" panose="05000000000000000000" pitchFamily="2" charset="2"/>
              </a:rPr>
              <a:t>Rinde bien en apps interactivas y de carga variable.</a:t>
            </a:r>
            <a:endParaRPr lang="es-AR" noProof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28082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043A3-A562-815E-7B37-D9500B180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9CFAFE-19F7-FFE8-4B84-2B18A9A1F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JIT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A780B8F-1DB6-F6BA-52AF-326E95534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D9208E1-AF60-502D-3B4F-BA0DB1F8D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96DBFB97-FF7F-C098-24EE-ED6D1BF4DEB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A2925E7-6FEA-6BA9-D33B-7A8FA4E671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D05B6DBB-EB43-27BF-8302-13B5BEE568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12274" y="2326505"/>
            <a:ext cx="8508874" cy="3700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800" noProof="0"/>
              <a:t>El Código se compila en tiempo de ejecución, justo antes de su uso.</a:t>
            </a:r>
          </a:p>
          <a:p>
            <a:pPr marL="0" indent="0">
              <a:buNone/>
            </a:pPr>
            <a:r>
              <a:rPr lang="es-AR" sz="2800" noProof="0"/>
              <a:t>La instalación es rápida, menos espacio de binarios. </a:t>
            </a:r>
          </a:p>
          <a:p>
            <a:pPr marL="0" indent="0">
              <a:buNone/>
            </a:pPr>
            <a:r>
              <a:rPr lang="es-AR" sz="2800" noProof="0"/>
              <a:t>Puede </a:t>
            </a:r>
            <a:r>
              <a:rPr lang="es-AR" sz="2800" noProof="0" err="1"/>
              <a:t>utilizer</a:t>
            </a:r>
            <a:r>
              <a:rPr lang="es-AR" sz="2800" noProof="0"/>
              <a:t> </a:t>
            </a:r>
            <a:r>
              <a:rPr lang="es-AR" sz="2800" noProof="0" err="1"/>
              <a:t>profile-guided</a:t>
            </a:r>
            <a:r>
              <a:rPr lang="es-AR" sz="2800" noProof="0"/>
              <a:t> </a:t>
            </a:r>
            <a:r>
              <a:rPr lang="es-AR" sz="2800" noProof="0" err="1"/>
              <a:t>optimization</a:t>
            </a:r>
            <a:r>
              <a:rPr lang="es-AR" sz="2800" noProof="0"/>
              <a:t> según el uso de las apps.</a:t>
            </a:r>
          </a:p>
          <a:p>
            <a:pPr marL="0" indent="0">
              <a:buNone/>
            </a:pPr>
            <a:endParaRPr lang="es-AR" sz="2800" noProof="0"/>
          </a:p>
        </p:txBody>
      </p:sp>
    </p:spTree>
    <p:extLst>
      <p:ext uri="{BB962C8B-B14F-4D97-AF65-F5344CB8AC3E}">
        <p14:creationId xmlns:p14="http://schemas.microsoft.com/office/powerpoint/2010/main" val="3200845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BD897-FE03-3ED6-F94B-029FEFFF0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A46930-D712-7CC9-5E03-CDC03AB0B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JIT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5A294C5-C6FB-8450-E81A-4B9CE9E8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0F4A5BE-DC93-496B-B8CA-0691313E0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046F318-1FA5-D52F-7B63-F63A6151A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A24F2F3-8053-CFFE-A689-AB5AC867B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0DE499E-1A74-0AA0-FAC7-32F46B22544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93343" y="1783080"/>
            <a:ext cx="8508874" cy="3700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800" noProof="0"/>
              <a:t>El inicio es más lento. La primera vez que </a:t>
            </a:r>
            <a:r>
              <a:rPr lang="es-AR" sz="2800" noProof="0" err="1"/>
              <a:t>abris</a:t>
            </a:r>
            <a:r>
              <a:rPr lang="es-AR" sz="2800" noProof="0"/>
              <a:t> la app, demora dado que tiene que compilar todo en el momento.</a:t>
            </a:r>
          </a:p>
          <a:p>
            <a:pPr marL="0" indent="0">
              <a:buNone/>
            </a:pPr>
            <a:r>
              <a:rPr lang="es-AR" sz="2800" noProof="0"/>
              <a:t>Al hacer esto, se genera mayor consume de CPU.</a:t>
            </a:r>
          </a:p>
          <a:p>
            <a:pPr marL="0" indent="0">
              <a:buNone/>
            </a:pPr>
            <a:endParaRPr lang="es-AR" sz="2800" noProof="0"/>
          </a:p>
          <a:p>
            <a:pPr marL="0" indent="0">
              <a:buNone/>
            </a:pPr>
            <a:endParaRPr lang="es-AR" sz="2800" noProof="0"/>
          </a:p>
        </p:txBody>
      </p:sp>
    </p:spTree>
    <p:extLst>
      <p:ext uri="{BB962C8B-B14F-4D97-AF65-F5344CB8AC3E}">
        <p14:creationId xmlns:p14="http://schemas.microsoft.com/office/powerpoint/2010/main" val="12031061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E19C0-D830-2131-85A9-BA692BB70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12A0F0-BF9D-3BCA-A628-0D6BFF9A9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JIT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A050DC2-7D95-88DC-FBE6-EFF77822B2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-1" y="3900133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3653F6-04B3-4CDC-BC75-0D019E2CD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FAB80D1-FBFB-BE90-9BFC-3877CCB52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C35B12A-AC24-9C9E-BA4A-4857189241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pic>
        <p:nvPicPr>
          <p:cNvPr id="23554" name="Picture 2">
            <a:extLst>
              <a:ext uri="{FF2B5EF4-FFF2-40B4-BE49-F238E27FC236}">
                <a16:creationId xmlns:a16="http://schemas.microsoft.com/office/drawing/2014/main" id="{62FD8ABE-6143-FB46-AA35-CA36ED914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622" y="1630620"/>
            <a:ext cx="7693680" cy="3889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25275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B358E-2E60-BAA8-4B34-5B373B4E8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5F4A44-4BCC-5312-62FE-FBA9B7A6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AOT vs JIT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D7653B8-5989-9529-362F-D6DDFB00A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B1E0CCA-EAA1-67FD-4FBF-25705BB2818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3C8B603-189E-734A-BBDB-3B040AAA3D2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8122DD0-59FF-6B3C-53AC-751931917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pic>
        <p:nvPicPr>
          <p:cNvPr id="22530" name="Picture 2" descr="AOT vs. JIT Compilation in Java">
            <a:extLst>
              <a:ext uri="{FF2B5EF4-FFF2-40B4-BE49-F238E27FC236}">
                <a16:creationId xmlns:a16="http://schemas.microsoft.com/office/drawing/2014/main" id="{531C9E4E-1FE0-CC24-38D4-B84A5D5CEBCF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3278" y="1989709"/>
            <a:ext cx="7141513" cy="438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71055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FF64E-41EF-4077-9AD1-5AC63A20B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E614D8-4A29-296E-4190-0B3595CCD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130" y="405671"/>
            <a:ext cx="10873740" cy="1188487"/>
          </a:xfrm>
        </p:spPr>
        <p:txBody>
          <a:bodyPr/>
          <a:lstStyle/>
          <a:p>
            <a:r>
              <a:rPr lang="es-AR" noProof="0"/>
              <a:t>AOT – </a:t>
            </a:r>
            <a:r>
              <a:rPr lang="es-AR" noProof="0" err="1"/>
              <a:t>Ahead</a:t>
            </a:r>
            <a:r>
              <a:rPr lang="es-AR" noProof="0"/>
              <a:t> </a:t>
            </a:r>
            <a:r>
              <a:rPr lang="es-AR" noProof="0" err="1"/>
              <a:t>Of</a:t>
            </a:r>
            <a:r>
              <a:rPr lang="es-AR" noProof="0"/>
              <a:t> Time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138EFBB-1A1E-230F-6BB9-67E731E14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41E4E3F-672A-F5AD-4D94-04DA95037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F2AC92D6-2B12-E837-E985-9FE07718AAB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54E20D5-4166-37C7-66D7-8689815F6A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64590C-D12B-119A-81B4-416B874852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50605" y="2309169"/>
            <a:ext cx="8618899" cy="3699328"/>
          </a:xfrm>
        </p:spPr>
        <p:txBody>
          <a:bodyPr>
            <a:normAutofit/>
          </a:bodyPr>
          <a:lstStyle/>
          <a:p>
            <a:r>
              <a:rPr lang="es-ES" noProof="0">
                <a:sym typeface="Wingdings" panose="05000000000000000000" pitchFamily="2" charset="2"/>
              </a:rPr>
              <a:t>Compila antes de ejecutar</a:t>
            </a:r>
          </a:p>
          <a:p>
            <a:r>
              <a:rPr lang="es-ES" err="1">
                <a:sym typeface="Wingdings" panose="05000000000000000000" pitchFamily="2" charset="2"/>
              </a:rPr>
              <a:t>FuenteBytecode</a:t>
            </a:r>
            <a:r>
              <a:rPr lang="es-ES">
                <a:sym typeface="Wingdings" panose="05000000000000000000" pitchFamily="2" charset="2"/>
              </a:rPr>
              <a:t>/IRAOT </a:t>
            </a:r>
            <a:r>
              <a:rPr lang="es-ES" err="1">
                <a:sym typeface="Wingdings" panose="05000000000000000000" pitchFamily="2" charset="2"/>
              </a:rPr>
              <a:t>Compilerbinarios</a:t>
            </a:r>
            <a:r>
              <a:rPr lang="es-ES">
                <a:sym typeface="Wingdings" panose="05000000000000000000" pitchFamily="2" charset="2"/>
              </a:rPr>
              <a:t>/</a:t>
            </a:r>
            <a:r>
              <a:rPr lang="es-ES" err="1">
                <a:sym typeface="Wingdings" panose="05000000000000000000" pitchFamily="2" charset="2"/>
              </a:rPr>
              <a:t>artefactosrun</a:t>
            </a:r>
            <a:r>
              <a:rPr lang="es-ES">
                <a:sym typeface="Wingdings" panose="05000000000000000000" pitchFamily="2" charset="2"/>
              </a:rPr>
              <a:t> directo</a:t>
            </a:r>
          </a:p>
          <a:p>
            <a:r>
              <a:rPr lang="es-ES" noProof="0">
                <a:sym typeface="Wingdings" panose="05000000000000000000" pitchFamily="2" charset="2"/>
              </a:rPr>
              <a:t>Arranque muy rápido y rendimiento estable (sin </a:t>
            </a:r>
            <a:r>
              <a:rPr lang="es-ES" noProof="0" err="1">
                <a:sym typeface="Wingdings" panose="05000000000000000000" pitchFamily="2" charset="2"/>
              </a:rPr>
              <a:t>warm</a:t>
            </a:r>
            <a:r>
              <a:rPr lang="es-ES" noProof="0">
                <a:sym typeface="Wingdings" panose="05000000000000000000" pitchFamily="2" charset="2"/>
              </a:rPr>
              <a:t>-up).</a:t>
            </a:r>
          </a:p>
          <a:p>
            <a:r>
              <a:rPr lang="es-ES" noProof="0">
                <a:sym typeface="Wingdings" panose="05000000000000000000" pitchFamily="2" charset="2"/>
              </a:rPr>
              <a:t>Casi sin </a:t>
            </a:r>
            <a:r>
              <a:rPr lang="es-ES" noProof="0" err="1">
                <a:sym typeface="Wingdings" panose="05000000000000000000" pitchFamily="2" charset="2"/>
              </a:rPr>
              <a:t>overhead</a:t>
            </a:r>
            <a:r>
              <a:rPr lang="es-ES" noProof="0">
                <a:sym typeface="Wingdings" panose="05000000000000000000" pitchFamily="2" charset="2"/>
              </a:rPr>
              <a:t> de compilación en </a:t>
            </a:r>
            <a:r>
              <a:rPr lang="es-ES" noProof="0" err="1">
                <a:sym typeface="Wingdings" panose="05000000000000000000" pitchFamily="2" charset="2"/>
              </a:rPr>
              <a:t>runtime</a:t>
            </a:r>
            <a:r>
              <a:rPr lang="es-ES" noProof="0">
                <a:sym typeface="Wingdings" panose="05000000000000000000" pitchFamily="2" charset="2"/>
              </a:rPr>
              <a:t>. </a:t>
            </a:r>
          </a:p>
          <a:p>
            <a:r>
              <a:rPr lang="es-ES" noProof="0">
                <a:sym typeface="Wingdings" panose="05000000000000000000" pitchFamily="2" charset="2"/>
              </a:rPr>
              <a:t>Eficiencia energética en ejecución prolongada.</a:t>
            </a:r>
            <a:endParaRPr lang="es-AR" noProof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0660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7D36B-308F-A9FA-FBEE-D235C86A7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4A11E3-AB7E-F55C-0335-9F024CDEE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130" y="405671"/>
            <a:ext cx="10873740" cy="1188487"/>
          </a:xfrm>
        </p:spPr>
        <p:txBody>
          <a:bodyPr/>
          <a:lstStyle/>
          <a:p>
            <a:r>
              <a:rPr lang="es-AR" noProof="0"/>
              <a:t>AOT – </a:t>
            </a:r>
            <a:r>
              <a:rPr lang="es-AR" noProof="0" err="1"/>
              <a:t>Ahead</a:t>
            </a:r>
            <a:r>
              <a:rPr lang="es-AR" noProof="0"/>
              <a:t> </a:t>
            </a:r>
            <a:r>
              <a:rPr lang="es-AR" noProof="0" err="1"/>
              <a:t>Of</a:t>
            </a:r>
            <a:r>
              <a:rPr lang="es-AR" noProof="0"/>
              <a:t> Time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5FEE00-0A81-EF7E-3E31-BF92FA9EB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AC7FB50-35B5-E730-F61E-0C04AF39D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2901548-E42A-6099-4426-051555BBD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1BC86D9-486E-6D59-0DEE-5BEF1585E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A6D30E-0C8A-CBA0-0857-8010D4F131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50605" y="2309169"/>
            <a:ext cx="8618899" cy="3699328"/>
          </a:xfrm>
        </p:spPr>
        <p:txBody>
          <a:bodyPr>
            <a:normAutofit/>
          </a:bodyPr>
          <a:lstStyle/>
          <a:p>
            <a:r>
              <a:rPr lang="es-ES" noProof="0">
                <a:sym typeface="Wingdings" panose="05000000000000000000" pitchFamily="2" charset="2"/>
              </a:rPr>
              <a:t>Mayor tamaño en disco/paquete.</a:t>
            </a:r>
          </a:p>
          <a:p>
            <a:r>
              <a:rPr lang="es-ES" noProof="0">
                <a:sym typeface="Wingdings" panose="05000000000000000000" pitchFamily="2" charset="2"/>
              </a:rPr>
              <a:t>Menor capacidad de adaptarse al uso real.</a:t>
            </a:r>
          </a:p>
          <a:p>
            <a:r>
              <a:rPr lang="es-ES" noProof="0">
                <a:sym typeface="Wingdings" panose="05000000000000000000" pitchFamily="2" charset="2"/>
              </a:rPr>
              <a:t>Recompilar ante cambios de código/entorno.</a:t>
            </a:r>
          </a:p>
          <a:p>
            <a:pPr marL="0" indent="0">
              <a:buNone/>
            </a:pPr>
            <a:r>
              <a:rPr lang="es-ES">
                <a:sym typeface="Wingdings" panose="05000000000000000000" pitchFamily="2" charset="2"/>
              </a:rPr>
              <a:t>Rinde bien con: </a:t>
            </a:r>
          </a:p>
          <a:p>
            <a:pPr marL="0" indent="0">
              <a:buNone/>
            </a:pPr>
            <a:r>
              <a:rPr lang="es-ES" noProof="0">
                <a:sym typeface="Wingdings" panose="05000000000000000000" pitchFamily="2" charset="2"/>
              </a:rPr>
              <a:t>Dispositivos embebidos, funciones con latencia crítica</a:t>
            </a:r>
            <a:r>
              <a:rPr lang="es-ES">
                <a:sym typeface="Wingdings" panose="05000000000000000000" pitchFamily="2" charset="2"/>
              </a:rPr>
              <a:t> o </a:t>
            </a:r>
            <a:r>
              <a:rPr lang="es-ES" noProof="0">
                <a:sym typeface="Wingdings" panose="05000000000000000000" pitchFamily="2" charset="2"/>
              </a:rPr>
              <a:t>Servicios “inmutables” o predecibles.</a:t>
            </a:r>
            <a:endParaRPr lang="es-AR" noProof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0288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BE236-8EE4-871F-66EF-F4DBC39E8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E5FEE5-D8B3-3CD7-AD96-F8F50AD14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AOT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676208D-D22F-8F8B-E368-D2BD89130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0ED4F90E-3AD9-A78B-EE79-077BD8EC5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1E08C01-7163-849D-81FA-DABEA7FC8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26CC2CB-26DA-AD35-2832-B65EAF7F9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A76EA214-8E5C-BAAC-5E6B-A2628C6FEFD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12274" y="2326505"/>
            <a:ext cx="8508874" cy="3700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800" noProof="0"/>
              <a:t>El código </a:t>
            </a:r>
            <a:r>
              <a:rPr lang="es-AR" sz="2800" b="1" noProof="0" err="1"/>
              <a:t>bytecode</a:t>
            </a:r>
            <a:r>
              <a:rPr lang="es-AR" sz="2800" noProof="0"/>
              <a:t> se compila a máquina nativo ANTES de ejecutar la app, generalmente durante la instalación.</a:t>
            </a:r>
          </a:p>
          <a:p>
            <a:pPr marL="0" indent="0">
              <a:buNone/>
            </a:pPr>
            <a:r>
              <a:rPr lang="es-AR" sz="2800" noProof="0"/>
              <a:t>Da una ejecución rápida, el código ya esta compilado. La app corre como binario nativo.</a:t>
            </a:r>
          </a:p>
          <a:p>
            <a:pPr marL="0" indent="0">
              <a:buNone/>
            </a:pPr>
            <a:r>
              <a:rPr lang="es-AR" sz="2800" noProof="0"/>
              <a:t>Menor consumo de CPU </a:t>
            </a:r>
            <a:r>
              <a:rPr lang="es-AR" sz="2800" noProof="0">
                <a:sym typeface="Wingdings" panose="05000000000000000000" pitchFamily="2" charset="2"/>
              </a:rPr>
              <a:t> Mejora de batería.</a:t>
            </a:r>
            <a:endParaRPr lang="es-AR" sz="2800" noProof="0"/>
          </a:p>
        </p:txBody>
      </p:sp>
    </p:spTree>
    <p:extLst>
      <p:ext uri="{BB962C8B-B14F-4D97-AF65-F5344CB8AC3E}">
        <p14:creationId xmlns:p14="http://schemas.microsoft.com/office/powerpoint/2010/main" val="16604572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EFDD2-48D9-90CA-B5C3-E83EC4B8A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7CCAC2-7A73-9A44-80A4-E61CAC72E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AOT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7023BB4-A214-23D3-A97C-77EC7D046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D2F6799-DF48-5662-CF46-A872EE991D6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FEB3BF1-50D9-110C-DE09-902F7749F3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E982FE3-E130-121C-3624-FA45781AF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D5EC15D1-FBA0-B27C-AFD9-38680E0134C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12274" y="2326505"/>
            <a:ext cx="8508874" cy="3700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800" noProof="0"/>
              <a:t>Como desventaja, se generan más archivos dado que además del .</a:t>
            </a:r>
            <a:r>
              <a:rPr lang="es-AR" sz="2800" noProof="0" err="1"/>
              <a:t>apk</a:t>
            </a:r>
            <a:r>
              <a:rPr lang="es-AR" sz="2800" noProof="0"/>
              <a:t>/.</a:t>
            </a:r>
            <a:r>
              <a:rPr lang="es-AR" sz="2800" noProof="0" err="1"/>
              <a:t>dex</a:t>
            </a:r>
            <a:r>
              <a:rPr lang="es-AR" sz="2800" noProof="0"/>
              <a:t> se guardan los compilados .</a:t>
            </a:r>
            <a:r>
              <a:rPr lang="es-AR" sz="2800" noProof="0" err="1"/>
              <a:t>oat</a:t>
            </a:r>
            <a:r>
              <a:rPr lang="es-AR" sz="2800" noProof="0"/>
              <a:t> y </a:t>
            </a:r>
            <a:r>
              <a:rPr lang="es-AR" sz="2800" noProof="0" err="1"/>
              <a:t>odex</a:t>
            </a:r>
            <a:endParaRPr lang="es-AR" sz="2800" noProof="0"/>
          </a:p>
          <a:p>
            <a:pPr marL="0" indent="0">
              <a:buNone/>
            </a:pPr>
            <a:r>
              <a:rPr lang="es-AR" sz="2800" noProof="0"/>
              <a:t>La instalación se Vuelve más lenta, dado que tiene que compilar todo.</a:t>
            </a:r>
          </a:p>
          <a:p>
            <a:pPr marL="0" indent="0">
              <a:buNone/>
            </a:pPr>
            <a:r>
              <a:rPr lang="es-AR" sz="2800" noProof="0"/>
              <a:t>Ni bien </a:t>
            </a:r>
            <a:r>
              <a:rPr lang="es-AR" sz="2800" noProof="0" err="1"/>
              <a:t>salio</a:t>
            </a:r>
            <a:r>
              <a:rPr lang="es-AR" sz="2800" noProof="0"/>
              <a:t> ART con 5.0 y 6.0 se hacia una compilación completa. Hoy es hibrido entre AOT y JIT</a:t>
            </a:r>
          </a:p>
        </p:txBody>
      </p:sp>
    </p:spTree>
    <p:extLst>
      <p:ext uri="{BB962C8B-B14F-4D97-AF65-F5344CB8AC3E}">
        <p14:creationId xmlns:p14="http://schemas.microsoft.com/office/powerpoint/2010/main" val="37810371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20701-24EF-2E87-9318-E0A6374BE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6661165-6B81-48F4-CF1D-D03274D97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AOT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C5B2B92-5CE8-7D17-C0D7-35A4145B0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7B2106F-4752-14B5-5FF2-FD7631BE45E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9E15561-6214-39E1-CCF9-574C0E616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4790588-2F3A-BE1A-BFDE-F78F4137E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pic>
        <p:nvPicPr>
          <p:cNvPr id="24578" name="Picture 2">
            <a:extLst>
              <a:ext uri="{FF2B5EF4-FFF2-40B4-BE49-F238E27FC236}">
                <a16:creationId xmlns:a16="http://schemas.microsoft.com/office/drawing/2014/main" id="{AB4252F8-2ECC-ED24-1DFE-36590B834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203" y="1323646"/>
            <a:ext cx="8235636" cy="4503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37128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E1206-A5AD-1C28-EB92-B8AF33FFC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29F147-CA67-41CE-C408-2329EE806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Pipeline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478BFC6-F54D-E29F-72F9-FD97DBDF7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F09DD9F-0F47-0382-0DD8-1F5331A6A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F078F56-5499-17F3-CDD2-1C46F4B4A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FBF5735-772C-A0AC-599B-D37DABC6D8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DACBFF-92AB-1F81-695A-C3D7B28B243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80146" y="1348967"/>
            <a:ext cx="8317494" cy="4731958"/>
          </a:xfrm>
        </p:spPr>
        <p:txBody>
          <a:bodyPr vert="horz" lIns="0" tIns="228600" rIns="0" bIns="0" rtlCol="0" anchor="t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AR" sz="1600" b="1" noProof="0"/>
              <a:t>Código Fuente </a:t>
            </a:r>
            <a:r>
              <a:rPr lang="es-AR" sz="1600" b="1" noProof="0">
                <a:sym typeface="Wingdings" panose="05000000000000000000" pitchFamily="2" charset="2"/>
              </a:rPr>
              <a:t> escriben el .java / .</a:t>
            </a:r>
            <a:r>
              <a:rPr lang="es-AR" sz="1600" b="1" noProof="0" err="1">
                <a:sym typeface="Wingdings" panose="05000000000000000000" pitchFamily="2" charset="2"/>
              </a:rPr>
              <a:t>kt</a:t>
            </a:r>
            <a:endParaRPr lang="es-AR" sz="1600" b="1" noProof="0">
              <a:sym typeface="Wingdings" panose="05000000000000000000" pitchFamily="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s-AR" sz="1600" b="1" noProof="0">
                <a:sym typeface="Wingdings" panose="05000000000000000000" pitchFamily="2" charset="2"/>
              </a:rPr>
              <a:t>Compilación a </a:t>
            </a:r>
            <a:r>
              <a:rPr lang="es-AR" sz="1600" b="1" noProof="0" err="1">
                <a:sym typeface="Wingdings" panose="05000000000000000000" pitchFamily="2" charset="2"/>
              </a:rPr>
              <a:t>bytecode</a:t>
            </a:r>
            <a:r>
              <a:rPr lang="es-AR" sz="1600" b="1" noProof="0">
                <a:sym typeface="Wingdings" panose="05000000000000000000" pitchFamily="2" charset="2"/>
              </a:rPr>
              <a:t> JVM</a:t>
            </a:r>
            <a:endParaRPr lang="es-AR" sz="1600" b="1" noProof="0">
              <a:cs typeface="Arial"/>
            </a:endParaRPr>
          </a:p>
          <a:p>
            <a:pPr marL="859155" lvl="1" indent="-457200">
              <a:buFont typeface="+mj-lt"/>
              <a:buAutoNum type="arabicPeriod"/>
            </a:pPr>
            <a:r>
              <a:rPr lang="es-AR" sz="1600" noProof="0" err="1">
                <a:sym typeface="Wingdings" panose="05000000000000000000" pitchFamily="2" charset="2"/>
              </a:rPr>
              <a:t>javac</a:t>
            </a:r>
            <a:r>
              <a:rPr lang="es-AR" sz="1600" noProof="0">
                <a:sym typeface="Wingdings" panose="05000000000000000000" pitchFamily="2" charset="2"/>
              </a:rPr>
              <a:t> o el compilador de </a:t>
            </a:r>
            <a:r>
              <a:rPr lang="es-AR" sz="1600" noProof="0" err="1">
                <a:sym typeface="Wingdings" panose="05000000000000000000" pitchFamily="2" charset="2"/>
              </a:rPr>
              <a:t>Kotlin</a:t>
            </a:r>
            <a:r>
              <a:rPr lang="es-AR" sz="1600" noProof="0">
                <a:sym typeface="Wingdings" panose="05000000000000000000" pitchFamily="2" charset="2"/>
              </a:rPr>
              <a:t> generan .</a:t>
            </a:r>
            <a:r>
              <a:rPr lang="es-AR" sz="1600" noProof="0" err="1">
                <a:sym typeface="Wingdings" panose="05000000000000000000" pitchFamily="2" charset="2"/>
              </a:rPr>
              <a:t>class</a:t>
            </a:r>
            <a:r>
              <a:rPr lang="es-AR" sz="1600" noProof="0">
                <a:sym typeface="Wingdings" panose="05000000000000000000" pitchFamily="2" charset="2"/>
              </a:rPr>
              <a:t> /</a:t>
            </a:r>
            <a:r>
              <a:rPr lang="es-AR" sz="1600" noProof="0" err="1">
                <a:sym typeface="Wingdings" panose="05000000000000000000" pitchFamily="2" charset="2"/>
              </a:rPr>
              <a:t>bytecode</a:t>
            </a:r>
            <a:r>
              <a:rPr lang="es-AR" sz="1600" noProof="0">
                <a:sym typeface="Wingdings" panose="05000000000000000000" pitchFamily="2" charset="2"/>
              </a:rPr>
              <a:t> de la JVM)</a:t>
            </a:r>
            <a:endParaRPr lang="es-AR" sz="1600" noProof="0">
              <a:cs typeface="Arial"/>
            </a:endParaRPr>
          </a:p>
          <a:p>
            <a:pPr marL="457200" indent="-457200">
              <a:buFont typeface="+mj-lt"/>
              <a:buAutoNum type="arabicPeriod"/>
            </a:pPr>
            <a:r>
              <a:rPr lang="es-AR" sz="1600" b="1" noProof="0">
                <a:sym typeface="Wingdings" panose="05000000000000000000" pitchFamily="2" charset="2"/>
              </a:rPr>
              <a:t>D8 / R8 en </a:t>
            </a:r>
            <a:r>
              <a:rPr lang="es-AR" sz="1600" b="1" noProof="0" err="1">
                <a:sym typeface="Wingdings" panose="05000000000000000000" pitchFamily="2" charset="2"/>
              </a:rPr>
              <a:t>releases</a:t>
            </a:r>
            <a:r>
              <a:rPr lang="es-AR" sz="1600" b="1" noProof="0">
                <a:sym typeface="Wingdings" panose="05000000000000000000" pitchFamily="2" charset="2"/>
              </a:rPr>
              <a:t> </a:t>
            </a:r>
            <a:r>
              <a:rPr lang="es-AR" sz="1600" b="1" noProof="0" err="1">
                <a:sym typeface="Wingdings" panose="05000000000000000000" pitchFamily="2" charset="2"/>
              </a:rPr>
              <a:t>builds</a:t>
            </a:r>
            <a:endParaRPr lang="es-AR" sz="1600" b="1" noProof="0">
              <a:sym typeface="Wingdings" panose="05000000000000000000" pitchFamily="2" charset="2"/>
            </a:endParaRPr>
          </a:p>
          <a:p>
            <a:pPr marL="859155" lvl="1" indent="-457200">
              <a:buFont typeface="+mj-lt"/>
              <a:buAutoNum type="arabicPeriod"/>
            </a:pPr>
            <a:r>
              <a:rPr lang="es-AR" sz="1600" noProof="0">
                <a:sym typeface="Wingdings" panose="05000000000000000000" pitchFamily="2" charset="2"/>
              </a:rPr>
              <a:t>Convierte esos .</a:t>
            </a:r>
            <a:r>
              <a:rPr lang="es-AR" sz="1600" noProof="0" err="1">
                <a:sym typeface="Wingdings" panose="05000000000000000000" pitchFamily="2" charset="2"/>
              </a:rPr>
              <a:t>class</a:t>
            </a:r>
            <a:r>
              <a:rPr lang="es-AR" sz="1600" noProof="0">
                <a:sym typeface="Wingdings" panose="05000000000000000000" pitchFamily="2" charset="2"/>
              </a:rPr>
              <a:t> en DEX</a:t>
            </a:r>
            <a:endParaRPr lang="es-AR" sz="1600" noProof="0">
              <a:cs typeface="Arial"/>
            </a:endParaRPr>
          </a:p>
          <a:p>
            <a:pPr marL="859155" lvl="1" indent="-457200">
              <a:buFont typeface="+mj-lt"/>
              <a:buAutoNum type="arabicPeriod"/>
            </a:pPr>
            <a:r>
              <a:rPr lang="es-AR" sz="1600" noProof="0">
                <a:sym typeface="Wingdings" panose="05000000000000000000" pitchFamily="2" charset="2"/>
              </a:rPr>
              <a:t>R8 = D8 + </a:t>
            </a:r>
            <a:r>
              <a:rPr lang="es-AR" sz="1600" err="1">
                <a:sym typeface="Wingdings" panose="05000000000000000000" pitchFamily="2" charset="2"/>
              </a:rPr>
              <a:t>shrinker</a:t>
            </a:r>
            <a:r>
              <a:rPr lang="es-AR" sz="1600">
                <a:sym typeface="Wingdings" panose="05000000000000000000" pitchFamily="2" charset="2"/>
              </a:rPr>
              <a:t> (reduce lo no referenciado)</a:t>
            </a:r>
            <a:r>
              <a:rPr lang="es-AR" sz="1600" noProof="0">
                <a:sym typeface="Wingdings" panose="05000000000000000000" pitchFamily="2" charset="2"/>
              </a:rPr>
              <a:t>+ </a:t>
            </a:r>
            <a:r>
              <a:rPr lang="es-AR" sz="1600" noProof="0" err="1">
                <a:sym typeface="Wingdings" panose="05000000000000000000" pitchFamily="2" charset="2"/>
              </a:rPr>
              <a:t>obfuscador</a:t>
            </a:r>
            <a:r>
              <a:rPr lang="es-AR" sz="1600" noProof="0">
                <a:sym typeface="Wingdings" panose="05000000000000000000" pitchFamily="2" charset="2"/>
              </a:rPr>
              <a:t> + </a:t>
            </a:r>
            <a:r>
              <a:rPr lang="es-AR" sz="1600" noProof="0" err="1">
                <a:sym typeface="Wingdings" panose="05000000000000000000" pitchFamily="2" charset="2"/>
              </a:rPr>
              <a:t>minificador</a:t>
            </a:r>
            <a:r>
              <a:rPr lang="es-AR" sz="1600" noProof="0">
                <a:sym typeface="Wingdings" panose="05000000000000000000" pitchFamily="2" charset="2"/>
              </a:rPr>
              <a:t> para </a:t>
            </a:r>
            <a:r>
              <a:rPr lang="es-AR" sz="1600" noProof="0" err="1">
                <a:sym typeface="Wingdings" panose="05000000000000000000" pitchFamily="2" charset="2"/>
              </a:rPr>
              <a:t>prod</a:t>
            </a:r>
            <a:r>
              <a:rPr lang="es-AR" sz="1600" noProof="0">
                <a:sym typeface="Wingdings" panose="05000000000000000000" pitchFamily="2" charset="2"/>
              </a:rPr>
              <a:t>.</a:t>
            </a:r>
            <a:endParaRPr lang="es-AR" sz="1600" noProof="0">
              <a:cs typeface="Arial"/>
            </a:endParaRPr>
          </a:p>
          <a:p>
            <a:pPr marL="457200" indent="-457200">
              <a:buFont typeface="+mj-lt"/>
              <a:buAutoNum type="arabicPeriod"/>
            </a:pPr>
            <a:r>
              <a:rPr lang="es-AR" sz="1600" b="1" noProof="0">
                <a:sym typeface="Wingdings" panose="05000000000000000000" pitchFamily="2" charset="2"/>
              </a:rPr>
              <a:t>APK / </a:t>
            </a:r>
            <a:r>
              <a:rPr lang="es-AR" sz="1600" b="1">
                <a:sym typeface="Wingdings" panose="05000000000000000000" pitchFamily="2" charset="2"/>
              </a:rPr>
              <a:t>AAB</a:t>
            </a:r>
            <a:endParaRPr lang="es-AR" sz="1600" b="1" noProof="0">
              <a:sym typeface="Wingdings" panose="05000000000000000000" pitchFamily="2" charset="2"/>
            </a:endParaRPr>
          </a:p>
          <a:p>
            <a:pPr marL="859155" lvl="1" indent="-457200">
              <a:buFont typeface="+mj-lt"/>
              <a:buAutoNum type="arabicPeriod"/>
            </a:pPr>
            <a:r>
              <a:rPr lang="es-AR" sz="1600" noProof="0">
                <a:sym typeface="Wingdings" panose="05000000000000000000" pitchFamily="2" charset="2"/>
              </a:rPr>
              <a:t>El DEX se empaqueta adentro del .</a:t>
            </a:r>
            <a:r>
              <a:rPr lang="es-AR" sz="1600" noProof="0" err="1">
                <a:sym typeface="Wingdings" panose="05000000000000000000" pitchFamily="2" charset="2"/>
              </a:rPr>
              <a:t>apk</a:t>
            </a:r>
            <a:r>
              <a:rPr lang="es-AR" sz="1600" noProof="0">
                <a:sym typeface="Wingdings" panose="05000000000000000000" pitchFamily="2" charset="2"/>
              </a:rPr>
              <a:t> / .</a:t>
            </a:r>
            <a:r>
              <a:rPr lang="es-AR" sz="1600" noProof="0" err="1">
                <a:sym typeface="Wingdings" panose="05000000000000000000" pitchFamily="2" charset="2"/>
              </a:rPr>
              <a:t>aab</a:t>
            </a:r>
            <a:endParaRPr lang="es-AR" sz="1600" noProof="0">
              <a:cs typeface="Arial"/>
            </a:endParaRPr>
          </a:p>
          <a:p>
            <a:pPr marL="457200" indent="-457200">
              <a:buFont typeface="+mj-lt"/>
              <a:buAutoNum type="arabicPeriod"/>
            </a:pPr>
            <a:r>
              <a:rPr lang="es-AR" sz="1600" b="1" noProof="0">
                <a:sym typeface="Wingdings" panose="05000000000000000000" pitchFamily="2" charset="2"/>
              </a:rPr>
              <a:t>Instalación en dispositivo:</a:t>
            </a:r>
          </a:p>
          <a:p>
            <a:pPr marL="859155" lvl="1" indent="-457200">
              <a:buFont typeface="+mj-lt"/>
              <a:buAutoNum type="arabicPeriod"/>
            </a:pPr>
            <a:r>
              <a:rPr lang="es-AR" sz="1600" noProof="0">
                <a:sym typeface="Wingdings" panose="05000000000000000000" pitchFamily="2" charset="2"/>
              </a:rPr>
              <a:t>En Android 5-6  AOT Completo</a:t>
            </a:r>
            <a:endParaRPr lang="es-AR" sz="1600" noProof="0">
              <a:cs typeface="Arial"/>
            </a:endParaRPr>
          </a:p>
          <a:p>
            <a:pPr marL="859155" lvl="1" indent="-457200">
              <a:buFont typeface="+mj-lt"/>
              <a:buAutoNum type="arabicPeriod"/>
            </a:pPr>
            <a:r>
              <a:rPr lang="es-AR" sz="1600" noProof="0">
                <a:sym typeface="Wingdings" panose="05000000000000000000" pitchFamily="2" charset="2"/>
              </a:rPr>
              <a:t>Android 7+: hace JIT inicial y luego AOT selective con perfiles (local o </a:t>
            </a:r>
            <a:r>
              <a:rPr lang="es-AR" sz="1600" noProof="0" err="1">
                <a:sym typeface="Wingdings" panose="05000000000000000000" pitchFamily="2" charset="2"/>
              </a:rPr>
              <a:t>cloud</a:t>
            </a:r>
            <a:r>
              <a:rPr lang="es-AR" sz="1600" noProof="0">
                <a:sym typeface="Wingdings" panose="05000000000000000000" pitchFamily="2" charset="2"/>
              </a:rPr>
              <a:t>)</a:t>
            </a:r>
            <a:endParaRPr lang="es-AR" sz="1600" noProof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32789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55A1C-6F50-4AE5-F280-7B9AAAF09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835F64C-3EA7-79AA-7696-49FBFABA9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Particularidades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2AB4528-9FCC-DF6C-925F-DD4BC6905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668DFAE-851C-0C83-770A-A67AAD054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0157FD8-CA21-C985-8D3A-8BC8E130D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64AB540-C102-064C-FAA0-2F39FE905E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F362A4-C01C-29C7-8E35-8607B10F3F0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23034" y="2245257"/>
            <a:ext cx="8139216" cy="39895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AR" sz="1600" noProof="0" err="1">
                <a:sym typeface="Wingdings" panose="05000000000000000000" pitchFamily="2" charset="2"/>
              </a:rPr>
              <a:t>Dalvik</a:t>
            </a:r>
            <a:r>
              <a:rPr lang="es-AR" sz="1600" noProof="0">
                <a:sym typeface="Wingdings" panose="05000000000000000000" pitchFamily="2" charset="2"/>
              </a:rPr>
              <a:t> / ART no pueden comprender .</a:t>
            </a:r>
            <a:r>
              <a:rPr lang="es-AR" sz="1600" noProof="0" err="1">
                <a:sym typeface="Wingdings" panose="05000000000000000000" pitchFamily="2" charset="2"/>
              </a:rPr>
              <a:t>class</a:t>
            </a:r>
            <a:r>
              <a:rPr lang="es-AR" sz="1600" noProof="0">
                <a:sym typeface="Wingdings" panose="05000000000000000000" pitchFamily="2" charset="2"/>
              </a:rPr>
              <a:t>, solo DEX</a:t>
            </a:r>
          </a:p>
          <a:p>
            <a:pPr marL="0" indent="0">
              <a:buNone/>
            </a:pPr>
            <a:r>
              <a:rPr lang="es-AR" sz="1600" b="1" noProof="0">
                <a:sym typeface="Wingdings" panose="05000000000000000000" pitchFamily="2" charset="2"/>
              </a:rPr>
              <a:t>D8</a:t>
            </a:r>
            <a:r>
              <a:rPr lang="es-AR" sz="1600" noProof="0">
                <a:sym typeface="Wingdings" panose="05000000000000000000" pitchFamily="2" charset="2"/>
              </a:rPr>
              <a:t> es el Puente necesario entre .</a:t>
            </a:r>
            <a:r>
              <a:rPr lang="es-AR" sz="1600" noProof="0" err="1">
                <a:sym typeface="Wingdings" panose="05000000000000000000" pitchFamily="2" charset="2"/>
              </a:rPr>
              <a:t>class</a:t>
            </a:r>
            <a:r>
              <a:rPr lang="es-AR" sz="1600" noProof="0">
                <a:sym typeface="Wingdings" panose="05000000000000000000" pitchFamily="2" charset="2"/>
              </a:rPr>
              <a:t> a .</a:t>
            </a:r>
            <a:r>
              <a:rPr lang="es-AR" sz="1600" noProof="0" err="1">
                <a:sym typeface="Wingdings" panose="05000000000000000000" pitchFamily="2" charset="2"/>
              </a:rPr>
              <a:t>dex</a:t>
            </a:r>
            <a:endParaRPr lang="es-AR" sz="1600" noProof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s-AR" sz="1600" noProof="0">
                <a:sym typeface="Wingdings" panose="05000000000000000000" pitchFamily="2" charset="2"/>
              </a:rPr>
              <a:t>Sin D8/R8, no habría forma de correr el Código.</a:t>
            </a:r>
          </a:p>
          <a:p>
            <a:pPr marL="457200" indent="-457200">
              <a:buFont typeface="+mj-lt"/>
              <a:buAutoNum type="arabicPeriod"/>
            </a:pPr>
            <a:r>
              <a:rPr lang="es-AR" sz="1600" b="1" noProof="0">
                <a:sym typeface="Wingdings" panose="05000000000000000000" pitchFamily="2" charset="2"/>
              </a:rPr>
              <a:t>D8</a:t>
            </a:r>
            <a:r>
              <a:rPr lang="es-AR" sz="1600" noProof="0">
                <a:sym typeface="Wingdings" panose="05000000000000000000" pitchFamily="2" charset="2"/>
              </a:rPr>
              <a:t>: compilador moderno que transforma .</a:t>
            </a:r>
            <a:r>
              <a:rPr lang="es-AR" sz="1600" noProof="0" err="1">
                <a:sym typeface="Wingdings" panose="05000000000000000000" pitchFamily="2" charset="2"/>
              </a:rPr>
              <a:t>class</a:t>
            </a:r>
            <a:r>
              <a:rPr lang="es-AR" sz="1600" noProof="0">
                <a:sym typeface="Wingdings" panose="05000000000000000000" pitchFamily="2" charset="2"/>
              </a:rPr>
              <a:t> (JVM </a:t>
            </a:r>
            <a:r>
              <a:rPr lang="es-AR" sz="1600" noProof="0" err="1">
                <a:sym typeface="Wingdings" panose="05000000000000000000" pitchFamily="2" charset="2"/>
              </a:rPr>
              <a:t>bytecode</a:t>
            </a:r>
            <a:r>
              <a:rPr lang="es-AR" sz="1600" noProof="0">
                <a:sym typeface="Wingdings" panose="05000000000000000000" pitchFamily="2" charset="2"/>
              </a:rPr>
              <a:t>) en .</a:t>
            </a:r>
            <a:r>
              <a:rPr lang="es-AR" sz="1600" noProof="0" err="1">
                <a:sym typeface="Wingdings" panose="05000000000000000000" pitchFamily="2" charset="2"/>
              </a:rPr>
              <a:t>dex</a:t>
            </a:r>
            <a:r>
              <a:rPr lang="es-AR" sz="1600" noProof="0">
                <a:sym typeface="Wingdings" panose="05000000000000000000" pitchFamily="2" charset="2"/>
              </a:rPr>
              <a:t> (</a:t>
            </a:r>
            <a:r>
              <a:rPr lang="es-AR" sz="1600" noProof="0" err="1">
                <a:sym typeface="Wingdings" panose="05000000000000000000" pitchFamily="2" charset="2"/>
              </a:rPr>
              <a:t>Dalvik</a:t>
            </a:r>
            <a:r>
              <a:rPr lang="es-AR" sz="1600" noProof="0">
                <a:sym typeface="Wingdings" panose="05000000000000000000" pitchFamily="2" charset="2"/>
              </a:rPr>
              <a:t>/ART </a:t>
            </a:r>
            <a:r>
              <a:rPr lang="es-AR" sz="1600" noProof="0" err="1">
                <a:sym typeface="Wingdings" panose="05000000000000000000" pitchFamily="2" charset="2"/>
              </a:rPr>
              <a:t>bytecode</a:t>
            </a:r>
            <a:r>
              <a:rPr lang="es-AR" sz="1600" noProof="0">
                <a:sym typeface="Wingdings" panose="05000000000000000000" pitchFamily="2" charset="2"/>
              </a:rPr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es-AR" sz="1600" noProof="0">
                <a:sym typeface="Wingdings" panose="05000000000000000000" pitchFamily="2" charset="2"/>
              </a:rPr>
              <a:t>Es parte del </a:t>
            </a:r>
            <a:r>
              <a:rPr lang="es-AR" sz="1600" noProof="0" err="1">
                <a:sym typeface="Wingdings" panose="05000000000000000000" pitchFamily="2" charset="2"/>
              </a:rPr>
              <a:t>toolchain</a:t>
            </a:r>
            <a:r>
              <a:rPr lang="es-AR" sz="1600" noProof="0">
                <a:sym typeface="Wingdings" panose="05000000000000000000" pitchFamily="2" charset="2"/>
              </a:rPr>
              <a:t> de </a:t>
            </a:r>
            <a:r>
              <a:rPr lang="es-AR" sz="1600" noProof="0" err="1">
                <a:sym typeface="Wingdings" panose="05000000000000000000" pitchFamily="2" charset="2"/>
              </a:rPr>
              <a:t>build</a:t>
            </a:r>
            <a:r>
              <a:rPr lang="es-AR" sz="1600" noProof="0">
                <a:sym typeface="Wingdings" panose="05000000000000000000" pitchFamily="2" charset="2"/>
              </a:rPr>
              <a:t>, no del </a:t>
            </a:r>
            <a:r>
              <a:rPr lang="es-AR" sz="1600" noProof="0" err="1">
                <a:sym typeface="Wingdings" panose="05000000000000000000" pitchFamily="2" charset="2"/>
              </a:rPr>
              <a:t>runtime</a:t>
            </a:r>
            <a:r>
              <a:rPr lang="es-AR" sz="1600" noProof="0">
                <a:sym typeface="Wingdings" panose="05000000000000000000" pitchFamily="2" charset="2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s-AR" sz="1600" noProof="0">
                <a:sym typeface="Wingdings" panose="05000000000000000000" pitchFamily="2" charset="2"/>
              </a:rPr>
              <a:t>Permite que el código Java/</a:t>
            </a:r>
            <a:r>
              <a:rPr lang="es-AR" sz="1600" noProof="0" err="1">
                <a:sym typeface="Wingdings" panose="05000000000000000000" pitchFamily="2" charset="2"/>
              </a:rPr>
              <a:t>Kotlin</a:t>
            </a:r>
            <a:r>
              <a:rPr lang="es-AR" sz="1600" noProof="0">
                <a:sym typeface="Wingdings" panose="05000000000000000000" pitchFamily="2" charset="2"/>
              </a:rPr>
              <a:t> pueda ejecutarse en </a:t>
            </a:r>
            <a:r>
              <a:rPr lang="es-AR" sz="1600" noProof="0" err="1">
                <a:sym typeface="Wingdings" panose="05000000000000000000" pitchFamily="2" charset="2"/>
              </a:rPr>
              <a:t>Dalvik</a:t>
            </a:r>
            <a:r>
              <a:rPr lang="es-AR" sz="1600" noProof="0">
                <a:sym typeface="Wingdings" panose="05000000000000000000" pitchFamily="2" charset="2"/>
              </a:rPr>
              <a:t> (histórico) o ART (actual).</a:t>
            </a:r>
          </a:p>
          <a:p>
            <a:pPr marL="457200" indent="-457200">
              <a:buFont typeface="+mj-lt"/>
              <a:buAutoNum type="arabicPeriod"/>
            </a:pPr>
            <a:r>
              <a:rPr lang="es-AR" sz="1600" b="1" noProof="0">
                <a:sym typeface="Wingdings" panose="05000000000000000000" pitchFamily="2" charset="2"/>
              </a:rPr>
              <a:t>R8</a:t>
            </a:r>
            <a:r>
              <a:rPr lang="es-AR" sz="1600" noProof="0">
                <a:sym typeface="Wingdings" panose="05000000000000000000" pitchFamily="2" charset="2"/>
              </a:rPr>
              <a:t> es su versión optimizada para producción (incluye </a:t>
            </a:r>
            <a:r>
              <a:rPr lang="es-AR" sz="1600" noProof="0" err="1">
                <a:sym typeface="Wingdings" panose="05000000000000000000" pitchFamily="2" charset="2"/>
              </a:rPr>
              <a:t>minificación</a:t>
            </a:r>
            <a:r>
              <a:rPr lang="es-AR" sz="1600" noProof="0">
                <a:sym typeface="Wingdings" panose="05000000000000000000" pitchFamily="2" charset="2"/>
              </a:rPr>
              <a:t> y </a:t>
            </a:r>
            <a:r>
              <a:rPr lang="es-AR" sz="1600" noProof="0" err="1">
                <a:sym typeface="Wingdings" panose="05000000000000000000" pitchFamily="2" charset="2"/>
              </a:rPr>
              <a:t>obfuscación</a:t>
            </a:r>
            <a:r>
              <a:rPr lang="es-AR" sz="1600" noProof="0">
                <a:sym typeface="Wingdings" panose="05000000000000000000" pitchFamily="2" charset="2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2523141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7B9AA-ED45-20B1-432B-7F90AAE85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A647B8-D319-5E88-FA98-DCDBF1FEB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Particularidades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186D8BA-9B17-8851-9B4B-89144945E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1B6A74D-CCC9-F0DE-BC2D-A92F80559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55E119D-AF93-1933-F679-74FCD788C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F13723-886B-CCA0-0D98-01C0DEA89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pic>
        <p:nvPicPr>
          <p:cNvPr id="27650" name="Picture 2">
            <a:extLst>
              <a:ext uri="{FF2B5EF4-FFF2-40B4-BE49-F238E27FC236}">
                <a16:creationId xmlns:a16="http://schemas.microsoft.com/office/drawing/2014/main" id="{A1A39977-D7C2-6584-69CE-D726B5326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381" y="2853437"/>
            <a:ext cx="8688309" cy="2273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2426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11AE0-7259-A5F7-7A6F-CE390FB3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039A1-C39C-3A97-7809-759944E79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.JAR vs . APK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1D7D01E-CFD0-60F8-95F0-CA99E1DC2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AA5D442-0E7B-28C2-201B-8E6FA171BA8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97E9C6B3-3EDD-33D6-8FF6-5523DF6E1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DF1FC6BE-2BCA-25A2-09D7-2019892EB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pic>
        <p:nvPicPr>
          <p:cNvPr id="28674" name="Picture 2">
            <a:extLst>
              <a:ext uri="{FF2B5EF4-FFF2-40B4-BE49-F238E27FC236}">
                <a16:creationId xmlns:a16="http://schemas.microsoft.com/office/drawing/2014/main" id="{55EFAAC8-FFC1-A616-6D91-FD895F26F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99" y="1946495"/>
            <a:ext cx="5178078" cy="4406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30333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C10BD-B37C-09E3-3D74-E466766AA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D20C72-D472-2CB2-5AA7-7E8373956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OAT </a:t>
            </a:r>
            <a:r>
              <a:rPr lang="es-AR" noProof="0">
                <a:sym typeface="Wingdings" panose="05000000000000000000" pitchFamily="2" charset="2"/>
              </a:rPr>
              <a:t> </a:t>
            </a:r>
            <a:r>
              <a:rPr lang="es-AR" noProof="0" err="1">
                <a:sym typeface="Wingdings" panose="05000000000000000000" pitchFamily="2" charset="2"/>
              </a:rPr>
              <a:t>Optimized</a:t>
            </a:r>
            <a:r>
              <a:rPr lang="es-AR" noProof="0">
                <a:sym typeface="Wingdings" panose="05000000000000000000" pitchFamily="2" charset="2"/>
              </a:rPr>
              <a:t> ART File</a:t>
            </a:r>
            <a:endParaRPr lang="es-AR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71B9954-3F34-F671-20A0-B415E7B9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64B450A6-BD14-A9D6-1568-F22075CBF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16F5AAE-961A-6681-0A74-043CCED51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7D65C2A-394B-C3D1-D225-8F5785A0A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1B580-A484-B846-6E91-486FA004A33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59226" y="2055137"/>
            <a:ext cx="8403024" cy="43275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AR" sz="1600" noProof="0">
                <a:sym typeface="Wingdings" panose="05000000000000000000" pitchFamily="2" charset="2"/>
              </a:rPr>
              <a:t>Es un archivo binario optimizado </a:t>
            </a:r>
            <a:r>
              <a:rPr lang="es-AR" sz="1600" noProof="0" err="1">
                <a:sym typeface="Wingdings" panose="05000000000000000000" pitchFamily="2" charset="2"/>
              </a:rPr>
              <a:t>qe</a:t>
            </a:r>
            <a:r>
              <a:rPr lang="es-AR" sz="1600" noProof="0">
                <a:sym typeface="Wingdings" panose="05000000000000000000" pitchFamily="2" charset="2"/>
              </a:rPr>
              <a:t> crea la el ART a partir de los .</a:t>
            </a:r>
            <a:r>
              <a:rPr lang="es-AR" sz="1600" noProof="0" err="1">
                <a:sym typeface="Wingdings" panose="05000000000000000000" pitchFamily="2" charset="2"/>
              </a:rPr>
              <a:t>dex</a:t>
            </a:r>
            <a:r>
              <a:rPr lang="es-AR" sz="1600" noProof="0">
                <a:sym typeface="Wingdings" panose="05000000000000000000" pitchFamily="2" charset="2"/>
              </a:rPr>
              <a:t> que vienen dentro del APK.</a:t>
            </a:r>
          </a:p>
          <a:p>
            <a:pPr marL="0" indent="0">
              <a:buNone/>
            </a:pPr>
            <a:r>
              <a:rPr lang="es-AR" sz="1600">
                <a:sym typeface="Wingdings" panose="05000000000000000000" pitchFamily="2" charset="2"/>
              </a:rPr>
              <a:t>El DEX es </a:t>
            </a:r>
            <a:r>
              <a:rPr lang="es-AR" sz="1600" err="1">
                <a:sym typeface="Wingdings" panose="05000000000000000000" pitchFamily="2" charset="2"/>
              </a:rPr>
              <a:t>bytecode</a:t>
            </a:r>
            <a:r>
              <a:rPr lang="es-AR" sz="1600">
                <a:sym typeface="Wingdings" panose="05000000000000000000" pitchFamily="2" charset="2"/>
              </a:rPr>
              <a:t> genérico – independiente de la CPU – el OAT es código máquina nativo específico para el procesador (ARM, ARM64, x86, </a:t>
            </a:r>
            <a:r>
              <a:rPr lang="es-AR" sz="1600" err="1">
                <a:sym typeface="Wingdings" panose="05000000000000000000" pitchFamily="2" charset="2"/>
              </a:rPr>
              <a:t>ect</a:t>
            </a:r>
            <a:r>
              <a:rPr lang="es-AR" sz="1600">
                <a:sym typeface="Wingdings" panose="05000000000000000000" pitchFamily="2" charset="2"/>
              </a:rPr>
              <a:t>).</a:t>
            </a:r>
          </a:p>
          <a:p>
            <a:pPr marL="0" indent="0">
              <a:buNone/>
            </a:pPr>
            <a:r>
              <a:rPr lang="es-AR" sz="1600" noProof="0">
                <a:sym typeface="Wingdings" panose="05000000000000000000" pitchFamily="2" charset="2"/>
              </a:rPr>
              <a:t>En Android 5 y 6, se usaba </a:t>
            </a:r>
            <a:r>
              <a:rPr lang="es-AR" sz="1600" b="1" noProof="0">
                <a:sym typeface="Wingdings" panose="05000000000000000000" pitchFamily="2" charset="2"/>
              </a:rPr>
              <a:t>dex2oat</a:t>
            </a:r>
            <a:r>
              <a:rPr lang="es-AR" sz="1600" noProof="0">
                <a:sym typeface="Wingdings" panose="05000000000000000000" pitchFamily="2" charset="2"/>
              </a:rPr>
              <a:t> en la instalación completa.</a:t>
            </a:r>
          </a:p>
          <a:p>
            <a:pPr marL="0" indent="0">
              <a:buNone/>
            </a:pPr>
            <a:r>
              <a:rPr lang="es-AR" sz="1600">
                <a:sym typeface="Wingdings" panose="05000000000000000000" pitchFamily="2" charset="2"/>
              </a:rPr>
              <a:t>En Android 7.0 + no se compila todo, hoy se genera un </a:t>
            </a:r>
            <a:r>
              <a:rPr lang="es-AR" sz="1600" err="1">
                <a:sym typeface="Wingdings" panose="05000000000000000000" pitchFamily="2" charset="2"/>
              </a:rPr>
              <a:t>quick</a:t>
            </a:r>
            <a:r>
              <a:rPr lang="es-AR" sz="1600">
                <a:sym typeface="Wingdings" panose="05000000000000000000" pitchFamily="2" charset="2"/>
              </a:rPr>
              <a:t> OAT</a:t>
            </a:r>
          </a:p>
          <a:p>
            <a:r>
              <a:rPr lang="es-AR" sz="1600">
                <a:sym typeface="Wingdings" panose="05000000000000000000" pitchFamily="2" charset="2"/>
              </a:rPr>
              <a:t>ART usa JIT en la primera ejecución la app abre rápido y se generan los perfiles (</a:t>
            </a:r>
            <a:r>
              <a:rPr lang="es-AR" sz="1600" err="1">
                <a:sym typeface="Wingdings" panose="05000000000000000000" pitchFamily="2" charset="2"/>
              </a:rPr>
              <a:t>hot</a:t>
            </a:r>
            <a:r>
              <a:rPr lang="es-AR" sz="1600">
                <a:sym typeface="Wingdings" panose="05000000000000000000" pitchFamily="2" charset="2"/>
              </a:rPr>
              <a:t> </a:t>
            </a:r>
            <a:r>
              <a:rPr lang="es-AR" sz="1600" err="1">
                <a:sym typeface="Wingdings" panose="05000000000000000000" pitchFamily="2" charset="2"/>
              </a:rPr>
              <a:t>methods</a:t>
            </a:r>
            <a:r>
              <a:rPr lang="es-AR" sz="1600">
                <a:sym typeface="Wingdings" panose="05000000000000000000" pitchFamily="2" charset="2"/>
              </a:rPr>
              <a:t>)</a:t>
            </a:r>
          </a:p>
          <a:p>
            <a:r>
              <a:rPr lang="es-AR" sz="1600" noProof="0">
                <a:sym typeface="Wingdings" panose="05000000000000000000" pitchFamily="2" charset="2"/>
              </a:rPr>
              <a:t>No se compila todo</a:t>
            </a:r>
          </a:p>
          <a:p>
            <a:r>
              <a:rPr lang="es-AR" sz="1600">
                <a:sym typeface="Wingdings" panose="05000000000000000000" pitchFamily="2" charset="2"/>
              </a:rPr>
              <a:t>Al usar la app, el JIT detecta los </a:t>
            </a:r>
            <a:r>
              <a:rPr lang="es-AR" sz="1600" i="1" err="1">
                <a:sym typeface="Wingdings" panose="05000000000000000000" pitchFamily="2" charset="2"/>
              </a:rPr>
              <a:t>hot</a:t>
            </a:r>
            <a:r>
              <a:rPr lang="es-AR" sz="1600" i="1">
                <a:sym typeface="Wingdings" panose="05000000000000000000" pitchFamily="2" charset="2"/>
              </a:rPr>
              <a:t> </a:t>
            </a:r>
            <a:r>
              <a:rPr lang="es-AR" sz="1600" i="1" err="1">
                <a:sym typeface="Wingdings" panose="05000000000000000000" pitchFamily="2" charset="2"/>
              </a:rPr>
              <a:t>methods</a:t>
            </a:r>
            <a:r>
              <a:rPr lang="es-AR" sz="1600" i="1">
                <a:sym typeface="Wingdings" panose="05000000000000000000" pitchFamily="2" charset="2"/>
              </a:rPr>
              <a:t> </a:t>
            </a:r>
            <a:r>
              <a:rPr lang="es-AR" sz="1600">
                <a:sym typeface="Wingdings" panose="05000000000000000000" pitchFamily="2" charset="2"/>
              </a:rPr>
              <a:t>y guarda eso en el archivo de perfil.</a:t>
            </a:r>
            <a:endParaRPr lang="es-AR" sz="1600" noProof="0">
              <a:sym typeface="Wingdings" panose="05000000000000000000" pitchFamily="2" charset="2"/>
            </a:endParaRPr>
          </a:p>
          <a:p>
            <a:r>
              <a:rPr lang="es-AR" sz="1600">
                <a:sym typeface="Wingdings" panose="05000000000000000000" pitchFamily="2" charset="2"/>
              </a:rPr>
              <a:t>Cuando el teléfono esta cargando e inactivo, ART ejecuta dex2oat en segundo plano y crea el OAT solo para métodos críticos.</a:t>
            </a:r>
            <a:r>
              <a:rPr lang="es-AR" sz="1600" noProof="0">
                <a:sym typeface="Wingdings" panose="05000000000000000000" pitchFamily="2" charset="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387061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03D27-68D0-E400-FE65-64830E540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F5C0F0-21B9-1371-B975-7146840E1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 err="1"/>
              <a:t>Dalvik</a:t>
            </a:r>
            <a:endParaRPr lang="es-AR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16BBF5D-3EDC-1DCA-FA4C-ACDB6887E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17ADE12-B4BE-9DCF-FC3B-5DD135A45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9136BAFE-5930-5226-AD66-0446506D7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D2081E0-6D7E-DC9F-1AEF-6777A85F22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AB096FC1-FFC8-8D37-17CB-5236242C605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12274" y="2326505"/>
            <a:ext cx="8508874" cy="370046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AR" sz="2800" noProof="0"/>
              <a:t>Fue el origen hasta Android 4.4. Deprecad en 2014</a:t>
            </a:r>
          </a:p>
          <a:p>
            <a:pPr marL="0" indent="0">
              <a:buNone/>
            </a:pPr>
            <a:r>
              <a:rPr lang="es-AR" sz="2800" noProof="0"/>
              <a:t>JVM diseñada para entornos con recursos limitados</a:t>
            </a:r>
          </a:p>
          <a:p>
            <a:pPr marL="0" indent="0">
              <a:buNone/>
            </a:pPr>
            <a:r>
              <a:rPr lang="es-AR" sz="2800" noProof="0"/>
              <a:t>Trabaja con .</a:t>
            </a:r>
            <a:r>
              <a:rPr lang="es-AR" sz="2800" noProof="0" err="1"/>
              <a:t>dex</a:t>
            </a:r>
            <a:r>
              <a:rPr lang="es-AR" sz="2800" noProof="0"/>
              <a:t>, siendo más compactos que los .</a:t>
            </a:r>
            <a:r>
              <a:rPr lang="es-AR" sz="2800" noProof="0" err="1"/>
              <a:t>class</a:t>
            </a:r>
            <a:endParaRPr lang="es-AR" sz="2800" noProof="0"/>
          </a:p>
          <a:p>
            <a:pPr marL="0" indent="0">
              <a:buNone/>
            </a:pPr>
            <a:r>
              <a:rPr lang="es-AR" sz="2800" noProof="0"/>
              <a:t>Ejecución de tipo </a:t>
            </a:r>
            <a:r>
              <a:rPr lang="es-AR" sz="2800" b="1" noProof="0"/>
              <a:t>Just-in-Time: </a:t>
            </a:r>
            <a:r>
              <a:rPr lang="es-AR" sz="2800" noProof="0"/>
              <a:t>Se interpreta en tiempo real y las partes más usadas se compilan sobre la marcha.</a:t>
            </a:r>
          </a:p>
          <a:p>
            <a:pPr marL="0" indent="0">
              <a:buNone/>
            </a:pPr>
            <a:r>
              <a:rPr lang="es-AR" sz="2800" noProof="0"/>
              <a:t>Arranque rápido de Apps, pero la ejecución es más lenta.</a:t>
            </a:r>
          </a:p>
          <a:p>
            <a:pPr marL="0" indent="0">
              <a:buNone/>
            </a:pPr>
            <a:endParaRPr lang="es-AR" sz="2800" noProof="0"/>
          </a:p>
          <a:p>
            <a:pPr marL="0" indent="0">
              <a:buNone/>
            </a:pPr>
            <a:endParaRPr lang="es-AR" sz="2800" noProof="0"/>
          </a:p>
          <a:p>
            <a:pPr marL="0" indent="0">
              <a:buNone/>
            </a:pPr>
            <a:endParaRPr lang="es-AR" sz="2800" noProof="0"/>
          </a:p>
          <a:p>
            <a:endParaRPr lang="es-AR" sz="2800" noProof="0"/>
          </a:p>
        </p:txBody>
      </p:sp>
    </p:spTree>
    <p:extLst>
      <p:ext uri="{BB962C8B-B14F-4D97-AF65-F5344CB8AC3E}">
        <p14:creationId xmlns:p14="http://schemas.microsoft.com/office/powerpoint/2010/main" val="23523751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2CC46-92BA-EFF5-7D2A-BC6FE2D2A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6B0E6FA-74BA-AA56-2155-F5BE61A26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Un poco de historia: La “</a:t>
            </a:r>
            <a:r>
              <a:rPr lang="es-AR" i="1" noProof="0" err="1"/>
              <a:t>Dalvik</a:t>
            </a:r>
            <a:r>
              <a:rPr lang="es-AR" noProof="0"/>
              <a:t>”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19B61A9-2B85-9CCC-6AB6-D4BB97D33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DA2B69F-76D5-B617-1172-26ED2D0AA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1591F7D-01B3-7EC6-DE0D-0BAD7972245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E21A049-4213-BAB2-7C37-FAA5084CD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6FEB42D-0A02-8F71-84C6-1F30CD0A05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12274" y="2326505"/>
            <a:ext cx="8508874" cy="37004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AR" sz="2800" noProof="0"/>
              <a:t>Ventajas: Las apps se instalan rápido</a:t>
            </a:r>
          </a:p>
          <a:p>
            <a:pPr marL="0" indent="0">
              <a:buNone/>
            </a:pPr>
            <a:r>
              <a:rPr lang="es-AR" sz="2800"/>
              <a:t>Se usaba en Android 1.0 – 4.4</a:t>
            </a:r>
            <a:endParaRPr lang="es-AR" sz="2800" noProof="0"/>
          </a:p>
          <a:p>
            <a:pPr marL="0" indent="0">
              <a:buNone/>
            </a:pPr>
            <a:r>
              <a:rPr lang="es-AR" sz="2800" noProof="0"/>
              <a:t>Menos espacio en disco, al guardar solo los .</a:t>
            </a:r>
            <a:r>
              <a:rPr lang="es-AR" sz="2800" noProof="0" err="1"/>
              <a:t>dex</a:t>
            </a:r>
            <a:endParaRPr lang="es-AR" sz="2800" noProof="0"/>
          </a:p>
          <a:p>
            <a:pPr marL="0" indent="0">
              <a:buNone/>
            </a:pPr>
            <a:r>
              <a:rPr lang="es-AR" sz="2800" noProof="0"/>
              <a:t>Sin embargo, al ejecutarse siempre, hace más uso de </a:t>
            </a:r>
            <a:r>
              <a:rPr lang="es-AR" sz="2800" noProof="0" err="1"/>
              <a:t>CPU</a:t>
            </a:r>
            <a:r>
              <a:rPr lang="es-AR" sz="2800" noProof="0" err="1">
                <a:sym typeface="Wingdings" panose="05000000000000000000" pitchFamily="2" charset="2"/>
              </a:rPr>
              <a:t>mayor</a:t>
            </a:r>
            <a:r>
              <a:rPr lang="es-AR" sz="2800" noProof="0">
                <a:sym typeface="Wingdings" panose="05000000000000000000" pitchFamily="2" charset="2"/>
              </a:rPr>
              <a:t> consumo de batería.</a:t>
            </a:r>
          </a:p>
          <a:p>
            <a:pPr marL="0" indent="0">
              <a:buNone/>
            </a:pPr>
            <a:r>
              <a:rPr lang="es-AR" sz="2800" noProof="0">
                <a:sym typeface="Wingdings" panose="05000000000000000000" pitchFamily="2" charset="2"/>
              </a:rPr>
              <a:t>Limitaciones al crecer la app en complejidad</a:t>
            </a:r>
          </a:p>
          <a:p>
            <a:pPr marL="0" indent="0">
              <a:buNone/>
            </a:pPr>
            <a:r>
              <a:rPr lang="es-AR" sz="2800">
                <a:sym typeface="Wingdings" panose="05000000000000000000" pitchFamily="2" charset="2"/>
              </a:rPr>
              <a:t>Era buena con RAM/CPU más limitada.</a:t>
            </a:r>
            <a:endParaRPr lang="es-AR" sz="2800" noProof="0"/>
          </a:p>
          <a:p>
            <a:pPr marL="0" indent="0">
              <a:buNone/>
            </a:pPr>
            <a:endParaRPr lang="es-AR" sz="2800" noProof="0"/>
          </a:p>
          <a:p>
            <a:pPr marL="0" indent="0">
              <a:buNone/>
            </a:pPr>
            <a:endParaRPr lang="es-AR" sz="2800" noProof="0"/>
          </a:p>
          <a:p>
            <a:pPr marL="0" indent="0">
              <a:buNone/>
            </a:pPr>
            <a:endParaRPr lang="es-AR" sz="2800" noProof="0"/>
          </a:p>
          <a:p>
            <a:endParaRPr lang="es-AR" sz="2800" noProof="0"/>
          </a:p>
        </p:txBody>
      </p:sp>
    </p:spTree>
    <p:extLst>
      <p:ext uri="{BB962C8B-B14F-4D97-AF65-F5344CB8AC3E}">
        <p14:creationId xmlns:p14="http://schemas.microsoft.com/office/powerpoint/2010/main" val="20885020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4091C-EF30-EA6E-8077-421F5E6B5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3E1E36-3540-D075-FBA8-FDD46ACA2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ART: Android </a:t>
            </a:r>
            <a:r>
              <a:rPr lang="es-AR" noProof="0" err="1"/>
              <a:t>RunTime</a:t>
            </a:r>
            <a:endParaRPr lang="es-AR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7CDCADB-5A69-833E-1150-4977B170B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5D2F0A5D-3A48-51B2-9C37-151A4E33B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DA8DCBB-0F55-58C5-C815-1D71A7F90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BE4429B-CEEE-D042-5DA0-920CF53BE6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59707B2C-D5C4-AAC2-3A46-A4AAF54454A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12274" y="2326505"/>
            <a:ext cx="8508874" cy="37004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AR" sz="2800" noProof="0"/>
              <a:t>Reemplazo natural a la </a:t>
            </a:r>
            <a:r>
              <a:rPr lang="es-AR" sz="2800" noProof="0" err="1"/>
              <a:t>Dalvik</a:t>
            </a:r>
            <a:r>
              <a:rPr lang="es-AR" sz="2800" noProof="0"/>
              <a:t>.</a:t>
            </a:r>
          </a:p>
          <a:p>
            <a:pPr marL="0" indent="0">
              <a:buNone/>
            </a:pPr>
            <a:r>
              <a:rPr lang="es-AR" sz="2800" noProof="0"/>
              <a:t>Cambio en rendimiento y eficiente energética.</a:t>
            </a:r>
          </a:p>
          <a:p>
            <a:pPr marL="0" indent="0">
              <a:buNone/>
            </a:pPr>
            <a:r>
              <a:rPr lang="es-AR" sz="2800" noProof="0"/>
              <a:t>Sigue utilizando los .</a:t>
            </a:r>
            <a:r>
              <a:rPr lang="es-AR" sz="2800" noProof="0" err="1"/>
              <a:t>dex</a:t>
            </a:r>
            <a:r>
              <a:rPr lang="es-AR" sz="2800" noProof="0"/>
              <a:t>, pero ahora genera nativos intermedios </a:t>
            </a:r>
            <a:r>
              <a:rPr lang="es-AR" sz="2800" noProof="0">
                <a:sym typeface="Wingdings" panose="05000000000000000000" pitchFamily="2" charset="2"/>
              </a:rPr>
              <a:t> .</a:t>
            </a:r>
            <a:r>
              <a:rPr lang="es-AR" sz="2800" noProof="0" err="1">
                <a:sym typeface="Wingdings" panose="05000000000000000000" pitchFamily="2" charset="2"/>
              </a:rPr>
              <a:t>oat</a:t>
            </a:r>
            <a:r>
              <a:rPr lang="es-AR" sz="2800" noProof="0">
                <a:sym typeface="Wingdings" panose="05000000000000000000" pitchFamily="2" charset="2"/>
              </a:rPr>
              <a:t> </a:t>
            </a:r>
            <a:r>
              <a:rPr lang="es-AR" sz="2800">
                <a:sym typeface="Wingdings" panose="05000000000000000000" pitchFamily="2" charset="2"/>
              </a:rPr>
              <a:t>y .</a:t>
            </a:r>
            <a:r>
              <a:rPr lang="es-AR" sz="2800" err="1">
                <a:sym typeface="Wingdings" panose="05000000000000000000" pitchFamily="2" charset="2"/>
              </a:rPr>
              <a:t>vdex</a:t>
            </a:r>
            <a:endParaRPr lang="es-AR" sz="2800" noProof="0"/>
          </a:p>
          <a:p>
            <a:r>
              <a:rPr lang="es-AR" sz="2800" noProof="0"/>
              <a:t>Intérprete + JIT para calentar métodos usados. </a:t>
            </a:r>
          </a:p>
          <a:p>
            <a:r>
              <a:rPr lang="es-AR" sz="2800" noProof="0"/>
              <a:t>AOT con dex2oat en segundo plano, guiado por perfiles (PGO).</a:t>
            </a:r>
          </a:p>
        </p:txBody>
      </p:sp>
    </p:spTree>
    <p:extLst>
      <p:ext uri="{BB962C8B-B14F-4D97-AF65-F5344CB8AC3E}">
        <p14:creationId xmlns:p14="http://schemas.microsoft.com/office/powerpoint/2010/main" val="30977953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0351F-CCE4-130D-0E7C-052F538D8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6E8DA3-F399-E493-A372-43010E959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ART: Android </a:t>
            </a:r>
            <a:r>
              <a:rPr lang="es-AR" noProof="0" err="1"/>
              <a:t>RunTime</a:t>
            </a:r>
            <a:endParaRPr lang="es-AR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81C81E6-1214-204E-74EC-20DF623EC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0B15600-F1E7-E012-211E-625E4960C53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9ED158E-77E3-1CF2-7AD4-35A14CB5F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8C2D3D-ACCD-8325-CF31-0D9A2A465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F32B442-98B9-1868-4C43-CE7413E6430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12274" y="2326505"/>
            <a:ext cx="8508874" cy="3700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800" noProof="0"/>
              <a:t>Arranques más rápidos y rendimiento más estable que </a:t>
            </a:r>
            <a:r>
              <a:rPr lang="es-ES" sz="2800" noProof="0" err="1"/>
              <a:t>Dalvik</a:t>
            </a:r>
            <a:r>
              <a:rPr lang="es-ES" sz="2800" noProof="0"/>
              <a:t>.</a:t>
            </a:r>
          </a:p>
          <a:p>
            <a:pPr marL="0" indent="0">
              <a:buNone/>
            </a:pPr>
            <a:r>
              <a:rPr lang="es-ES" sz="2800" noProof="0"/>
              <a:t>Mejor eficiencia energética (menos compilación en vivo).</a:t>
            </a:r>
          </a:p>
          <a:p>
            <a:pPr marL="0" indent="0">
              <a:buNone/>
            </a:pPr>
            <a:r>
              <a:rPr lang="es-ES" sz="2800" noProof="0"/>
              <a:t>Optimiza lo que realmente </a:t>
            </a:r>
            <a:r>
              <a:rPr lang="es-ES" sz="2800" noProof="0" err="1"/>
              <a:t>usás</a:t>
            </a:r>
            <a:r>
              <a:rPr lang="es-ES" sz="2800" noProof="0"/>
              <a:t> (</a:t>
            </a:r>
            <a:r>
              <a:rPr lang="es-ES" sz="2800" noProof="0" err="1"/>
              <a:t>profile-guided</a:t>
            </a:r>
            <a:r>
              <a:rPr lang="es-ES" sz="2800" noProof="0"/>
              <a:t>).</a:t>
            </a:r>
            <a:endParaRPr lang="es-AR" sz="2800" noProof="0"/>
          </a:p>
        </p:txBody>
      </p:sp>
    </p:spTree>
    <p:extLst>
      <p:ext uri="{BB962C8B-B14F-4D97-AF65-F5344CB8AC3E}">
        <p14:creationId xmlns:p14="http://schemas.microsoft.com/office/powerpoint/2010/main" val="16206524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EA447-AA0D-CE7D-BD90-6F53081F3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B736AE-1FC2-41AF-ADCE-B3131A827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AOT – </a:t>
            </a:r>
            <a:r>
              <a:rPr lang="es-AR" noProof="0" err="1"/>
              <a:t>Ahead</a:t>
            </a:r>
            <a:r>
              <a:rPr lang="es-AR" noProof="0"/>
              <a:t> </a:t>
            </a:r>
            <a:r>
              <a:rPr lang="es-AR" noProof="0" err="1"/>
              <a:t>of</a:t>
            </a:r>
            <a:r>
              <a:rPr lang="es-AR" noProof="0"/>
              <a:t> Time + JIT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4D56A13-1558-845F-4417-D000CD9A2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57F27271-52B0-174A-5DDC-1852B52CE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57A3051-BC5E-7173-22DE-08BB2BBE8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7058489-E0B7-4C93-71B0-A9CE12A890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FC6C831F-4376-1CC4-69EA-05F2EA6171F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12274" y="2326505"/>
            <a:ext cx="8508874" cy="3700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800" noProof="0">
                <a:sym typeface="Wingdings" panose="05000000000000000000" pitchFamily="2" charset="2"/>
              </a:rPr>
              <a:t>Compilación progresiva cuando el dispositivo está en reposo (</a:t>
            </a:r>
            <a:r>
              <a:rPr lang="es-AR" sz="2800" noProof="0" err="1">
                <a:sym typeface="Wingdings" panose="05000000000000000000" pitchFamily="2" charset="2"/>
              </a:rPr>
              <a:t>profile-guided</a:t>
            </a:r>
            <a:r>
              <a:rPr lang="es-AR" sz="2800" noProof="0">
                <a:sym typeface="Wingdings" panose="05000000000000000000" pitchFamily="2" charset="2"/>
              </a:rPr>
              <a:t> </a:t>
            </a:r>
            <a:r>
              <a:rPr lang="es-AR" sz="2800" noProof="0" err="1">
                <a:sym typeface="Wingdings" panose="05000000000000000000" pitchFamily="2" charset="2"/>
              </a:rPr>
              <a:t>compilation</a:t>
            </a:r>
            <a:r>
              <a:rPr lang="es-AR" sz="2800" noProof="0">
                <a:sym typeface="Wingdings" panose="05000000000000000000" pitchFamily="2" charset="2"/>
              </a:rPr>
              <a:t>).</a:t>
            </a:r>
          </a:p>
          <a:p>
            <a:pPr marL="0" indent="0">
              <a:buNone/>
            </a:pPr>
            <a:r>
              <a:rPr lang="es-AR" sz="2800" noProof="0">
                <a:sym typeface="Wingdings" panose="05000000000000000000" pitchFamily="2" charset="2"/>
              </a:rPr>
              <a:t>Uso de JIT cuando se necesita flexibilidad en ejecución.</a:t>
            </a:r>
          </a:p>
          <a:p>
            <a:pPr marL="0" indent="0">
              <a:buNone/>
            </a:pPr>
            <a:endParaRPr lang="es-AR" sz="2800" noProof="0"/>
          </a:p>
          <a:p>
            <a:endParaRPr lang="es-AR" sz="2800" noProof="0"/>
          </a:p>
        </p:txBody>
      </p:sp>
    </p:spTree>
    <p:extLst>
      <p:ext uri="{BB962C8B-B14F-4D97-AF65-F5344CB8AC3E}">
        <p14:creationId xmlns:p14="http://schemas.microsoft.com/office/powerpoint/2010/main" val="25836430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DD5FE-E984-D979-AE71-96F9BAAEC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4BE0499-6D27-B645-F34C-FBCB2AEF1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AOT – </a:t>
            </a:r>
            <a:r>
              <a:rPr lang="es-AR" noProof="0" err="1"/>
              <a:t>Ahead</a:t>
            </a:r>
            <a:r>
              <a:rPr lang="es-AR" noProof="0"/>
              <a:t> </a:t>
            </a:r>
            <a:r>
              <a:rPr lang="es-AR" noProof="0" err="1"/>
              <a:t>of</a:t>
            </a:r>
            <a:r>
              <a:rPr lang="es-AR" noProof="0"/>
              <a:t> Time + JIT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47571ED-A6A3-2EA7-145B-4459DA1192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CD73C75-348E-2824-5F97-B8D94A161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6D10A81-46DE-9884-5CA4-EE47142A5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2DAFE40-653F-C14C-C787-686E578F31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82D2088-50A1-67C7-75E8-D076D066ED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12274" y="2326505"/>
            <a:ext cx="8508874" cy="3700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800" noProof="0"/>
              <a:t>Ejecución más rápida (el código ya está </a:t>
            </a:r>
            <a:r>
              <a:rPr lang="es-AR" sz="2800" noProof="0" err="1"/>
              <a:t>precompilado</a:t>
            </a:r>
            <a:r>
              <a:rPr lang="es-AR" sz="2800" noProof="0"/>
              <a:t> a nativo).</a:t>
            </a:r>
          </a:p>
          <a:p>
            <a:pPr marL="0" indent="0">
              <a:buNone/>
            </a:pPr>
            <a:r>
              <a:rPr lang="es-AR" sz="2800" noProof="0"/>
              <a:t>Menor consumo de batería y mejor performance en general.</a:t>
            </a:r>
          </a:p>
          <a:p>
            <a:pPr marL="0" indent="0">
              <a:buNone/>
            </a:pPr>
            <a:r>
              <a:rPr lang="es-AR" sz="2800" noProof="0"/>
              <a:t>Mejor soporte de </a:t>
            </a:r>
            <a:r>
              <a:rPr lang="es-AR" sz="2800" noProof="0" err="1"/>
              <a:t>debugging</a:t>
            </a:r>
            <a:r>
              <a:rPr lang="es-AR" sz="2800" noProof="0"/>
              <a:t> (ej. </a:t>
            </a:r>
            <a:r>
              <a:rPr lang="es-AR" sz="2800" noProof="0" err="1"/>
              <a:t>stack</a:t>
            </a:r>
            <a:r>
              <a:rPr lang="es-AR" sz="2800" noProof="0"/>
              <a:t> traces más claros, detección de errores precisa).</a:t>
            </a:r>
          </a:p>
          <a:p>
            <a:endParaRPr lang="es-AR" sz="2800" noProof="0"/>
          </a:p>
        </p:txBody>
      </p:sp>
    </p:spTree>
    <p:extLst>
      <p:ext uri="{BB962C8B-B14F-4D97-AF65-F5344CB8AC3E}">
        <p14:creationId xmlns:p14="http://schemas.microsoft.com/office/powerpoint/2010/main" val="27287541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565C4-BB67-2611-CF68-BA1FFA5A4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620A50-DCC9-10BB-2870-CD3D91BDF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Resumen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DF85353-8B75-4830-5FD1-871112415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6FD60576-371D-91E8-D696-CB5F4EFE9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A6B04B3-5A93-6E88-B987-014A4426E8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39C986C-11F8-315B-DC8F-6FFC3A8CD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C500AA8-416C-A8A1-0A94-00D416F0F9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12274" y="2326505"/>
            <a:ext cx="8508874" cy="3700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800" b="1" noProof="0" err="1"/>
              <a:t>Dalvik</a:t>
            </a:r>
            <a:r>
              <a:rPr lang="es-AR" sz="2800" b="1" noProof="0"/>
              <a:t>: </a:t>
            </a:r>
            <a:r>
              <a:rPr lang="es-AR" sz="2800" b="1"/>
              <a:t>Es historia. </a:t>
            </a:r>
            <a:r>
              <a:rPr lang="es-AR" sz="2800"/>
              <a:t>Era </a:t>
            </a:r>
            <a:r>
              <a:rPr lang="es-AR" sz="2800" noProof="0"/>
              <a:t>rápido al instalar, lento al ejecutar → basado en JIT.</a:t>
            </a:r>
          </a:p>
          <a:p>
            <a:pPr marL="0" indent="0">
              <a:buNone/>
            </a:pPr>
            <a:r>
              <a:rPr lang="es-AR" sz="2800" b="1" noProof="0"/>
              <a:t>ART: </a:t>
            </a:r>
            <a:r>
              <a:rPr lang="es-AR" sz="2800" noProof="0"/>
              <a:t>más lento al instalar en sus inicios, mucho más rápido al ejecutar → basado en AOT (y desde Android 7 en combinación con JIT).</a:t>
            </a:r>
          </a:p>
        </p:txBody>
      </p:sp>
    </p:spTree>
    <p:extLst>
      <p:ext uri="{BB962C8B-B14F-4D97-AF65-F5344CB8AC3E}">
        <p14:creationId xmlns:p14="http://schemas.microsoft.com/office/powerpoint/2010/main" val="36878658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A1A09-BF0B-F2DA-96F3-911E15FED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F1599A-64FC-D599-1B9C-43A780E67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JIT + AOT =  ART Android 7.0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E6B5AAA-B442-BDCF-8202-F0B0CC168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08216257-F9E8-B113-9FD6-49160DC3F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011FB2A-AF90-FF78-F6C4-F9AB0AD37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F011A4E-A5DB-E48B-AA9B-0BD2A1469F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7A7066-C4F7-73B8-56CA-7E9E6A7A909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s-AR" noProof="0"/>
              <a:t>Desde Android 7.0 ART incluye un compilador JIT con perfilado de </a:t>
            </a:r>
            <a:r>
              <a:rPr lang="es-AR" noProof="0" err="1"/>
              <a:t>codigo</a:t>
            </a:r>
            <a:r>
              <a:rPr lang="es-AR" noProof="0"/>
              <a:t>. Este lo que hace es complementar a AOT, mejorando la performance, espacio en disco y </a:t>
            </a:r>
            <a:r>
              <a:rPr lang="es-AR" noProof="0" err="1"/>
              <a:t>accelerando</a:t>
            </a:r>
            <a:r>
              <a:rPr lang="es-AR" noProof="0"/>
              <a:t> las apps y actualizaciones.</a:t>
            </a:r>
          </a:p>
          <a:p>
            <a:r>
              <a:rPr lang="es-AR" noProof="0"/>
              <a:t>Antes hacia AOT complete con instalación lenta.</a:t>
            </a:r>
          </a:p>
          <a:p>
            <a:r>
              <a:rPr lang="es-AR" noProof="0"/>
              <a:t>1- Instalación inicial </a:t>
            </a:r>
            <a:r>
              <a:rPr lang="es-AR" noProof="0" err="1"/>
              <a:t>cn</a:t>
            </a:r>
            <a:r>
              <a:rPr lang="es-AR" noProof="0"/>
              <a:t> JIT</a:t>
            </a:r>
          </a:p>
          <a:p>
            <a:pPr lvl="1"/>
            <a:r>
              <a:rPr lang="es-AR" noProof="0"/>
              <a:t>La primera vez que </a:t>
            </a:r>
            <a:r>
              <a:rPr lang="es-AR" noProof="0" err="1"/>
              <a:t>abris</a:t>
            </a:r>
            <a:r>
              <a:rPr lang="es-AR" noProof="0"/>
              <a:t> la app, se ejecuta bajo la VM con compilación JIT</a:t>
            </a:r>
          </a:p>
          <a:p>
            <a:pPr lvl="1"/>
            <a:r>
              <a:rPr lang="es-AR" noProof="0"/>
              <a:t>El </a:t>
            </a:r>
            <a:r>
              <a:rPr lang="es-AR" noProof="0" err="1"/>
              <a:t>runtime</a:t>
            </a:r>
            <a:r>
              <a:rPr lang="es-AR" noProof="0"/>
              <a:t> hace un </a:t>
            </a:r>
            <a:r>
              <a:rPr lang="es-AR" noProof="0" err="1"/>
              <a:t>profiling</a:t>
            </a:r>
            <a:r>
              <a:rPr lang="es-AR" noProof="0"/>
              <a:t> de que métodos se usan más que otros </a:t>
            </a:r>
            <a:r>
              <a:rPr lang="es-AR" noProof="0">
                <a:sym typeface="Wingdings" panose="05000000000000000000" pitchFamily="2" charset="2"/>
              </a:rPr>
              <a:t> </a:t>
            </a:r>
            <a:r>
              <a:rPr lang="es-AR" i="1" noProof="0" err="1">
                <a:sym typeface="Wingdings" panose="05000000000000000000" pitchFamily="2" charset="2"/>
              </a:rPr>
              <a:t>hot</a:t>
            </a:r>
            <a:r>
              <a:rPr lang="es-AR" i="1" noProof="0">
                <a:sym typeface="Wingdings" panose="05000000000000000000" pitchFamily="2" charset="2"/>
              </a:rPr>
              <a:t> </a:t>
            </a:r>
            <a:r>
              <a:rPr lang="es-AR" i="1" noProof="0" err="1">
                <a:sym typeface="Wingdings" panose="05000000000000000000" pitchFamily="2" charset="2"/>
              </a:rPr>
              <a:t>methods</a:t>
            </a:r>
            <a:endParaRPr lang="es-AR" i="1" noProof="0"/>
          </a:p>
        </p:txBody>
      </p:sp>
    </p:spTree>
    <p:extLst>
      <p:ext uri="{BB962C8B-B14F-4D97-AF65-F5344CB8AC3E}">
        <p14:creationId xmlns:p14="http://schemas.microsoft.com/office/powerpoint/2010/main" val="12418503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F9BE9-A082-7E51-0DB7-7E0F912AB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F27DE6-7351-2EEC-6A15-BD313517E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JIT + AOT =  ART Android 7.0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4CCCA0D-5858-7919-D0C4-96DC71CE4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EB0B9FA-8631-5899-F614-FA7BBF568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B0623C-7629-C0E9-A1B4-3A5E58BC53C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65F76D7-F1BC-C3CD-8BCB-03DF622B9C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8CC8E8-B5BF-5EEC-97F0-4E8E4B7CE5D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s-AR" noProof="0"/>
              <a:t>La información de perfilado se guarda en el </a:t>
            </a:r>
            <a:r>
              <a:rPr lang="es-AR" noProof="0" err="1"/>
              <a:t>runtime</a:t>
            </a:r>
            <a:r>
              <a:rPr lang="es-AR" noProof="0"/>
              <a:t>.</a:t>
            </a:r>
          </a:p>
          <a:p>
            <a:r>
              <a:rPr lang="es-AR" noProof="0"/>
              <a:t>Con esto, el Sistema sabe que partes de la app necesitan optimización.</a:t>
            </a:r>
          </a:p>
          <a:p>
            <a:r>
              <a:rPr lang="es-AR" noProof="0"/>
              <a:t>AOT Selectivo</a:t>
            </a:r>
          </a:p>
          <a:p>
            <a:pPr lvl="1"/>
            <a:r>
              <a:rPr lang="es-AR" noProof="0"/>
              <a:t>Cuando el dispositivo esta inactive (idle) y cargando, aprovecha y hace AOT de las partes más usadas de la APP</a:t>
            </a:r>
          </a:p>
          <a:p>
            <a:pPr lvl="1"/>
            <a:r>
              <a:rPr lang="es-AR" noProof="0"/>
              <a:t>Así, ya tendrá el Código crítico en lenguaje máquina y tendremos que esperar menos al abrir la app.</a:t>
            </a:r>
          </a:p>
        </p:txBody>
      </p:sp>
    </p:spTree>
    <p:extLst>
      <p:ext uri="{BB962C8B-B14F-4D97-AF65-F5344CB8AC3E}">
        <p14:creationId xmlns:p14="http://schemas.microsoft.com/office/powerpoint/2010/main" val="38367353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ADE05-DAF1-20E8-5804-4FB45A077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2D939F-C384-4AFD-C716-9C32389C8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JIT + AOT =  ART Android 7.0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7828746-3D33-04BC-3C0E-265BB6B14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45D5F15-3CB1-1B54-FA93-A4197CDC2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12797F7-AF31-4398-997B-533AB144C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22EA6E8-C5BA-156E-1240-FEAF759B4A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03D9CB-C111-2B1E-E2D5-8FC4774405C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s-AR" noProof="0"/>
              <a:t>De esta forma, el compilador aprende el uso real y hace optimizaciones específicas.</a:t>
            </a:r>
          </a:p>
          <a:p>
            <a:r>
              <a:rPr lang="es-AR" noProof="0"/>
              <a:t>El </a:t>
            </a:r>
            <a:r>
              <a:rPr lang="es-AR" noProof="0" err="1"/>
              <a:t>bytecode</a:t>
            </a:r>
            <a:r>
              <a:rPr lang="es-AR" noProof="0"/>
              <a:t> </a:t>
            </a:r>
            <a:r>
              <a:rPr lang="es-AR" noProof="0" err="1"/>
              <a:t>dex</a:t>
            </a:r>
            <a:r>
              <a:rPr lang="es-AR" noProof="0"/>
              <a:t> es más compacto que el Código de máquina, por lo que ahorra espacio.</a:t>
            </a:r>
          </a:p>
          <a:p>
            <a:r>
              <a:rPr lang="es-AR" noProof="0"/>
              <a:t>Como no se compila todo, solo se optimizan las apps y métodos más usados, se ahorra espacio en NAND y RAM.</a:t>
            </a:r>
          </a:p>
          <a:p>
            <a:r>
              <a:rPr lang="es-AR" noProof="0"/>
              <a:t>No hay espera por compilación AOT completa al instalar. </a:t>
            </a:r>
          </a:p>
          <a:p>
            <a:r>
              <a:rPr lang="es-AR" noProof="0"/>
              <a:t>Tampoco hay “</a:t>
            </a:r>
            <a:r>
              <a:rPr lang="es-AR" i="1" noProof="0"/>
              <a:t>primer arranque</a:t>
            </a:r>
            <a:r>
              <a:rPr lang="es-AR" noProof="0"/>
              <a:t>” lento después de una actualización del sistema.</a:t>
            </a:r>
          </a:p>
        </p:txBody>
      </p:sp>
    </p:spTree>
    <p:extLst>
      <p:ext uri="{BB962C8B-B14F-4D97-AF65-F5344CB8AC3E}">
        <p14:creationId xmlns:p14="http://schemas.microsoft.com/office/powerpoint/2010/main" val="11818648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8C7FE-082F-17EF-9174-7BC9985C2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E426ED-035C-D224-1FBA-CB8A1327F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/>
              <a:t>JIT + AOT =  ART Android 7.0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D7CE8E-0E2B-22C1-5994-9D7479671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9CD7C0F-3E76-8F3D-07C3-697222E3C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A23531-4BA2-EB09-D4BA-E7BD5E05B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6561014-2760-6815-03C9-B4AEBAA9E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9351ED-1004-57B6-E483-B27632A8278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17687" y="2589826"/>
            <a:ext cx="9150413" cy="3699328"/>
          </a:xfrm>
        </p:spPr>
        <p:txBody>
          <a:bodyPr>
            <a:normAutofit/>
          </a:bodyPr>
          <a:lstStyle/>
          <a:p>
            <a:r>
              <a:rPr lang="es-AR" noProof="0"/>
              <a:t>Desde Android 7, ART combina:</a:t>
            </a:r>
          </a:p>
          <a:p>
            <a:pPr lvl="1"/>
            <a:r>
              <a:rPr lang="es-AR" noProof="0"/>
              <a:t>JIT para ejecución inmediata y generación de perfiles de uso.</a:t>
            </a:r>
          </a:p>
          <a:p>
            <a:pPr lvl="1"/>
            <a:r>
              <a:rPr lang="es-AR" noProof="0"/>
              <a:t>AOT selectivo cuando el dispositivo está cargando e inactivo → optimiza solo lo que importa.</a:t>
            </a:r>
          </a:p>
          <a:p>
            <a:pPr lvl="1"/>
            <a:r>
              <a:rPr lang="es-AR" noProof="0"/>
              <a:t>Esto significa instalaciones rápidas, menos uso de almacenamiento y mejor rendimiento en el uso diario.</a:t>
            </a:r>
          </a:p>
        </p:txBody>
      </p:sp>
    </p:spTree>
    <p:extLst>
      <p:ext uri="{BB962C8B-B14F-4D97-AF65-F5344CB8AC3E}">
        <p14:creationId xmlns:p14="http://schemas.microsoft.com/office/powerpoint/2010/main" val="4813082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BBB8A-24AD-2F70-F05C-0BC23700E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00BCF9-17EF-55C5-B5B9-A8B52B90B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 err="1"/>
              <a:t>Profile</a:t>
            </a:r>
            <a:r>
              <a:rPr lang="es-AR" noProof="0"/>
              <a:t> </a:t>
            </a:r>
            <a:r>
              <a:rPr lang="es-AR" noProof="0" err="1"/>
              <a:t>on</a:t>
            </a:r>
            <a:r>
              <a:rPr lang="es-AR" noProof="0"/>
              <a:t> Cloud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B4BC434-11ED-06C7-D120-3045A988D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32B71E3-D645-C5F7-91EE-0F34A52B7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6B77B8E-6A41-E44E-3D35-5073C601D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0079677F-EE61-B28C-395E-596FB81DC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8AC56374-2708-E530-E269-FF75B4319D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36206" y="2414388"/>
            <a:ext cx="9150413" cy="3699328"/>
          </a:xfrm>
        </p:spPr>
        <p:txBody>
          <a:bodyPr>
            <a:normAutofit/>
          </a:bodyPr>
          <a:lstStyle/>
          <a:p>
            <a:r>
              <a:rPr lang="es-AR" noProof="0"/>
              <a:t>Desde Android 9-10:</a:t>
            </a:r>
          </a:p>
          <a:p>
            <a:pPr lvl="1"/>
            <a:r>
              <a:rPr lang="es-AR" noProof="0"/>
              <a:t>Google </a:t>
            </a:r>
            <a:r>
              <a:rPr lang="es-AR" noProof="0" err="1"/>
              <a:t>pre-genera</a:t>
            </a:r>
            <a:r>
              <a:rPr lang="es-AR" noProof="0"/>
              <a:t> perfiles de uso típico en la nube por medio de telemetría de dispositivos que ejecutan la misma app.</a:t>
            </a:r>
          </a:p>
          <a:p>
            <a:pPr lvl="1"/>
            <a:r>
              <a:rPr lang="es-AR" noProof="0"/>
              <a:t>Los Cloud </a:t>
            </a:r>
            <a:r>
              <a:rPr lang="es-AR" noProof="0" err="1"/>
              <a:t>Profile</a:t>
            </a:r>
            <a:r>
              <a:rPr lang="es-AR" noProof="0"/>
              <a:t> se distribuyen con la App</a:t>
            </a:r>
          </a:p>
          <a:p>
            <a:pPr lvl="1"/>
            <a:r>
              <a:rPr lang="es-AR" noProof="0"/>
              <a:t>Entonces, antes de que el usuario abra la app por primera vez, el sistema ya posee una lista de métodos a compilar en el AOT </a:t>
            </a:r>
            <a:r>
              <a:rPr lang="es-AR" noProof="0">
                <a:sym typeface="Wingdings" panose="05000000000000000000" pitchFamily="2" charset="2"/>
              </a:rPr>
              <a:t> </a:t>
            </a:r>
          </a:p>
          <a:p>
            <a:pPr lvl="2"/>
            <a:r>
              <a:rPr lang="es-AR" noProof="0">
                <a:sym typeface="Wingdings" panose="05000000000000000000" pitchFamily="2" charset="2"/>
              </a:rPr>
              <a:t>Mejora la velocidad de arranque incluso si nunca se abrió localmente.</a:t>
            </a:r>
          </a:p>
          <a:p>
            <a:pPr lvl="2"/>
            <a:r>
              <a:rPr lang="es-AR" noProof="0">
                <a:sym typeface="Wingdings" panose="05000000000000000000" pitchFamily="2" charset="2"/>
              </a:rPr>
              <a:t>Mejora el rendimiento inicial.</a:t>
            </a:r>
            <a:endParaRPr lang="es-AR" noProof="0"/>
          </a:p>
        </p:txBody>
      </p:sp>
    </p:spTree>
    <p:extLst>
      <p:ext uri="{BB962C8B-B14F-4D97-AF65-F5344CB8AC3E}">
        <p14:creationId xmlns:p14="http://schemas.microsoft.com/office/powerpoint/2010/main" val="5864676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1538C-B3C5-58AD-39BC-405F46E36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79CF99-EC25-D3C9-96A5-9F3AE2F7B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 err="1"/>
              <a:t>Profile</a:t>
            </a:r>
            <a:r>
              <a:rPr lang="es-AR" noProof="0"/>
              <a:t> </a:t>
            </a:r>
            <a:r>
              <a:rPr lang="es-AR" noProof="0" err="1"/>
              <a:t>on</a:t>
            </a:r>
            <a:r>
              <a:rPr lang="es-AR" noProof="0"/>
              <a:t> Cloud: </a:t>
            </a:r>
            <a:r>
              <a:rPr lang="es-AR" noProof="0" err="1"/>
              <a:t>Workflow</a:t>
            </a:r>
            <a:endParaRPr lang="es-AR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8E86310-B876-3226-81E4-E39CBF674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736B658-96B3-3A6C-2F40-F924A9D0A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3752142-D254-4D9E-94FF-FBD609995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5472D07-5C49-3609-3697-3A15C20A9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267ADFBA-B94B-8F61-AE6F-2D5CE6A466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36206" y="2414388"/>
            <a:ext cx="9150413" cy="3699328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s-AR" noProof="0"/>
              <a:t>Dev sube la App al Store</a:t>
            </a:r>
          </a:p>
          <a:p>
            <a:pPr marL="457200" indent="-457200">
              <a:buFont typeface="+mj-lt"/>
              <a:buAutoNum type="arabicPeriod"/>
            </a:pPr>
            <a:r>
              <a:rPr lang="es-AR" noProof="0"/>
              <a:t>Usuarios ejecutan la app en miles de dispositivos.</a:t>
            </a:r>
          </a:p>
          <a:p>
            <a:pPr marL="457200" indent="-457200">
              <a:buFont typeface="+mj-lt"/>
              <a:buAutoNum type="arabicPeriod"/>
            </a:pPr>
            <a:r>
              <a:rPr lang="es-AR" noProof="0"/>
              <a:t>Google Play </a:t>
            </a:r>
            <a:r>
              <a:rPr lang="es-AR" noProof="0" err="1"/>
              <a:t>recoje</a:t>
            </a:r>
            <a:r>
              <a:rPr lang="es-AR" noProof="0"/>
              <a:t> los perfiles de ejecución con telemetría </a:t>
            </a:r>
            <a:r>
              <a:rPr lang="es-AR" noProof="0">
                <a:sym typeface="Wingdings" panose="05000000000000000000" pitchFamily="2" charset="2"/>
              </a:rPr>
              <a:t> Métodos más usados.</a:t>
            </a:r>
          </a:p>
          <a:p>
            <a:pPr marL="457200" indent="-457200">
              <a:buFont typeface="+mj-lt"/>
              <a:buAutoNum type="arabicPeriod"/>
            </a:pPr>
            <a:r>
              <a:rPr lang="es-AR" noProof="0">
                <a:sym typeface="Wingdings" panose="05000000000000000000" pitchFamily="2" charset="2"/>
              </a:rPr>
              <a:t>Se genera un </a:t>
            </a:r>
            <a:r>
              <a:rPr lang="es-AR" noProof="0" err="1">
                <a:sym typeface="Wingdings" panose="05000000000000000000" pitchFamily="2" charset="2"/>
              </a:rPr>
              <a:t>profile</a:t>
            </a:r>
            <a:r>
              <a:rPr lang="es-AR" noProof="0">
                <a:sym typeface="Wingdings" panose="05000000000000000000" pitchFamily="2" charset="2"/>
              </a:rPr>
              <a:t> base en la nube.</a:t>
            </a:r>
          </a:p>
          <a:p>
            <a:pPr marL="457200" indent="-457200">
              <a:buFont typeface="+mj-lt"/>
              <a:buAutoNum type="arabicPeriod"/>
            </a:pPr>
            <a:r>
              <a:rPr lang="es-AR" noProof="0">
                <a:sym typeface="Wingdings" panose="05000000000000000000" pitchFamily="2" charset="2"/>
              </a:rPr>
              <a:t>Cuando otro usuario instala la app:</a:t>
            </a:r>
          </a:p>
          <a:p>
            <a:pPr marL="859536" lvl="1" indent="-457200">
              <a:buFont typeface="+mj-lt"/>
              <a:buAutoNum type="arabicPeriod"/>
            </a:pPr>
            <a:r>
              <a:rPr lang="es-AR" noProof="0">
                <a:sym typeface="Wingdings" panose="05000000000000000000" pitchFamily="2" charset="2"/>
              </a:rPr>
              <a:t>Recibe el </a:t>
            </a:r>
            <a:r>
              <a:rPr lang="es-AR" noProof="0" err="1">
                <a:sym typeface="Wingdings" panose="05000000000000000000" pitchFamily="2" charset="2"/>
              </a:rPr>
              <a:t>cloud</a:t>
            </a:r>
            <a:r>
              <a:rPr lang="es-AR" noProof="0">
                <a:sym typeface="Wingdings" panose="05000000000000000000" pitchFamily="2" charset="2"/>
              </a:rPr>
              <a:t> </a:t>
            </a:r>
            <a:r>
              <a:rPr lang="es-AR" noProof="0" err="1">
                <a:sym typeface="Wingdings" panose="05000000000000000000" pitchFamily="2" charset="2"/>
              </a:rPr>
              <a:t>profile</a:t>
            </a:r>
            <a:endParaRPr lang="es-AR" noProof="0">
              <a:sym typeface="Wingdings" panose="05000000000000000000" pitchFamily="2" charset="2"/>
            </a:endParaRPr>
          </a:p>
          <a:p>
            <a:pPr marL="859536" lvl="1" indent="-457200">
              <a:buFont typeface="+mj-lt"/>
              <a:buAutoNum type="arabicPeriod"/>
            </a:pPr>
            <a:r>
              <a:rPr lang="es-AR" noProof="0">
                <a:sym typeface="Wingdings" panose="05000000000000000000" pitchFamily="2" charset="2"/>
              </a:rPr>
              <a:t>ART ya puede compilar AOT desde el momento 0.</a:t>
            </a:r>
            <a:endParaRPr lang="es-AR" noProof="0"/>
          </a:p>
        </p:txBody>
      </p:sp>
    </p:spTree>
    <p:extLst>
      <p:ext uri="{BB962C8B-B14F-4D97-AF65-F5344CB8AC3E}">
        <p14:creationId xmlns:p14="http://schemas.microsoft.com/office/powerpoint/2010/main" val="36003411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665DE-4D91-5D05-D9F4-FA788961B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0B3689-66AC-1ED1-35E4-79B508AB8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noProof="0" err="1"/>
              <a:t>Profile</a:t>
            </a:r>
            <a:r>
              <a:rPr lang="es-AR" noProof="0"/>
              <a:t> </a:t>
            </a:r>
            <a:r>
              <a:rPr lang="es-AR" noProof="0" err="1"/>
              <a:t>on</a:t>
            </a:r>
            <a:r>
              <a:rPr lang="es-AR" noProof="0"/>
              <a:t> Cloud: Ventajas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77C4E53-A0F3-466C-7D94-BBABB396E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640D57F6-F31E-4BA7-9B4F-AD4BC26BE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8B84A3D-627E-2010-EFCA-AF52F7854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297D2A-5A48-E3EF-C974-38092A022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9C5D8777-3801-E8EA-1A77-B1D121A495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36206" y="2414388"/>
            <a:ext cx="9150413" cy="3699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noProof="0"/>
              <a:t>Arranque mucho más rápido de las apps después de instalarlas, incluso antes de que el usuario las use intensivamente.</a:t>
            </a:r>
          </a:p>
          <a:p>
            <a:pPr marL="0" indent="0">
              <a:buNone/>
            </a:pPr>
            <a:r>
              <a:rPr lang="es-AR" noProof="0"/>
              <a:t>Menor consumo de CPU/batería inicial, porque evita </a:t>
            </a:r>
            <a:r>
              <a:rPr lang="es-AR" noProof="0" err="1"/>
              <a:t>recompilaciones</a:t>
            </a:r>
            <a:r>
              <a:rPr lang="es-AR" noProof="0"/>
              <a:t> innecesarias en las primeras ejecuciones.</a:t>
            </a:r>
          </a:p>
          <a:p>
            <a:pPr marL="0" indent="0">
              <a:buNone/>
            </a:pPr>
            <a:r>
              <a:rPr lang="es-AR" b="1" noProof="0"/>
              <a:t>Consistencia: todos los usuarios obtienen una experiencia inicial optimizada, no solo los que ya usaron la app varias veces.</a:t>
            </a:r>
          </a:p>
        </p:txBody>
      </p:sp>
    </p:spTree>
    <p:extLst>
      <p:ext uri="{BB962C8B-B14F-4D97-AF65-F5344CB8AC3E}">
        <p14:creationId xmlns:p14="http://schemas.microsoft.com/office/powerpoint/2010/main" val="20728632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1A7D6-2D4E-D442-14BF-D0B9134AE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C26CBA-2FBA-F79A-593D-B810F9585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ES" err="1"/>
              <a:t>Build</a:t>
            </a:r>
            <a:r>
              <a:rPr lang="es-ES"/>
              <a:t> Pipeline (compilación y empaquetado)</a:t>
            </a:r>
            <a:endParaRPr lang="es-AR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D47112E-C209-B69B-0F74-9F6FF2525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B78DA71-BE37-9508-C294-6420420A7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990684AA-983D-CA89-EAE8-A1005BEF4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00E5611B-A8C8-537A-931D-5AE8CFDF98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7C40880A-6FDB-2B82-D0ED-D1B4895118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36206" y="2414388"/>
            <a:ext cx="9150413" cy="3699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noProof="0"/>
              <a:t>Del fuente al .</a:t>
            </a:r>
            <a:r>
              <a:rPr lang="es-AR" sz="2400" noProof="0" err="1"/>
              <a:t>dex:Java</a:t>
            </a:r>
            <a:r>
              <a:rPr lang="es-AR" sz="2400" noProof="0"/>
              <a:t>/</a:t>
            </a:r>
            <a:r>
              <a:rPr lang="es-AR" sz="2400" noProof="0" err="1"/>
              <a:t>Kotlin</a:t>
            </a:r>
            <a:r>
              <a:rPr lang="es-AR" sz="2400" noProof="0"/>
              <a:t> → .</a:t>
            </a:r>
            <a:r>
              <a:rPr lang="es-AR" sz="2400" noProof="0" err="1"/>
              <a:t>class</a:t>
            </a:r>
            <a:endParaRPr lang="es-AR" sz="2400" noProof="0"/>
          </a:p>
          <a:p>
            <a:pPr marL="0" indent="0">
              <a:buNone/>
            </a:pPr>
            <a:r>
              <a:rPr lang="es-AR" sz="2400" noProof="0" err="1"/>
              <a:t>javac</a:t>
            </a:r>
            <a:r>
              <a:rPr lang="es-AR" sz="2400" noProof="0"/>
              <a:t>/</a:t>
            </a:r>
            <a:r>
              <a:rPr lang="es-AR" sz="2400" noProof="0" err="1"/>
              <a:t>kotlinc</a:t>
            </a:r>
            <a:r>
              <a:rPr lang="es-AR" sz="2400" noProof="0"/>
              <a:t> generan </a:t>
            </a:r>
            <a:r>
              <a:rPr lang="es-AR" sz="2400" noProof="0" err="1"/>
              <a:t>bytecode</a:t>
            </a:r>
            <a:r>
              <a:rPr lang="es-AR" sz="2400" noProof="0"/>
              <a:t> JVM (</a:t>
            </a:r>
            <a:r>
              <a:rPr lang="es-AR" sz="2400" noProof="0" err="1"/>
              <a:t>stack-based</a:t>
            </a:r>
            <a:r>
              <a:rPr lang="es-AR" sz="2400" noProof="0"/>
              <a:t>).</a:t>
            </a:r>
          </a:p>
          <a:p>
            <a:pPr marL="0" indent="0">
              <a:buNone/>
            </a:pPr>
            <a:r>
              <a:rPr lang="es-AR" sz="2400" noProof="0" err="1"/>
              <a:t>Desugaring</a:t>
            </a:r>
            <a:r>
              <a:rPr lang="es-AR" sz="2400" noProof="0"/>
              <a:t> (D8/R8): Reescritura de azúcar sintáctica (lambdas, default </a:t>
            </a:r>
            <a:r>
              <a:rPr lang="es-AR" sz="2400" noProof="0" err="1"/>
              <a:t>methods</a:t>
            </a:r>
            <a:r>
              <a:rPr lang="es-AR" sz="2400" noProof="0"/>
              <a:t>, </a:t>
            </a:r>
            <a:r>
              <a:rPr lang="es-AR" sz="2400" noProof="0" err="1"/>
              <a:t>etc</a:t>
            </a:r>
            <a:r>
              <a:rPr lang="es-AR" sz="2400" noProof="0"/>
              <a:t>)</a:t>
            </a:r>
          </a:p>
          <a:p>
            <a:pPr marL="0" indent="0">
              <a:buNone/>
            </a:pPr>
            <a:r>
              <a:rPr lang="es-AR" sz="2400" noProof="0"/>
              <a:t>D8 / R8 → .</a:t>
            </a:r>
            <a:r>
              <a:rPr lang="es-AR" sz="2400" noProof="0" err="1"/>
              <a:t>dex</a:t>
            </a:r>
            <a:r>
              <a:rPr lang="es-AR" sz="2400" noProof="0"/>
              <a:t> (</a:t>
            </a:r>
            <a:r>
              <a:rPr lang="es-AR" sz="2400" noProof="0" err="1"/>
              <a:t>register-based</a:t>
            </a:r>
            <a:r>
              <a:rPr lang="es-AR" sz="2400" noProof="0"/>
              <a:t>)D8 cuando </a:t>
            </a:r>
            <a:r>
              <a:rPr lang="es-AR" sz="2400" noProof="0" err="1"/>
              <a:t>minifyEnabled</a:t>
            </a:r>
            <a:r>
              <a:rPr lang="es-AR" sz="2400" noProof="0"/>
              <a:t> false. R8 cuando </a:t>
            </a:r>
            <a:r>
              <a:rPr lang="es-AR" sz="2400" noProof="0" err="1"/>
              <a:t>minifyEnabled</a:t>
            </a:r>
            <a:r>
              <a:rPr lang="es-AR" sz="2400" noProof="0"/>
              <a:t> true (</a:t>
            </a:r>
            <a:r>
              <a:rPr lang="es-AR" sz="2400" noProof="0" err="1"/>
              <a:t>shrinker</a:t>
            </a:r>
            <a:r>
              <a:rPr lang="es-AR" sz="2400" noProof="0"/>
              <a:t> + </a:t>
            </a:r>
            <a:r>
              <a:rPr lang="es-AR" sz="2400" noProof="0" err="1"/>
              <a:t>optimizer</a:t>
            </a:r>
            <a:r>
              <a:rPr lang="es-AR" sz="2400" noProof="0"/>
              <a:t> + </a:t>
            </a:r>
            <a:r>
              <a:rPr lang="es-AR" sz="2400" noProof="0" err="1"/>
              <a:t>obfuscator</a:t>
            </a:r>
            <a:r>
              <a:rPr lang="es-AR" sz="2400" noProof="0"/>
              <a:t> + </a:t>
            </a:r>
            <a:r>
              <a:rPr lang="es-AR" sz="2400" noProof="0" err="1"/>
              <a:t>dexer</a:t>
            </a:r>
            <a:r>
              <a:rPr lang="es-AR" sz="2400" noProof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7180736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127B2-B161-F532-9AFE-EC210DC2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C4B50C-75E5-B335-4CF7-97C0F3C17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ES" err="1"/>
              <a:t>Build</a:t>
            </a:r>
            <a:r>
              <a:rPr lang="es-ES"/>
              <a:t> Pipeline (compilación y empaquetado)</a:t>
            </a:r>
            <a:endParaRPr lang="es-AR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4909FB0-E4F7-EDDC-5264-09325B75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09E151A9-D388-F747-D833-3336C4E23EA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BF20301-0213-5422-DFCC-D113082A8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61EE29D-680B-4264-CF1C-3EF47BBB3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762B3C4A-30CE-523B-11E0-1C537CC1FC6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36206" y="2414388"/>
            <a:ext cx="9150413" cy="3699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noProof="0"/>
              <a:t>Soporta </a:t>
            </a:r>
            <a:r>
              <a:rPr lang="es-AR" sz="2400" noProof="0" err="1"/>
              <a:t>multidex</a:t>
            </a:r>
            <a:r>
              <a:rPr lang="es-AR" sz="2400" noProof="0"/>
              <a:t> (classes2.dex, …) si se superan ~65K </a:t>
            </a:r>
            <a:r>
              <a:rPr lang="es-AR" sz="2400" noProof="0" err="1"/>
              <a:t>referenciass</a:t>
            </a:r>
            <a:r>
              <a:rPr lang="es-AR" sz="2400" noProof="0"/>
              <a:t>.</a:t>
            </a:r>
          </a:p>
          <a:p>
            <a:pPr marL="0" indent="0">
              <a:buNone/>
            </a:pPr>
            <a:r>
              <a:rPr lang="es-AR" sz="2400" noProof="0" err="1"/>
              <a:t>Shrink</a:t>
            </a:r>
            <a:r>
              <a:rPr lang="es-AR" sz="2400" noProof="0"/>
              <a:t>/</a:t>
            </a:r>
            <a:r>
              <a:rPr lang="es-AR" sz="2400" noProof="0" err="1"/>
              <a:t>Optimize</a:t>
            </a:r>
            <a:r>
              <a:rPr lang="es-AR" sz="2400" noProof="0"/>
              <a:t>/</a:t>
            </a:r>
            <a:r>
              <a:rPr lang="es-AR" sz="2400" noProof="0" err="1"/>
              <a:t>Obfuscate</a:t>
            </a:r>
            <a:r>
              <a:rPr lang="es-AR" sz="2400" noProof="0"/>
              <a:t> (R8) Elimina código no usado, </a:t>
            </a:r>
            <a:r>
              <a:rPr lang="es-AR" sz="2400" noProof="0" err="1"/>
              <a:t>inlining</a:t>
            </a:r>
            <a:r>
              <a:rPr lang="es-AR" sz="2400" noProof="0"/>
              <a:t>, DCE; ofuscación opcional (</a:t>
            </a:r>
            <a:r>
              <a:rPr lang="es-AR" sz="2400" noProof="0" err="1"/>
              <a:t>retrace</a:t>
            </a:r>
            <a:r>
              <a:rPr lang="es-AR" sz="2400" noProof="0"/>
              <a:t> con mapping.txt).</a:t>
            </a:r>
          </a:p>
          <a:p>
            <a:pPr marL="0" indent="0">
              <a:buNone/>
            </a:pPr>
            <a:r>
              <a:rPr lang="es-AR" sz="2400" noProof="0"/>
              <a:t>Recursos (opcional): </a:t>
            </a:r>
            <a:r>
              <a:rPr lang="es-AR" sz="2400" noProof="0" err="1"/>
              <a:t>shrinkResources</a:t>
            </a:r>
            <a:r>
              <a:rPr lang="es-AR" sz="2400" noProof="0"/>
              <a:t> true limpia </a:t>
            </a:r>
            <a:r>
              <a:rPr lang="es-AR" sz="2400" noProof="0" err="1"/>
              <a:t>drawables</a:t>
            </a:r>
            <a:r>
              <a:rPr lang="es-AR" sz="2400" noProof="0"/>
              <a:t>/</a:t>
            </a:r>
            <a:r>
              <a:rPr lang="es-AR" sz="2400" noProof="0" err="1"/>
              <a:t>layouts</a:t>
            </a:r>
            <a:r>
              <a:rPr lang="es-AR" sz="2400" noProof="0"/>
              <a:t> no referenciados.</a:t>
            </a:r>
          </a:p>
          <a:p>
            <a:pPr marL="0" indent="0">
              <a:buNone/>
            </a:pPr>
            <a:r>
              <a:rPr lang="es-AR" sz="2400" noProof="0"/>
              <a:t>Firmado y empaquetado → APK/AAB.</a:t>
            </a:r>
          </a:p>
        </p:txBody>
      </p:sp>
    </p:spTree>
    <p:extLst>
      <p:ext uri="{BB962C8B-B14F-4D97-AF65-F5344CB8AC3E}">
        <p14:creationId xmlns:p14="http://schemas.microsoft.com/office/powerpoint/2010/main" val="21328351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4D0C4-6AF2-DF17-FDF3-2A73F47C7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3BF084-21E4-6E1C-6F46-F4CBCA0D3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err="1"/>
              <a:t>Runtime</a:t>
            </a:r>
            <a:r>
              <a:rPr lang="es-AR"/>
              <a:t> en dispositivo (ART), JIT &amp; AOT</a:t>
            </a:r>
            <a:endParaRPr lang="es-AR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579E858-DD3D-A7C8-6717-F4BC9D340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55C7A4FC-E937-8A9E-E0A2-43DDEBFD5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7ECEC09-F466-1CE0-AB42-82E7A7222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C6D6A0B-8173-0EDF-0D1A-D1A909FBB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2B6CE7FB-94D3-7D3F-E66B-126CC3B9D70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36206" y="2414388"/>
            <a:ext cx="9150413" cy="369932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AR" sz="2400" noProof="0"/>
              <a:t>Qué es ART: </a:t>
            </a:r>
            <a:r>
              <a:rPr lang="es-AR" sz="2400" noProof="0" err="1"/>
              <a:t>runtime</a:t>
            </a:r>
            <a:r>
              <a:rPr lang="es-AR" sz="2400" noProof="0"/>
              <a:t> predeterminado desde Android 5.0 (</a:t>
            </a:r>
            <a:r>
              <a:rPr lang="es-AR" sz="2400" noProof="0" err="1"/>
              <a:t>Dalvik</a:t>
            </a:r>
            <a:r>
              <a:rPr lang="es-AR" sz="2400" noProof="0"/>
              <a:t> quedó histórico). Entrada: .</a:t>
            </a:r>
            <a:r>
              <a:rPr lang="es-AR" sz="2400" noProof="0" err="1"/>
              <a:t>dex</a:t>
            </a:r>
            <a:r>
              <a:rPr lang="es-AR" sz="2400" noProof="0"/>
              <a:t>.</a:t>
            </a:r>
          </a:p>
          <a:p>
            <a:pPr marL="0" indent="0">
              <a:buNone/>
            </a:pPr>
            <a:r>
              <a:rPr lang="es-AR" sz="2400" noProof="0"/>
              <a:t>Verificación/</a:t>
            </a:r>
            <a:r>
              <a:rPr lang="es-AR" sz="2400" noProof="0" err="1"/>
              <a:t>quickening</a:t>
            </a:r>
            <a:r>
              <a:rPr lang="es-AR" sz="2400" noProof="0"/>
              <a:t> del .</a:t>
            </a:r>
            <a:r>
              <a:rPr lang="es-AR" sz="2400" noProof="0" err="1"/>
              <a:t>dex</a:t>
            </a:r>
            <a:r>
              <a:rPr lang="es-AR" sz="2400" noProof="0"/>
              <a:t>.</a:t>
            </a:r>
          </a:p>
          <a:p>
            <a:pPr marL="0" indent="0">
              <a:buNone/>
            </a:pPr>
            <a:r>
              <a:rPr lang="es-AR" sz="2400" noProof="0"/>
              <a:t>Intérprete &amp; JIT: métodos “calientes” se compilan Just-In-Time a nativo y se guarda el perfil de uso.</a:t>
            </a:r>
          </a:p>
          <a:p>
            <a:pPr marL="0" indent="0">
              <a:buNone/>
            </a:pPr>
            <a:r>
              <a:rPr lang="es-AR" sz="2400" noProof="0"/>
              <a:t>AOT en segundo plano (dex2oat): cuando el dispositivo está inactivo/cargando, compila </a:t>
            </a:r>
            <a:r>
              <a:rPr lang="es-AR" sz="2400" noProof="0" err="1"/>
              <a:t>Ahead</a:t>
            </a:r>
            <a:r>
              <a:rPr lang="es-AR" sz="2400" noProof="0"/>
              <a:t>-</a:t>
            </a:r>
            <a:r>
              <a:rPr lang="es-AR" sz="2400" noProof="0" err="1"/>
              <a:t>Of</a:t>
            </a:r>
            <a:r>
              <a:rPr lang="es-AR" sz="2400" noProof="0"/>
              <a:t>-Time lo más usado según el perfil.</a:t>
            </a:r>
          </a:p>
          <a:p>
            <a:pPr marL="0" indent="0">
              <a:buNone/>
            </a:pPr>
            <a:r>
              <a:rPr lang="es-AR" sz="2400" noProof="0"/>
              <a:t>Artefactos:.</a:t>
            </a:r>
            <a:r>
              <a:rPr lang="es-AR" sz="2400" noProof="0" err="1"/>
              <a:t>oat</a:t>
            </a:r>
            <a:r>
              <a:rPr lang="es-AR" sz="2400" noProof="0"/>
              <a:t>: código nativo + metadatos.</a:t>
            </a:r>
          </a:p>
          <a:p>
            <a:pPr marL="402336" lvl="1" indent="0">
              <a:buNone/>
            </a:pPr>
            <a:r>
              <a:rPr lang="es-AR" sz="2400" noProof="0"/>
              <a:t>.</a:t>
            </a:r>
            <a:r>
              <a:rPr lang="es-AR" sz="2400" noProof="0" err="1"/>
              <a:t>vdex</a:t>
            </a:r>
            <a:r>
              <a:rPr lang="es-AR" sz="2400" noProof="0"/>
              <a:t>: DEX verificado + </a:t>
            </a:r>
            <a:r>
              <a:rPr lang="es-AR" sz="2400" noProof="0" err="1"/>
              <a:t>checksums</a:t>
            </a:r>
            <a:r>
              <a:rPr lang="es-AR" sz="2400" noProof="0"/>
              <a:t>.</a:t>
            </a:r>
          </a:p>
          <a:p>
            <a:pPr marL="402336" lvl="1" indent="0">
              <a:buNone/>
            </a:pPr>
            <a:endParaRPr lang="es-AR" sz="2400" noProof="0"/>
          </a:p>
        </p:txBody>
      </p:sp>
    </p:spTree>
    <p:extLst>
      <p:ext uri="{BB962C8B-B14F-4D97-AF65-F5344CB8AC3E}">
        <p14:creationId xmlns:p14="http://schemas.microsoft.com/office/powerpoint/2010/main" val="2798455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37408-549D-40D8-6C21-7FCEF0F0D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DB2F86-B6E9-F192-4F3B-733AB9BA3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err="1"/>
              <a:t>Runtime</a:t>
            </a:r>
            <a:r>
              <a:rPr lang="es-AR"/>
              <a:t> en dispositivo (ART), JIT &amp; AOT</a:t>
            </a:r>
            <a:endParaRPr lang="es-AR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BB82B49-F500-B545-FDA0-E62A1FC3A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6126B23-0839-59C3-D752-25341C88D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D62EE24-F508-603F-855C-A604EB2A7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07FE8FB-2F3D-CD7B-1DD5-9C52B3428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E39573CA-7641-0A26-012D-69FD8209CB8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36206" y="2414388"/>
            <a:ext cx="9150413" cy="3699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noProof="0"/>
              <a:t>JIT = arranque rápido + adaptación en vivo (costo: compilación en </a:t>
            </a:r>
            <a:r>
              <a:rPr lang="es-ES" sz="2400" noProof="0" err="1"/>
              <a:t>runtime</a:t>
            </a:r>
            <a:r>
              <a:rPr lang="es-ES" sz="2400" noProof="0"/>
              <a:t>).</a:t>
            </a:r>
          </a:p>
          <a:p>
            <a:pPr marL="0" indent="0">
              <a:buNone/>
            </a:pPr>
            <a:r>
              <a:rPr lang="es-ES" sz="2400" noProof="0"/>
              <a:t>AOT = inicio/</a:t>
            </a:r>
            <a:r>
              <a:rPr lang="es-ES" sz="2400" noProof="0" err="1"/>
              <a:t>predecibilidad</a:t>
            </a:r>
            <a:r>
              <a:rPr lang="es-ES" sz="2400" noProof="0"/>
              <a:t> y mejor eficiencia energética (costo: tamaño en disco, menos adaptación).</a:t>
            </a:r>
          </a:p>
          <a:p>
            <a:pPr marL="0" indent="0">
              <a:buNone/>
            </a:pPr>
            <a:r>
              <a:rPr lang="es-ES" sz="2400" noProof="0"/>
              <a:t>En Android moderno conviven: JIT para calentar, AOT para consolidar según el uso real del usuario.</a:t>
            </a:r>
            <a:endParaRPr lang="es-AR" sz="2400" noProof="0"/>
          </a:p>
        </p:txBody>
      </p:sp>
    </p:spTree>
    <p:extLst>
      <p:ext uri="{BB962C8B-B14F-4D97-AF65-F5344CB8AC3E}">
        <p14:creationId xmlns:p14="http://schemas.microsoft.com/office/powerpoint/2010/main" val="24437578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4633C-1C4C-29D1-FA75-1F40557D7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28DA6B3-99F4-3CDF-8947-D8985C3DF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s-AR" err="1"/>
              <a:t>Runtime</a:t>
            </a:r>
            <a:r>
              <a:rPr lang="es-AR"/>
              <a:t> en dispositivo (ART), JIT &amp; AOT</a:t>
            </a:r>
            <a:endParaRPr lang="es-AR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6275A2D-9FC6-574E-FD7B-7447741F4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5684C357-5454-ABC1-9058-E493A9383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EC381A6-8D9B-19F5-C9B9-89DE00118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61C1664-EAA2-D417-F8EA-26E9E673A8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AR" noProof="0"/>
            </a:p>
          </p:txBody>
        </p:sp>
      </p:grp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856BFDF8-A97D-714E-C704-9751E16B7DC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36206" y="2414388"/>
            <a:ext cx="9150413" cy="3699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/>
              <a:t>APK/AAB → .</a:t>
            </a:r>
            <a:r>
              <a:rPr lang="es-ES" sz="2400" err="1"/>
              <a:t>dex</a:t>
            </a:r>
            <a:endParaRPr lang="es-ES" sz="2400"/>
          </a:p>
          <a:p>
            <a:pPr marL="0" indent="0">
              <a:buNone/>
            </a:pPr>
            <a:r>
              <a:rPr lang="es-ES" sz="2400"/>
              <a:t>    ↓ verificación/</a:t>
            </a:r>
            <a:r>
              <a:rPr lang="es-ES" sz="2400" err="1"/>
              <a:t>quickening</a:t>
            </a:r>
            <a:endParaRPr lang="es-ES" sz="2400"/>
          </a:p>
          <a:p>
            <a:pPr marL="0" indent="0">
              <a:buNone/>
            </a:pPr>
            <a:r>
              <a:rPr lang="es-ES" sz="2400"/>
              <a:t> Intérprete ── JIT (</a:t>
            </a:r>
            <a:r>
              <a:rPr lang="es-ES" sz="2400" err="1"/>
              <a:t>hot</a:t>
            </a:r>
            <a:r>
              <a:rPr lang="es-ES" sz="2400"/>
              <a:t> </a:t>
            </a:r>
            <a:r>
              <a:rPr lang="es-ES" sz="2400" err="1"/>
              <a:t>methods</a:t>
            </a:r>
            <a:r>
              <a:rPr lang="es-ES" sz="2400"/>
              <a:t>) ──► perfiles</a:t>
            </a:r>
          </a:p>
          <a:p>
            <a:pPr marL="0" indent="0">
              <a:buNone/>
            </a:pPr>
            <a:r>
              <a:rPr lang="es-ES" sz="2400"/>
              <a:t>                 │</a:t>
            </a:r>
          </a:p>
          <a:p>
            <a:pPr marL="0" indent="0">
              <a:buNone/>
            </a:pPr>
            <a:r>
              <a:rPr lang="es-ES" sz="2400"/>
              <a:t>                 └── (idle) dex2oat ──► .</a:t>
            </a:r>
            <a:r>
              <a:rPr lang="es-ES" sz="2400" err="1"/>
              <a:t>oat</a:t>
            </a:r>
            <a:r>
              <a:rPr lang="es-ES" sz="2400"/>
              <a:t>/.</a:t>
            </a:r>
            <a:r>
              <a:rPr lang="es-ES" sz="2400" err="1"/>
              <a:t>vdex</a:t>
            </a:r>
            <a:r>
              <a:rPr lang="es-ES" sz="2400"/>
              <a:t> ──► CPU</a:t>
            </a:r>
            <a:endParaRPr lang="es-AR" sz="2400" noProof="0"/>
          </a:p>
        </p:txBody>
      </p:sp>
    </p:spTree>
    <p:extLst>
      <p:ext uri="{BB962C8B-B14F-4D97-AF65-F5344CB8AC3E}">
        <p14:creationId xmlns:p14="http://schemas.microsoft.com/office/powerpoint/2010/main" val="28389614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ADE">
      <a:dk1>
        <a:srgbClr val="000000"/>
      </a:dk1>
      <a:lt1>
        <a:srgbClr val="FFFFFF"/>
      </a:lt1>
      <a:dk2>
        <a:srgbClr val="E4E4E4"/>
      </a:dk2>
      <a:lt2>
        <a:srgbClr val="CADBBA"/>
      </a:lt2>
      <a:accent1>
        <a:srgbClr val="A9D4DB"/>
      </a:accent1>
      <a:accent2>
        <a:srgbClr val="C8D502"/>
      </a:accent2>
      <a:accent3>
        <a:srgbClr val="0D3F60"/>
      </a:accent3>
      <a:accent4>
        <a:srgbClr val="0036A2"/>
      </a:accent4>
      <a:accent5>
        <a:srgbClr val="E06742"/>
      </a:accent5>
      <a:accent6>
        <a:srgbClr val="C8D502"/>
      </a:accent6>
      <a:hlink>
        <a:srgbClr val="4495A2"/>
      </a:hlink>
      <a:folHlink>
        <a:srgbClr val="AA5881"/>
      </a:folHlink>
    </a:clrScheme>
    <a:fontScheme name="UAD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A0978C92AED346A5B2D7523A4F38C1" ma:contentTypeVersion="7" ma:contentTypeDescription="Crear nuevo documento." ma:contentTypeScope="" ma:versionID="b8f9f304219515137087e73dbb27e9d8">
  <xsd:schema xmlns:xsd="http://www.w3.org/2001/XMLSchema" xmlns:xs="http://www.w3.org/2001/XMLSchema" xmlns:p="http://schemas.microsoft.com/office/2006/metadata/properties" xmlns:ns2="6817ed02-5f63-452f-a9ab-4e2e87cdde74" targetNamespace="http://schemas.microsoft.com/office/2006/metadata/properties" ma:root="true" ma:fieldsID="7368f7f269e55e9201cd92fa5041eb77" ns2:_="">
    <xsd:import namespace="6817ed02-5f63-452f-a9ab-4e2e87cdde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17ed02-5f63-452f-a9ab-4e2e87cdde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3BEA9F-2E65-4FC2-80B1-AA4373FD98AD}">
  <ds:schemaRefs>
    <ds:schemaRef ds:uri="6817ed02-5f63-452f-a9ab-4e2e87cdde7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3fc433df-24d3-4195-a2c5-2c409d9a9d1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344979d0-d31d-4c57-8ba0-491aff4acaed}" enabled="0" method="" siteId="{344979d0-d31d-4c57-8ba0-491aff4acaed}" removed="1"/>
  <clbl:label id="{a7dd264e-c8d8-4afc-acf5-8aadf7fd1ff3}" enabled="1" method="Privileged" siteId="{fb15ef39-1a1d-4a3a-9beb-86e7ace265f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{8FB07D03-89B3-47C0-A482-4B41C5196CA8}tf78853419_win32</Template>
  <Application>Microsoft Office PowerPoint</Application>
  <PresentationFormat>Widescreen</PresentationFormat>
  <Slides>53</Slides>
  <Notes>53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Custom</vt:lpstr>
      <vt:lpstr>Android Compile &amp; Runtime:   JIT – AOT &amp; Profiling  Aplicaciones I - Desarrollo de Aplicaciones para Dispositivos Móviles</vt:lpstr>
      <vt:lpstr>PowerPoint Presentation</vt:lpstr>
      <vt:lpstr>Agenda</vt:lpstr>
      <vt:lpstr>PowerPoint Presentation</vt:lpstr>
      <vt:lpstr>Arquitectura Android</vt:lpstr>
      <vt:lpstr>Arquitectura Android</vt:lpstr>
      <vt:lpstr>Arquitectura Android</vt:lpstr>
      <vt:lpstr>Arquitectura Android</vt:lpstr>
      <vt:lpstr>Arquitectura Android</vt:lpstr>
      <vt:lpstr>Arquitectura Android</vt:lpstr>
      <vt:lpstr>Arquitectura Android</vt:lpstr>
      <vt:lpstr>Arquitectura Android</vt:lpstr>
      <vt:lpstr>Runtime de Android</vt:lpstr>
      <vt:lpstr>Dalvik vs Dart</vt:lpstr>
      <vt:lpstr>Bytecode</vt:lpstr>
      <vt:lpstr>Bytecode</vt:lpstr>
      <vt:lpstr>D8: El compilador</vt:lpstr>
      <vt:lpstr>Desugaring – “Sin Azúcar”</vt:lpstr>
      <vt:lpstr>JIT – Just in Time</vt:lpstr>
      <vt:lpstr>JIT – Just in Time</vt:lpstr>
      <vt:lpstr>JIT</vt:lpstr>
      <vt:lpstr>JIT</vt:lpstr>
      <vt:lpstr>JIT</vt:lpstr>
      <vt:lpstr>AOT vs JIT</vt:lpstr>
      <vt:lpstr>AOT – Ahead Of Time</vt:lpstr>
      <vt:lpstr>AOT – Ahead Of Time</vt:lpstr>
      <vt:lpstr>AOT</vt:lpstr>
      <vt:lpstr>AOT</vt:lpstr>
      <vt:lpstr>AOT</vt:lpstr>
      <vt:lpstr>Pipeline</vt:lpstr>
      <vt:lpstr>Particularidades</vt:lpstr>
      <vt:lpstr>Particularidades</vt:lpstr>
      <vt:lpstr>.JAR vs . APK</vt:lpstr>
      <vt:lpstr>OAT  Optimized ART File</vt:lpstr>
      <vt:lpstr>Dalvik</vt:lpstr>
      <vt:lpstr>Un poco de historia: La “Dalvik”</vt:lpstr>
      <vt:lpstr>ART: Android RunTime</vt:lpstr>
      <vt:lpstr>ART: Android RunTime</vt:lpstr>
      <vt:lpstr>AOT – Ahead of Time + JIT</vt:lpstr>
      <vt:lpstr>AOT – Ahead of Time + JIT</vt:lpstr>
      <vt:lpstr>Resumen</vt:lpstr>
      <vt:lpstr>JIT + AOT =  ART Android 7.0</vt:lpstr>
      <vt:lpstr>JIT + AOT =  ART Android 7.0</vt:lpstr>
      <vt:lpstr>JIT + AOT =  ART Android 7.0</vt:lpstr>
      <vt:lpstr>JIT + AOT =  ART Android 7.0</vt:lpstr>
      <vt:lpstr>Profile on Cloud</vt:lpstr>
      <vt:lpstr>Profile on Cloud: Workflow</vt:lpstr>
      <vt:lpstr>Profile on Cloud: Ventajas</vt:lpstr>
      <vt:lpstr>Build Pipeline (compilación y empaquetado)</vt:lpstr>
      <vt:lpstr>Build Pipeline (compilación y empaquetado)</vt:lpstr>
      <vt:lpstr>Runtime en dispositivo (ART), JIT &amp; AOT</vt:lpstr>
      <vt:lpstr>Runtime en dispositivo (ART), JIT &amp; AOT</vt:lpstr>
      <vt:lpstr>Runtime en dispositivo (ART), JIT &amp; AOT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Alejandro Francisco Peña</dc:creator>
  <cp:revision>4</cp:revision>
  <dcterms:created xsi:type="dcterms:W3CDTF">2025-04-06T23:40:59Z</dcterms:created>
  <dcterms:modified xsi:type="dcterms:W3CDTF">2026-04-29T23:23:33Z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0x010100B0A0978C92AED346A5B2D7523A4F38C1</vt:lpwstr>
  </property>
</Properties>
</file>