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0"/>
  </p:notesMasterIdLst>
  <p:sldIdLst>
    <p:sldId id="256" r:id="rId5"/>
    <p:sldId id="299" r:id="rId6"/>
    <p:sldId id="311" r:id="rId7"/>
    <p:sldId id="328" r:id="rId8"/>
    <p:sldId id="312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40" r:id="rId18"/>
    <p:sldId id="337" r:id="rId19"/>
    <p:sldId id="338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7" r:id="rId46"/>
    <p:sldId id="366" r:id="rId47"/>
    <p:sldId id="368" r:id="rId48"/>
    <p:sldId id="369" r:id="rId4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Droid Sans" panose="020B0604020202020204" charset="0"/>
      <p:regular r:id="rId55"/>
      <p:bold r:id="rId56"/>
    </p:embeddedFont>
    <p:embeddedFont>
      <p:font typeface="Montserrat" panose="020B060402020202020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61" roundtripDataSignature="AMtx7mjOP7cGgivDuzlB9SRjtX5sou0v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3C78C-029D-853B-4E44-7F3BADE816CB}" v="2" dt="2026-04-29T20:47:50.937"/>
    <p1510:client id="{8E1508E0-50E1-EA1E-31B5-39C08F6108FD}" v="6" dt="2026-04-29T22:13:08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RA NICOLAS" userId="S::nilovera@uade.edu.ar::8252c081-575c-4bf6-94f8-8ae327740985" providerId="AD" clId="Web-{B539B11B-A541-6FAD-9526-D1433573923E}"/>
    <pc:docChg chg="addSld delSld">
      <pc:chgData name="LOVERA NICOLAS" userId="S::nilovera@uade.edu.ar::8252c081-575c-4bf6-94f8-8ae327740985" providerId="AD" clId="Web-{B539B11B-A541-6FAD-9526-D1433573923E}" dt="2026-04-22T18:51:37.461" v="1"/>
      <pc:docMkLst>
        <pc:docMk/>
      </pc:docMkLst>
    </pc:docChg>
  </pc:docChgLst>
  <pc:docChgLst>
    <pc:chgData name="Nahuel Aylen Solana" userId="S::anahuel@uade.edu.ar::f56f7ce4-b87d-4aa7-b521-9cc1ee13b297" providerId="AD" clId="Web-{8E1508E0-50E1-EA1E-31B5-39C08F6108FD}"/>
    <pc:docChg chg="modSld">
      <pc:chgData name="Nahuel Aylen Solana" userId="S::anahuel@uade.edu.ar::f56f7ce4-b87d-4aa7-b521-9cc1ee13b297" providerId="AD" clId="Web-{8E1508E0-50E1-EA1E-31B5-39C08F6108FD}" dt="2026-04-29T22:13:08.582" v="4" actId="20577"/>
      <pc:docMkLst>
        <pc:docMk/>
      </pc:docMkLst>
      <pc:sldChg chg="modSp">
        <pc:chgData name="Nahuel Aylen Solana" userId="S::anahuel@uade.edu.ar::f56f7ce4-b87d-4aa7-b521-9cc1ee13b297" providerId="AD" clId="Web-{8E1508E0-50E1-EA1E-31B5-39C08F6108FD}" dt="2026-04-29T22:13:08.582" v="4" actId="20577"/>
        <pc:sldMkLst>
          <pc:docMk/>
          <pc:sldMk cId="745787504" sldId="342"/>
        </pc:sldMkLst>
        <pc:spChg chg="mod">
          <ac:chgData name="Nahuel Aylen Solana" userId="S::anahuel@uade.edu.ar::f56f7ce4-b87d-4aa7-b521-9cc1ee13b297" providerId="AD" clId="Web-{8E1508E0-50E1-EA1E-31B5-39C08F6108FD}" dt="2026-04-29T22:13:08.582" v="4" actId="20577"/>
          <ac:spMkLst>
            <pc:docMk/>
            <pc:sldMk cId="745787504" sldId="342"/>
            <ac:spMk id="3" creationId="{9A486695-A56F-717F-D9AD-5E95BE950505}"/>
          </ac:spMkLst>
        </pc:spChg>
      </pc:sldChg>
    </pc:docChg>
  </pc:docChgLst>
  <pc:docChgLst>
    <pc:chgData name="AVILAN CARLOS DANIEL" userId="S::cavilan@uade.edu.ar::358f44cf-cefa-4922-b13d-80779f62ff52" providerId="AD" clId="Web-{0DD3C78C-029D-853B-4E44-7F3BADE816CB}"/>
    <pc:docChg chg="modSld">
      <pc:chgData name="AVILAN CARLOS DANIEL" userId="S::cavilan@uade.edu.ar::358f44cf-cefa-4922-b13d-80779f62ff52" providerId="AD" clId="Web-{0DD3C78C-029D-853B-4E44-7F3BADE816CB}" dt="2026-04-29T20:47:50.921" v="1" actId="1076"/>
      <pc:docMkLst>
        <pc:docMk/>
      </pc:docMkLst>
      <pc:sldChg chg="modSp">
        <pc:chgData name="AVILAN CARLOS DANIEL" userId="S::cavilan@uade.edu.ar::358f44cf-cefa-4922-b13d-80779f62ff52" providerId="AD" clId="Web-{0DD3C78C-029D-853B-4E44-7F3BADE816CB}" dt="2026-04-29T20:47:50.921" v="1" actId="1076"/>
        <pc:sldMkLst>
          <pc:docMk/>
          <pc:sldMk cId="198536214" sldId="347"/>
        </pc:sldMkLst>
        <pc:spChg chg="mod">
          <ac:chgData name="AVILAN CARLOS DANIEL" userId="S::cavilan@uade.edu.ar::358f44cf-cefa-4922-b13d-80779f62ff52" providerId="AD" clId="Web-{0DD3C78C-029D-853B-4E44-7F3BADE816CB}" dt="2026-04-29T20:47:50.921" v="1" actId="1076"/>
          <ac:spMkLst>
            <pc:docMk/>
            <pc:sldMk cId="198536214" sldId="347"/>
            <ac:spMk id="3" creationId="{04807E9F-8E40-8117-22E8-15196AA3DD6E}"/>
          </ac:spMkLst>
        </pc:spChg>
      </pc:sldChg>
    </pc:docChg>
  </pc:docChgLst>
  <pc:docChgLst>
    <pc:chgData name="LOVERA NICOLAS" userId="S::nilovera@uade.edu.ar::8252c081-575c-4bf6-94f8-8ae327740985" providerId="AD" clId="Web-{0A11FABE-A231-488C-8FC6-9A2647D7C6E4}"/>
    <pc:docChg chg="modSld">
      <pc:chgData name="LOVERA NICOLAS" userId="S::nilovera@uade.edu.ar::8252c081-575c-4bf6-94f8-8ae327740985" providerId="AD" clId="Web-{0A11FABE-A231-488C-8FC6-9A2647D7C6E4}" dt="2026-04-02T00:11:29.201" v="0" actId="1076"/>
      <pc:docMkLst>
        <pc:docMk/>
      </pc:docMkLst>
      <pc:sldChg chg="modSp">
        <pc:chgData name="LOVERA NICOLAS" userId="S::nilovera@uade.edu.ar::8252c081-575c-4bf6-94f8-8ae327740985" providerId="AD" clId="Web-{0A11FABE-A231-488C-8FC6-9A2647D7C6E4}" dt="2026-04-02T00:11:29.201" v="0" actId="1076"/>
        <pc:sldMkLst>
          <pc:docMk/>
          <pc:sldMk cId="397824828" sldId="343"/>
        </pc:sldMkLst>
        <pc:spChg chg="mod">
          <ac:chgData name="LOVERA NICOLAS" userId="S::nilovera@uade.edu.ar::8252c081-575c-4bf6-94f8-8ae327740985" providerId="AD" clId="Web-{0A11FABE-A231-488C-8FC6-9A2647D7C6E4}" dt="2026-04-02T00:11:29.201" v="0" actId="1076"/>
          <ac:spMkLst>
            <pc:docMk/>
            <pc:sldMk cId="397824828" sldId="343"/>
            <ac:spMk id="3" creationId="{2D69D7FC-37CC-DC74-7E7B-E1F35322FF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631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D10A9A4-B62D-9976-DB45-5AD9A30E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6B618EB1-2D5C-179A-3601-035CF979E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30CAB1FB-448F-77C1-6464-713DB1BC0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420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952AB88-2574-7929-A330-71B97198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07E48B82-CA44-3A76-AE09-C80038C0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846F2354-8286-5BDD-BDE8-365053A8D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8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3EE313DC-E9A9-1A67-B474-C9D8F0CC4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26DC2AE3-0213-425D-E63B-12624BA27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D2F7FE3C-C332-A1F2-9586-6AA7FC04B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127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9A5F05D4-DE6F-8F44-3971-11483439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97599C7-7D27-A3D7-E1B4-6C1BC5C52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93F9C816-3AE2-D908-1E73-A67BC1ECF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7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F9EE60AB-0DE5-2A5E-3B45-D6E8FCC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78F0CD8-6466-D359-1DBE-E02E8DE8B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B4022647-A1E2-2E39-3C3E-7E97F7522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526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7EA174A9-3A83-1D45-9933-A9EEF849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BB02DC67-8CB3-8DE0-B31C-C5A138908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A8B0B89F-AC3C-1304-A9A9-8434A8D5C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316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EF05665-2179-784A-2854-C238F9F2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C8C2387B-CB65-1F79-3315-6B7CE5BB4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EF6DD7F5-2D25-0BB9-D37D-91D574BA6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38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43B7A89-6725-AFAE-D9B5-CF7F97BF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8675F546-839C-BFF9-5170-2B8D675F4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F8FA0DD-0715-7E86-154A-49574A282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586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D714AFCB-5548-08E5-97FB-43B4A715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EDBB7C02-CBF4-1C92-AC0F-D24D704C3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81B7E1F6-1E36-5AFE-D0F6-361F97245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78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326A10C2-305D-EBA0-D69C-15289743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78E3DB91-FF87-D697-0099-9621D09E1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C78AE5E6-D496-4B14-14C9-7DC752F7E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603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DA069C2A-CA7B-7C07-2739-6AAE259B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8C33CA2D-2E1A-C8C7-994B-FDFA72AA4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5572C7C5-DCB1-26E4-DDC1-B9C451494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763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301B1755-8835-9245-D0ED-D818A4E1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323D1016-DE57-39A9-C697-01D2A4A66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9EEAB096-7678-E7C1-87AC-F45BC410A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6819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E3D76842-C486-5CA3-C9CD-92BAF2C1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D8F6AE49-A260-13C6-7209-B151A41D1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879B8236-702D-37CD-9841-9B445190A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211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005F6B5B-6EE4-5170-3AF6-84102CA7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6E8D9CC9-4C46-9489-DA72-9E2B0A04C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A9713985-342D-9ADB-4174-0EE83D8FD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19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5F3F3CB1-C049-EEB0-08D2-856E00FD1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C4AF319F-EC55-EB1A-12AA-17A17EC49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DFED4749-163C-894F-27C1-C37463D9C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4492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535885BA-22AE-1DAD-E482-A1767C65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1E24EE5E-7EDA-3765-79A0-2ED504EF2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2332E614-C5FF-0C65-7E5E-159310326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463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0FC073C9-96EA-FC6B-D8E7-60EA202F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155EAACF-926F-F01D-2BE8-7FBBF3893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BF8BF51B-9868-B34D-6338-CFD0804FC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5111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BB56033-8495-FBE8-075A-793E0EC3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95A41E61-0759-E06D-3931-928AC189D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241D9EE8-2991-8AB9-9CEA-251AA80E7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166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5A2B513-02A4-D9EB-D61C-87F90190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46799FC6-9E10-5385-791D-FAFF4A1F2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1E01C35-245F-72F4-055D-5CF17EC18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6273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5787950-12D5-FC94-FF23-DDEB79AC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2BF6C5CF-79CE-D046-33D3-94172F8D1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557BA223-317B-D9A8-6518-A4169659E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4844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F9B1C577-A37B-758E-07EA-53B9F4F3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804BADDA-90A8-E0E2-F937-D9903FA57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4C858217-9C35-F22E-782F-5DC58AE35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803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4D0E90CB-EA2E-94D4-BBC2-11D2894C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7DAE8F36-FB90-A588-666F-EDFE2ADA2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00B61B25-5E4A-56AE-53EC-FDA588464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213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27BDA018-7EC1-C594-D035-2DD14988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98325D37-22A0-CCBB-070E-07B7A544E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92E0F516-164A-C87C-F749-FBFF8D5C2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454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C5FC8E3-783F-85D8-10E5-D583253D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4B71AF7A-084D-7455-FD79-BDA06C532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B4CAB31A-38F9-EDF6-AEB4-A978CFEA0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620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4DABDE6-0E91-D8FD-B7E7-9BD04B4A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D4EC5EDE-56D9-5B58-ED3B-7EAE46811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84CAB700-E9C4-D005-3CED-84FC8ABCE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999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CCFF4C92-B99D-296E-D736-F87EBEF2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DA73CF18-A4C5-5F7A-F58F-88EE90EA3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005D8472-E842-4A5C-7653-E4F8CB4FF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753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8A3AA24B-6026-586D-A126-8A7310E1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0AC6AF3-97F3-E184-5F64-ADD7A7E83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BA8C8E7-C58C-48E5-DBA9-BB37AB20A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747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72C3D76F-1064-73F8-FCB2-40D46CB2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BDB7B2F8-ED39-9E2C-61CF-2FB48A867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5911394-B956-D87B-17F7-592EB88AC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663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3294C10B-F7E9-0B45-C29A-6573F60B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5056A747-5FDC-B3BD-EB27-638B2E773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C499A02F-F9B0-DA83-BFFE-2F55CF360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1825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25E56EA5-6AF8-6FE9-A4E8-790353C0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3D1621A2-ACA6-6F9A-681C-2E116307C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58813A44-ADAF-1E4C-34DC-B92E932BC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0032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6293FD99-1965-091D-6877-8D42BB96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2A48BF1-7A3B-84DB-46B7-96E8F64B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7F38AEA7-2619-F4F5-A306-7C05536D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2508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F3E995DE-83A9-7566-6DDF-E2BAC8C6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8C4CA8F7-848A-0AED-40EE-B75BBE970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E118A11C-81D1-FF96-8C1E-C4CF2D8D5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843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1F7BE41B-F832-FC9D-D5C4-E1F1364D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F5063A67-B525-A5AF-3EFB-3E6C27F68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EA6DC4EB-86B3-4ED8-D76A-50175B5FF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0015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E94C021-A6C4-68A6-E1D5-E3AB3B62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0606DA62-863B-D10E-D31D-03A19414C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16F6C981-EA87-A1C9-4F7C-B229890CD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294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F92FE715-95C3-396F-53E5-83162112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CC29C974-FC57-FCE8-64B8-099F5C4D3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FB493D75-F536-0B53-E638-537EB1475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2966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36238F89-8740-E5AB-8471-67875D27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6C5E130B-BF1D-39EC-AA1A-3985BFDD0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AC18B02B-5136-C5A2-2D34-928756434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0539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FF9C4C4B-A6E2-84D2-2960-74D2B8CE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75054816-EF30-E4F6-98AD-897CF27CC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B42D448-5BE9-969E-DD7F-859BE9545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444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CE6A6157-47E1-115E-C952-3A7C6A61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D4D42AB-6D0A-09BC-E8E7-CB5B43471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1F90043D-6B66-71B0-23D9-CCB29940A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4222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17923387-66FA-23CE-0B29-6CAEF385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979FC903-819B-E956-EB90-B9EC14F5C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58F23D95-7B28-22EE-7721-5D7EBF96F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5618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752E7DD8-D163-21B3-6939-FFC3766B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63D23688-9D19-403A-735A-D0C946B2D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AE9996A4-CE53-2DD2-F4CF-28487E727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788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DD857DA9-AD09-B4AF-FD10-938DCA9B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C486BBDA-ECEC-63E1-C9B5-946B4C941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647EC80E-54CA-10E6-C240-7FA2D2CB9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215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6030C53C-F1BB-4EA7-4B39-849C74E5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298C3CAF-A475-C8AF-A61A-0DF0BD5A9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C50EEE93-5CDA-97AA-4840-AA8C6C24B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3211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5F953E46-E6A3-D94D-46EF-51024976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>
            <a:extLst>
              <a:ext uri="{FF2B5EF4-FFF2-40B4-BE49-F238E27FC236}">
                <a16:creationId xmlns:a16="http://schemas.microsoft.com/office/drawing/2014/main" id="{AD8AEA55-6F49-508F-0D37-0B1359726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3:notes">
            <a:extLst>
              <a:ext uri="{FF2B5EF4-FFF2-40B4-BE49-F238E27FC236}">
                <a16:creationId xmlns:a16="http://schemas.microsoft.com/office/drawing/2014/main" id="{BCB3FABB-6E6D-229A-4D45-12E9E11CC4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68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34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22" y="69368"/>
            <a:ext cx="1524412" cy="74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 descr="A colorful square with white letters and a yellow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8543" y="192222"/>
            <a:ext cx="545111" cy="4977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668FE88-E753-883C-3157-C2E18AAD2D6D}"/>
              </a:ext>
            </a:extLst>
          </p:cNvPr>
          <p:cNvSpPr txBox="1"/>
          <p:nvPr/>
        </p:nvSpPr>
        <p:spPr>
          <a:xfrm>
            <a:off x="519725" y="1419921"/>
            <a:ext cx="826700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Sistemas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Operativos</a:t>
            </a:r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Móviles</a:t>
            </a:r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 y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Plataformas</a:t>
            </a:r>
            <a:endParaRPr lang="en-US" sz="2800" b="1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endParaRPr lang="en-US" sz="24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Desarrollo de </a:t>
            </a:r>
            <a:r>
              <a:rPr lang="en-US" sz="2400" err="1">
                <a:solidFill>
                  <a:schemeClr val="bg1"/>
                </a:solidFill>
                <a:latin typeface="Montserrat" panose="00000500000000000000" pitchFamily="2" charset="0"/>
              </a:rPr>
              <a:t>Aplicaciones</a:t>
            </a:r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 para </a:t>
            </a:r>
            <a:r>
              <a:rPr lang="en-US" sz="2400" err="1">
                <a:solidFill>
                  <a:schemeClr val="bg1"/>
                </a:solidFill>
                <a:latin typeface="Montserrat" panose="00000500000000000000" pitchFamily="2" charset="0"/>
              </a:rPr>
              <a:t>Dispositivos</a:t>
            </a:r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Montserrat" panose="00000500000000000000" pitchFamily="2" charset="0"/>
              </a:rPr>
              <a:t>Móviles</a:t>
            </a:r>
            <a:endParaRPr lang="en-US" sz="24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endParaRPr lang="en-US" sz="20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Montserrat" panose="00000500000000000000" pitchFamily="2" charset="0"/>
              </a:rPr>
              <a:t>Carrera de Desarrollo de Software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Montserrat" panose="00000500000000000000" pitchFamily="2" charset="0"/>
              </a:rPr>
              <a:t>2° </a:t>
            </a:r>
            <a:r>
              <a:rPr lang="en-US" sz="2000" err="1">
                <a:solidFill>
                  <a:schemeClr val="bg1"/>
                </a:solidFill>
                <a:latin typeface="Montserrat" panose="00000500000000000000" pitchFamily="2" charset="0"/>
              </a:rPr>
              <a:t>Año</a:t>
            </a:r>
            <a:r>
              <a:rPr lang="en-US" sz="200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Montserrat" panose="00000500000000000000" pitchFamily="2" charset="0"/>
              </a:rPr>
              <a:t>Comisión</a:t>
            </a:r>
            <a:r>
              <a:rPr lang="en-US" sz="2000">
                <a:solidFill>
                  <a:schemeClr val="bg1"/>
                </a:solidFill>
                <a:latin typeface="Montserrat" panose="00000500000000000000" pitchFamily="2" charset="0"/>
              </a:rPr>
              <a:t> “A” - 2025</a:t>
            </a:r>
            <a:endParaRPr lang="en-US" sz="12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s-MX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018FA45-3F61-13BB-A4FD-3AF8A8C6BB41}"/>
              </a:ext>
            </a:extLst>
          </p:cNvPr>
          <p:cNvSpPr txBox="1"/>
          <p:nvPr/>
        </p:nvSpPr>
        <p:spPr>
          <a:xfrm>
            <a:off x="355339" y="1003465"/>
            <a:ext cx="144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Agenda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A2A8F5-3B08-1949-5E67-1F60AAF8E429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C1351A-D417-42A9-6CB2-27D1A72E3D03}"/>
              </a:ext>
            </a:extLst>
          </p:cNvPr>
          <p:cNvSpPr txBox="1"/>
          <p:nvPr/>
        </p:nvSpPr>
        <p:spPr>
          <a:xfrm>
            <a:off x="449474" y="1873405"/>
            <a:ext cx="82450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latin typeface="Montserrat" panose="00000500000000000000" pitchFamily="2" charset="0"/>
              </a:rPr>
              <a:t>Sistema Operativo Móvil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latin typeface="Montserrat" panose="00000500000000000000" pitchFamily="2" charset="0"/>
              </a:rPr>
              <a:t>Diferencia con SO escritorio.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latin typeface="Montserrat" panose="00000500000000000000" pitchFamily="2" charset="0"/>
              </a:rPr>
              <a:t>Sistemas Operativos más allá de iOS y Android en la actualidad.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latin typeface="Montserrat" panose="00000500000000000000" pitchFamily="2" charset="0"/>
              </a:rPr>
              <a:t>Android como SO.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latin typeface="Montserrat" panose="00000500000000000000" pitchFamily="2" charset="0"/>
              </a:rPr>
              <a:t>Impacto del SO en los dispositivos móviles.</a:t>
            </a:r>
          </a:p>
          <a:p>
            <a:pPr marL="342900" indent="-342900">
              <a:buFont typeface="+mj-lt"/>
              <a:buAutoNum type="arabicPeriod"/>
            </a:pPr>
            <a:endParaRPr lang="es-MX" sz="1600"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8BA1F05-977C-7D7D-248D-B50E03F55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408DEB-F343-ED68-42A3-912887F98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1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AC03554C-7DA7-72F3-87D1-D71BEEF1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73165046-7B3A-B6F3-12ED-29F38FE24E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B1DA249-8DC7-385E-90E0-D0857061A3BF}"/>
              </a:ext>
            </a:extLst>
          </p:cNvPr>
          <p:cNvSpPr txBox="1"/>
          <p:nvPr/>
        </p:nvSpPr>
        <p:spPr>
          <a:xfrm>
            <a:off x="155959" y="819114"/>
            <a:ext cx="1574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Android 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7E0121-A70E-FB01-9C22-34FFB8EF919A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A31EDB-564F-EED9-6167-07097A91514F}"/>
              </a:ext>
            </a:extLst>
          </p:cNvPr>
          <p:cNvSpPr txBox="1"/>
          <p:nvPr/>
        </p:nvSpPr>
        <p:spPr>
          <a:xfrm>
            <a:off x="449474" y="1280779"/>
            <a:ext cx="82450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latin typeface="Montserrat" panose="00000500000000000000" pitchFamily="2" charset="0"/>
              </a:rPr>
              <a:t>Andy </a:t>
            </a:r>
            <a:r>
              <a:rPr lang="es-MX" err="1">
                <a:latin typeface="Montserrat" panose="00000500000000000000" pitchFamily="2" charset="0"/>
              </a:rPr>
              <a:t>Rubin</a:t>
            </a:r>
            <a:r>
              <a:rPr lang="es-MX">
                <a:latin typeface="Montserrat" panose="00000500000000000000" pitchFamily="2" charset="0"/>
              </a:rPr>
              <a:t>, un trabajador de Apple Co. se encontraba </a:t>
            </a:r>
            <a:r>
              <a:rPr lang="es-MX" err="1">
                <a:latin typeface="Montserrat" panose="00000500000000000000" pitchFamily="2" charset="0"/>
              </a:rPr>
              <a:t>fasinado</a:t>
            </a:r>
            <a:r>
              <a:rPr lang="es-MX">
                <a:latin typeface="Montserrat" panose="00000500000000000000" pitchFamily="2" charset="0"/>
              </a:rPr>
              <a:t> por los robots, tal así que sus compañeros comenzaron a llamarle Android como apodo.</a:t>
            </a:r>
          </a:p>
          <a:p>
            <a:endParaRPr lang="es-MX">
              <a:latin typeface="Montserrat" panose="00000500000000000000" pitchFamily="2" charset="0"/>
            </a:endParaRPr>
          </a:p>
          <a:p>
            <a:r>
              <a:rPr lang="es-MX">
                <a:latin typeface="Montserrat" panose="00000500000000000000" pitchFamily="2" charset="0"/>
              </a:rPr>
              <a:t>Sin embargo, recién en 2003, </a:t>
            </a:r>
            <a:r>
              <a:rPr lang="en-US">
                <a:latin typeface="Montserrat" panose="00000500000000000000" pitchFamily="2" charset="0"/>
              </a:rPr>
              <a:t>Rich Miner, Nick Sears, Chris White, and Andy Rubin </a:t>
            </a:r>
            <a:r>
              <a:rPr lang="en-US" err="1">
                <a:latin typeface="Montserrat" panose="00000500000000000000" pitchFamily="2" charset="0"/>
              </a:rPr>
              <a:t>fundaron</a:t>
            </a:r>
            <a:r>
              <a:rPr lang="en-US">
                <a:latin typeface="Montserrat" panose="00000500000000000000" pitchFamily="2" charset="0"/>
              </a:rPr>
              <a:t> </a:t>
            </a:r>
            <a:r>
              <a:rPr lang="en-US" err="1">
                <a:latin typeface="Montserrat" panose="00000500000000000000" pitchFamily="2" charset="0"/>
              </a:rPr>
              <a:t>una</a:t>
            </a:r>
            <a:r>
              <a:rPr lang="en-US">
                <a:latin typeface="Montserrat" panose="00000500000000000000" pitchFamily="2" charset="0"/>
              </a:rPr>
              <a:t> </a:t>
            </a:r>
            <a:r>
              <a:rPr lang="en-US" err="1">
                <a:latin typeface="Montserrat" panose="00000500000000000000" pitchFamily="2" charset="0"/>
              </a:rPr>
              <a:t>empresa</a:t>
            </a:r>
            <a:r>
              <a:rPr lang="en-US">
                <a:latin typeface="Montserrat" panose="00000500000000000000" pitchFamily="2" charset="0"/>
              </a:rPr>
              <a:t> </a:t>
            </a:r>
            <a:r>
              <a:rPr lang="en-US" err="1">
                <a:latin typeface="Montserrat" panose="00000500000000000000" pitchFamily="2" charset="0"/>
              </a:rPr>
              <a:t>llamada</a:t>
            </a:r>
            <a:r>
              <a:rPr lang="en-US">
                <a:latin typeface="Montserrat" panose="00000500000000000000" pitchFamily="2" charset="0"/>
              </a:rPr>
              <a:t> Android Inc. </a:t>
            </a:r>
          </a:p>
          <a:p>
            <a:endParaRPr lang="en-US">
              <a:latin typeface="Montserrat" panose="00000500000000000000" pitchFamily="2" charset="0"/>
            </a:endParaRPr>
          </a:p>
          <a:p>
            <a:endParaRPr lang="en-US">
              <a:latin typeface="Montserrat" panose="00000500000000000000" pitchFamily="2" charset="0"/>
            </a:endParaRPr>
          </a:p>
          <a:p>
            <a:endParaRPr lang="es-MX"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2CD783-9D93-0477-03A3-182149775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A748D33-DB7A-BD3A-D387-555CD85A3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1028" name="Picture 4" descr="Andy Rubin: “La evolución de Android es colectiva” | Tecnología | EL PAÍS">
            <a:extLst>
              <a:ext uri="{FF2B5EF4-FFF2-40B4-BE49-F238E27FC236}">
                <a16:creationId xmlns:a16="http://schemas.microsoft.com/office/drawing/2014/main" id="{9D2A5B4E-4F49-970F-5C32-EF438DF58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34" y="2985651"/>
            <a:ext cx="1695233" cy="186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droid Cofounder Nick Sears professional bio | Big Career - Big Career">
            <a:extLst>
              <a:ext uri="{FF2B5EF4-FFF2-40B4-BE49-F238E27FC236}">
                <a16:creationId xmlns:a16="http://schemas.microsoft.com/office/drawing/2014/main" id="{A641F42A-D928-750B-1453-68F1A2629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827" y="2985651"/>
            <a:ext cx="1843911" cy="184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ris White – Wireless History Foundation">
            <a:extLst>
              <a:ext uri="{FF2B5EF4-FFF2-40B4-BE49-F238E27FC236}">
                <a16:creationId xmlns:a16="http://schemas.microsoft.com/office/drawing/2014/main" id="{229946A8-C987-9F20-5A5C-75B6CAF60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264" y="2977252"/>
            <a:ext cx="1748067" cy="185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ich Miner's Investing Profile - Advisor | Signal">
            <a:extLst>
              <a:ext uri="{FF2B5EF4-FFF2-40B4-BE49-F238E27FC236}">
                <a16:creationId xmlns:a16="http://schemas.microsoft.com/office/drawing/2014/main" id="{03B6D874-9D0A-B845-3558-667E899B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149" y="2977252"/>
            <a:ext cx="1877908" cy="187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36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7FDB6366-1809-ED8C-658D-8068596D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24FE7DBC-0852-4E07-9AA5-F518BC1244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5391677-813D-1749-15BD-BC3861CA506D}"/>
              </a:ext>
            </a:extLst>
          </p:cNvPr>
          <p:cNvSpPr txBox="1"/>
          <p:nvPr/>
        </p:nvSpPr>
        <p:spPr>
          <a:xfrm>
            <a:off x="155959" y="819114"/>
            <a:ext cx="2783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Android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en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1989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A24281-F902-23A2-4EF9-7D5D33C24DE7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E8D20FB-22A5-F4D1-E9E6-FEC8A93C2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F21446-9265-D801-2A4D-F5E8537B8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1026" name="Picture 2" descr="Android Software Development History - Beginning">
            <a:extLst>
              <a:ext uri="{FF2B5EF4-FFF2-40B4-BE49-F238E27FC236}">
                <a16:creationId xmlns:a16="http://schemas.microsoft.com/office/drawing/2014/main" id="{8AB0BF1B-8037-6255-869C-AEE93D43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723" y="2309341"/>
            <a:ext cx="3577787" cy="259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7D12EA-069A-581A-AD44-F9B15DFB3DB2}"/>
              </a:ext>
            </a:extLst>
          </p:cNvPr>
          <p:cNvSpPr txBox="1"/>
          <p:nvPr/>
        </p:nvSpPr>
        <p:spPr>
          <a:xfrm>
            <a:off x="670033" y="1527036"/>
            <a:ext cx="8150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/>
              <a:t>Objetivo original: </a:t>
            </a:r>
            <a:r>
              <a:rPr lang="es-ES"/>
              <a:t>desarrollar un sistema operativo avanzado para cámaras digitales, pero rápidamente cambiaron el foco hacia los teléfonos móviles.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96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BFDDF76-67CA-80CE-8A46-60CA65C7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9996EDAA-716A-1E33-899C-3C83200935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B4ACFBC-1DDE-D947-B39C-361C100825FD}"/>
              </a:ext>
            </a:extLst>
          </p:cNvPr>
          <p:cNvSpPr txBox="1"/>
          <p:nvPr/>
        </p:nvSpPr>
        <p:spPr>
          <a:xfrm>
            <a:off x="155959" y="819114"/>
            <a:ext cx="281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La gran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compra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!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BDCFF1B-627E-824F-5A07-EEC8C68D4BBC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60C499-B1D4-9586-989C-75D852019C33}"/>
              </a:ext>
            </a:extLst>
          </p:cNvPr>
          <p:cNvSpPr txBox="1"/>
          <p:nvPr/>
        </p:nvSpPr>
        <p:spPr>
          <a:xfrm>
            <a:off x="449474" y="1739063"/>
            <a:ext cx="82450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>
                <a:latin typeface="Montserrat" panose="00000500000000000000" pitchFamily="2" charset="0"/>
              </a:rPr>
              <a:t>Google compra Android Inc. en julio de 2005.</a:t>
            </a:r>
          </a:p>
          <a:p>
            <a:endParaRPr lang="es-ES" sz="1800">
              <a:latin typeface="Montserrat" panose="00000500000000000000" pitchFamily="2" charset="0"/>
            </a:endParaRPr>
          </a:p>
          <a:p>
            <a:r>
              <a:rPr lang="es-ES" sz="1800" err="1">
                <a:latin typeface="Montserrat" panose="00000500000000000000" pitchFamily="2" charset="0"/>
              </a:rPr>
              <a:t>Rubin</a:t>
            </a:r>
            <a:r>
              <a:rPr lang="es-ES" sz="1800">
                <a:latin typeface="Montserrat" panose="00000500000000000000" pitchFamily="2" charset="0"/>
              </a:rPr>
              <a:t> y su equipo se suman a Google como colaboradores.</a:t>
            </a:r>
          </a:p>
          <a:p>
            <a:endParaRPr lang="es-ES" sz="1800">
              <a:latin typeface="Montserrat" panose="00000500000000000000" pitchFamily="2" charset="0"/>
            </a:endParaRPr>
          </a:p>
          <a:p>
            <a:r>
              <a:rPr lang="es-ES" sz="1800">
                <a:latin typeface="Montserrat" panose="00000500000000000000" pitchFamily="2" charset="0"/>
              </a:rPr>
              <a:t>Durante un tiempo el proyecto se mantuvo en secreto.</a:t>
            </a:r>
          </a:p>
          <a:p>
            <a:endParaRPr lang="es-ES" sz="1800">
              <a:latin typeface="Montserrat" panose="00000500000000000000" pitchFamily="2" charset="0"/>
            </a:endParaRPr>
          </a:p>
          <a:p>
            <a:r>
              <a:rPr lang="es-ES" sz="1800">
                <a:latin typeface="Montserrat" panose="00000500000000000000" pitchFamily="2" charset="0"/>
              </a:rPr>
              <a:t>Google tenía la visión de competir con los grandes </a:t>
            </a:r>
            <a:r>
              <a:rPr lang="es-ES" sz="1800" err="1">
                <a:latin typeface="Montserrat" panose="00000500000000000000" pitchFamily="2" charset="0"/>
              </a:rPr>
              <a:t>players</a:t>
            </a:r>
            <a:r>
              <a:rPr lang="es-ES" sz="1800">
                <a:latin typeface="Montserrat" panose="00000500000000000000" pitchFamily="2" charset="0"/>
              </a:rPr>
              <a:t> móviles (como Nokia y BlackBerry) creando un sistema operativo abierto y flexible.</a:t>
            </a:r>
            <a:endParaRPr lang="es-MX" sz="1800"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A4799D-A486-2665-9671-60C6EB324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1BBD9D-3CDA-F257-6DC1-2BAFB172E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3077" name="Picture 5" descr="Android ya es el segundo SO móvil preferido en Europa - MuyLinux">
            <a:extLst>
              <a:ext uri="{FF2B5EF4-FFF2-40B4-BE49-F238E27FC236}">
                <a16:creationId xmlns:a16="http://schemas.microsoft.com/office/drawing/2014/main" id="{2C388594-8B41-3E08-B24D-1A9A5F5D5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664" y="4246541"/>
            <a:ext cx="1067629" cy="8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68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39DCAC09-34E7-B2CB-F849-83445BDC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0F148753-6FD7-7CA7-0CF4-25D7CF04C9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657DDBF-CD40-5517-5DDE-D143EFF4F57E}"/>
              </a:ext>
            </a:extLst>
          </p:cNvPr>
          <p:cNvSpPr txBox="1"/>
          <p:nvPr/>
        </p:nvSpPr>
        <p:spPr>
          <a:xfrm>
            <a:off x="155959" y="819114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MarketShare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2004 - 2012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1F0EE3-C652-E634-92C7-01564D397239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1FC01B-3AE5-B47F-B84D-75C6B2B44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9F0055-4FF6-01BB-273E-2AFD19DB2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4098" name="Picture 2" descr="Android before Android': The long, strange history of Symbian and why it  matters for Nokia's future | ZDNET">
            <a:extLst>
              <a:ext uri="{FF2B5EF4-FFF2-40B4-BE49-F238E27FC236}">
                <a16:creationId xmlns:a16="http://schemas.microsoft.com/office/drawing/2014/main" id="{70A98217-A506-C0E9-F280-A726C269A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55" y="1504703"/>
            <a:ext cx="6440214" cy="325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37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9B864BD8-3FAE-C508-FB72-19AA7CF96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38F0F0CF-FC53-86DA-4553-FEE81F116C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40B5742-6BD7-BBD9-20FD-D6FD485FD260}"/>
              </a:ext>
            </a:extLst>
          </p:cNvPr>
          <p:cNvSpPr txBox="1"/>
          <p:nvPr/>
        </p:nvSpPr>
        <p:spPr>
          <a:xfrm>
            <a:off x="155959" y="819114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MarketShare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2004 - 2012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AFEC8CB-C5F2-A56F-CA00-D2CB52125930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E0236E9-2A48-17D6-CD28-39F24FFDB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025CCCF-C538-7022-6D58-0B644EF9E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5122" name="Picture 2" descr="Mobile phones produced per year -Source [3] | Download Scientific Diagram">
            <a:extLst>
              <a:ext uri="{FF2B5EF4-FFF2-40B4-BE49-F238E27FC236}">
                <a16:creationId xmlns:a16="http://schemas.microsoft.com/office/drawing/2014/main" id="{5F2BA503-EB06-D99B-6807-16A570ECE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280779"/>
            <a:ext cx="72199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22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E3DBF9E-4D78-6E8F-74C8-6ACB0580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DC1C30C6-B170-5006-F167-AB7D4C46EB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386118F-5F23-2277-84D9-DB559EE6805D}"/>
              </a:ext>
            </a:extLst>
          </p:cNvPr>
          <p:cNvSpPr txBox="1"/>
          <p:nvPr/>
        </p:nvSpPr>
        <p:spPr>
          <a:xfrm>
            <a:off x="155959" y="819114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MarketShare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2011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9B8622-6FE5-0858-CC5C-BD6324BF8EF3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B0314A-89BA-9191-20A6-068014982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C0EE38-2182-3CBD-59A4-D8478CEF6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7BCC1C94-7F81-76CA-7FDB-A4E22428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31" y="1485101"/>
            <a:ext cx="5214937" cy="348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30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16A2A6A8-B028-4FFD-8F58-04134A53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FD3A59A8-41F0-3462-B68B-2FFE2A8F5D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84A7947-E6CA-A0F3-779D-54F98EBAF6FA}"/>
              </a:ext>
            </a:extLst>
          </p:cNvPr>
          <p:cNvSpPr txBox="1"/>
          <p:nvPr/>
        </p:nvSpPr>
        <p:spPr>
          <a:xfrm>
            <a:off x="155959" y="819114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MarketShare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2011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C78292-B4C5-0102-47B5-248B9ECBE53A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57CCB7-6610-B291-0CED-94E9A8FEE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C96387-3BAF-4485-87E1-727F607B5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8412F558-666D-7A78-6889-3A180DF30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8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252BBF7D-31FF-9919-8E9B-397AE38BB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7C1F7B90-C5F1-32A3-0A57-0B5320C755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7B41F76-9960-9CB7-5257-2DC0850CB0CD}"/>
              </a:ext>
            </a:extLst>
          </p:cNvPr>
          <p:cNvSpPr txBox="1"/>
          <p:nvPr/>
        </p:nvSpPr>
        <p:spPr>
          <a:xfrm>
            <a:off x="155959" y="819114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MarketShare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2011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380922-2B7A-8EF8-8D51-FB220809143F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D1452E-7D28-F377-BE86-8D7CED952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6A0CD2-3692-9074-87F3-94FFE920F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799366E-EFD6-99BD-E309-BDB6A45E3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75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5D2ECFE-9CBD-6570-F31C-06CABD0A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F146BB1A-908F-B10C-F650-51C7CF5DB9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870BA5B-BD2B-FDB6-3C5D-7DB4E0FB607F}"/>
              </a:ext>
            </a:extLst>
          </p:cNvPr>
          <p:cNvSpPr txBox="1"/>
          <p:nvPr/>
        </p:nvSpPr>
        <p:spPr>
          <a:xfrm>
            <a:off x="155959" y="819114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El mercado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mundial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a hoy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F8BB1C-B7C0-83EB-EFA2-12355348DFA3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D23D6F7-1BDA-7B44-76E6-922042270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AA40F0D-2282-C1DC-3A17-7EA87198F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7170" name="Picture 2" descr="Android Phones Statistics">
            <a:extLst>
              <a:ext uri="{FF2B5EF4-FFF2-40B4-BE49-F238E27FC236}">
                <a16:creationId xmlns:a16="http://schemas.microsoft.com/office/drawing/2014/main" id="{2B7A8352-DA57-A8DF-CC26-9450CCA05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56" y="1504703"/>
            <a:ext cx="5998286" cy="361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25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50E2E02D-4157-5BB3-F9DA-518DC7A3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9CF7ECBF-1633-062A-0662-0D99D45E7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7163173-87B2-54E0-63C3-A45824F045DA}"/>
              </a:ext>
            </a:extLst>
          </p:cNvPr>
          <p:cNvSpPr txBox="1"/>
          <p:nvPr/>
        </p:nvSpPr>
        <p:spPr>
          <a:xfrm>
            <a:off x="155959" y="819114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El mercado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mundial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a hoy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B7B603-D539-BEAD-EFD6-203EA62C4A66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4F8C2C4-D740-5F3E-8DBF-CE3010B39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36EB706-93D3-986B-7905-495FB2B87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F60490B2-8F7D-16B4-6971-9F9B9583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011" y="1466804"/>
            <a:ext cx="4611085" cy="350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12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CE320C05-49F5-2F1D-21D9-C3C69D27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FBC10629-B357-1A29-92FB-095497E261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32D3FD1-021D-237C-6187-DEF1505EF0C2}"/>
              </a:ext>
            </a:extLst>
          </p:cNvPr>
          <p:cNvSpPr txBox="1"/>
          <p:nvPr/>
        </p:nvSpPr>
        <p:spPr>
          <a:xfrm>
            <a:off x="155959" y="819114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El mercado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mundial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a hoy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2385EFC-F481-C8C9-437B-3606CFC4FAD3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9C46B93-CE38-C06A-AB97-CE31DF1A0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B7F567-E909-1350-76AA-D0D2E1D0A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BACE20-C87D-997D-CE51-380704160CA6}"/>
              </a:ext>
            </a:extLst>
          </p:cNvPr>
          <p:cNvSpPr txBox="1"/>
          <p:nvPr/>
        </p:nvSpPr>
        <p:spPr>
          <a:xfrm>
            <a:off x="602130" y="1606687"/>
            <a:ext cx="793973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En 2021, los teléfonos con Android mantuvieron una participación significativa del 83,32% en el mercado de sistemas operativos móviles.</a:t>
            </a:r>
          </a:p>
          <a:p>
            <a:endParaRPr lang="es-ES" sz="1600"/>
          </a:p>
          <a:p>
            <a:r>
              <a:rPr lang="es-ES" sz="1600"/>
              <a:t>El principal actor del mercado fue Samsung, con una participación destacada del 35,3%.</a:t>
            </a:r>
          </a:p>
          <a:p>
            <a:endParaRPr lang="es-ES" sz="1600"/>
          </a:p>
          <a:p>
            <a:r>
              <a:rPr lang="es-ES" sz="1600"/>
              <a:t>En 2022, la base de usuarios de Android alcanzó los 3.100 millones, lo que refleja la demanda global, persistente y generalizada del sistema operativo Android.</a:t>
            </a:r>
          </a:p>
          <a:p>
            <a:endParaRPr lang="es-ES" sz="1600"/>
          </a:p>
          <a:p>
            <a:r>
              <a:rPr lang="es-ES" sz="1600"/>
              <a:t>Entre las versiones de Android, a julio de 2022, Android 11 tenía una participación relevante del 29,63%, seguido de cerca por Android 12 con un 20,68%.</a:t>
            </a:r>
            <a:endParaRPr lang="es-AR" sz="1600"/>
          </a:p>
        </p:txBody>
      </p:sp>
    </p:spTree>
    <p:extLst>
      <p:ext uri="{BB962C8B-B14F-4D97-AF65-F5344CB8AC3E}">
        <p14:creationId xmlns:p14="http://schemas.microsoft.com/office/powerpoint/2010/main" val="409660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81B527C4-EEE1-56BE-7E28-949CD32C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254A6EF4-9CA0-B9E5-DFD7-D40AF8D390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AD7B4C2-848B-E6B5-96CA-E56C1C5CE444}"/>
              </a:ext>
            </a:extLst>
          </p:cNvPr>
          <p:cNvSpPr txBox="1"/>
          <p:nvPr/>
        </p:nvSpPr>
        <p:spPr>
          <a:xfrm>
            <a:off x="155959" y="819114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El mercado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mundial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a hoy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E0B551-49BA-0305-FD02-A85AD85C606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30C421-5809-4DCF-6EED-52D579760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2BE8DB-D06C-53AF-17E4-F56AB06B3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063E99-CC7F-4C32-1777-B984E17CD9BF}"/>
              </a:ext>
            </a:extLst>
          </p:cNvPr>
          <p:cNvSpPr txBox="1"/>
          <p:nvPr/>
        </p:nvSpPr>
        <p:spPr>
          <a:xfrm>
            <a:off x="602130" y="1606687"/>
            <a:ext cx="7939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Android es el sistema operativo móvil más utilizado del mundo, con miles de millones de dispositivos activos.</a:t>
            </a:r>
          </a:p>
          <a:p>
            <a:endParaRPr lang="es-ES" sz="1600"/>
          </a:p>
          <a:p>
            <a:r>
              <a:rPr lang="es-ES" sz="1600"/>
              <a:t>Se usa no solo en teléfonos, sino también 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err="1"/>
              <a:t>Tablets</a:t>
            </a:r>
            <a:endParaRPr 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/>
              <a:t>Smart </a:t>
            </a:r>
            <a:r>
              <a:rPr lang="es-ES" sz="1600" err="1"/>
              <a:t>TVs</a:t>
            </a:r>
            <a:r>
              <a:rPr lang="es-ES" sz="1600"/>
              <a:t> (Android TV / Google TV)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/>
              <a:t>Autos (Android Auto)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/>
              <a:t>Dispositivos </a:t>
            </a:r>
            <a:r>
              <a:rPr lang="es-ES" sz="1600" err="1"/>
              <a:t>IoT</a:t>
            </a:r>
            <a:r>
              <a:rPr lang="es-ES" sz="1600"/>
              <a:t> (</a:t>
            </a:r>
            <a:r>
              <a:rPr lang="es-ES" sz="1600" err="1"/>
              <a:t>WearOS</a:t>
            </a:r>
            <a:r>
              <a:rPr lang="es-ES" sz="16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/>
              <a:t>Dispositivos industriales</a:t>
            </a:r>
            <a:endParaRPr lang="es-AR" sz="1600"/>
          </a:p>
        </p:txBody>
      </p:sp>
    </p:spTree>
    <p:extLst>
      <p:ext uri="{BB962C8B-B14F-4D97-AF65-F5344CB8AC3E}">
        <p14:creationId xmlns:p14="http://schemas.microsoft.com/office/powerpoint/2010/main" val="426511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F04BB90-BD91-565D-F16A-463D5D77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0B989C32-B837-AFB9-5C1D-0F76F9372A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120B1E-1E85-EFFA-D7EF-8A60214EB0CC}"/>
              </a:ext>
            </a:extLst>
          </p:cNvPr>
          <p:cNvSpPr txBox="1"/>
          <p:nvPr/>
        </p:nvSpPr>
        <p:spPr>
          <a:xfrm>
            <a:off x="155959" y="819114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Acerca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Android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1BA0098-FE82-13E8-78DA-8FAA1FDEE7D1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9707A9-FCCA-9838-37F2-566B50670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DB2EA2D-38CF-F7FD-D095-B11046B1B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EFD55-8AC7-8B19-DB6D-735D9465A8EC}"/>
              </a:ext>
            </a:extLst>
          </p:cNvPr>
          <p:cNvSpPr txBox="1"/>
          <p:nvPr/>
        </p:nvSpPr>
        <p:spPr>
          <a:xfrm>
            <a:off x="602130" y="1606687"/>
            <a:ext cx="79397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/>
              <a:t>Android se hizo famoso por nombrar cada versión con un nombre de postre, en orden alfabético: </a:t>
            </a:r>
            <a:r>
              <a:rPr lang="es-ES" sz="1800" err="1"/>
              <a:t>Cupcake</a:t>
            </a:r>
            <a:r>
              <a:rPr lang="es-ES" sz="1800"/>
              <a:t> (1.5), Donut, </a:t>
            </a:r>
            <a:r>
              <a:rPr lang="es-ES" sz="1800" err="1"/>
              <a:t>Eclair</a:t>
            </a:r>
            <a:r>
              <a:rPr lang="es-ES" sz="1800"/>
              <a:t>, </a:t>
            </a:r>
            <a:r>
              <a:rPr lang="es-ES" sz="1800" err="1"/>
              <a:t>Froyo</a:t>
            </a:r>
            <a:r>
              <a:rPr lang="es-ES" sz="1800"/>
              <a:t>, </a:t>
            </a:r>
            <a:r>
              <a:rPr lang="es-ES" sz="1800" err="1"/>
              <a:t>Gingerbread</a:t>
            </a:r>
            <a:r>
              <a:rPr lang="es-ES" sz="1800"/>
              <a:t>... hasta Pie, Oreo, etc.</a:t>
            </a:r>
          </a:p>
          <a:p>
            <a:endParaRPr lang="es-ES" sz="1800"/>
          </a:p>
          <a:p>
            <a:r>
              <a:rPr lang="es-ES" sz="1800"/>
              <a:t>A partir de Android 10 (2019) se eliminan los nombres de postres oficialmente y se usa numeración directa.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28823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46DDE02-A4B6-5CFC-2F40-231D237C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E0C79129-1BB4-9F6F-03EC-1C2C235D28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4907E51-C14B-7DB4-C202-1634D8F93CB7}"/>
              </a:ext>
            </a:extLst>
          </p:cNvPr>
          <p:cNvSpPr txBox="1"/>
          <p:nvPr/>
        </p:nvSpPr>
        <p:spPr>
          <a:xfrm>
            <a:off x="155959" y="819114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Acerca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Android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FEB6507-2A6E-3FD2-A3D8-E772C5659EEA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E7E1F0-202B-FD61-A6F6-8AB12E455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C9A610-AB46-01C7-9B04-14821F7DE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9218" name="Picture 2" descr="Blog elhacker.NET: Todas las versiones de Android">
            <a:extLst>
              <a:ext uri="{FF2B5EF4-FFF2-40B4-BE49-F238E27FC236}">
                <a16:creationId xmlns:a16="http://schemas.microsoft.com/office/drawing/2014/main" id="{5F1D13ED-1A76-B0E4-010C-6240EDA5F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492941"/>
            <a:ext cx="47625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150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345"/>
        </a:solidFill>
        <a:effectLst/>
      </p:bgPr>
    </p:bg>
    <p:spTree>
      <p:nvGrpSpPr>
        <p:cNvPr id="1" name="Shape 50">
          <a:extLst>
            <a:ext uri="{FF2B5EF4-FFF2-40B4-BE49-F238E27FC236}">
              <a16:creationId xmlns:a16="http://schemas.microsoft.com/office/drawing/2014/main" id="{5581DE05-D452-270E-25BB-D17E840D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D5FA3F8-01E7-8023-CFA3-23BC2FF33299}"/>
              </a:ext>
            </a:extLst>
          </p:cNvPr>
          <p:cNvSpPr txBox="1"/>
          <p:nvPr/>
        </p:nvSpPr>
        <p:spPr>
          <a:xfrm>
            <a:off x="1893638" y="1802308"/>
            <a:ext cx="5356723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Sistema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Operativo</a:t>
            </a:r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 Android</a:t>
            </a:r>
          </a:p>
          <a:p>
            <a:pPr algn="ctr"/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Aspectos</a:t>
            </a:r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Técnicos</a:t>
            </a:r>
            <a:endParaRPr lang="en-US" sz="2800" b="1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endParaRPr lang="en-US" sz="24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s-MX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71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C3F2C3A-C075-3954-C85F-6E258796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27869361-B5D3-F814-0CE3-25F5313C43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8850022-737A-4FA0-A71C-3332BC36D0CC}"/>
              </a:ext>
            </a:extLst>
          </p:cNvPr>
          <p:cNvSpPr txBox="1"/>
          <p:nvPr/>
        </p:nvSpPr>
        <p:spPr>
          <a:xfrm>
            <a:off x="155959" y="81911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Sistemas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Operativos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Móviles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AA6C1D-3B5A-D115-F8F1-95BA51A5BE0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BA6F85-672D-F855-CFAD-794A013A6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B55B8D-757D-7B73-C92B-34612F79E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86695-A56F-717F-D9AD-5E95BE950505}"/>
              </a:ext>
            </a:extLst>
          </p:cNvPr>
          <p:cNvSpPr txBox="1"/>
          <p:nvPr/>
        </p:nvSpPr>
        <p:spPr>
          <a:xfrm>
            <a:off x="602130" y="1606687"/>
            <a:ext cx="7939739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400"/>
              <a:t>Un </a:t>
            </a:r>
            <a:r>
              <a:rPr lang="es-ES" sz="2400" b="1"/>
              <a:t>sistema operativo móvil</a:t>
            </a:r>
            <a:r>
              <a:rPr lang="es-ES" sz="2400"/>
              <a:t> es un software base que gestiona el hardware y los recursos de un </a:t>
            </a:r>
            <a:r>
              <a:rPr lang="es-ES" sz="2400" b="1"/>
              <a:t>dispositivo móvil</a:t>
            </a:r>
            <a:r>
              <a:rPr lang="es-ES" sz="2400"/>
              <a:t> (como un smartphone, </a:t>
            </a:r>
            <a:r>
              <a:rPr lang="es-ES" sz="2400" err="1"/>
              <a:t>tablet</a:t>
            </a:r>
            <a:r>
              <a:rPr lang="es-ES" sz="2400"/>
              <a:t> o smartwatch), permitiendo la interacción del usuario a través de una interfaz táctil e interpretando las instrucciones de las aplicaciones.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745787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D8C3FBCD-4A5C-D61A-3C58-06F1C748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C9705D88-27FA-4326-F1ED-91FEE95BB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F08647-9C9F-D777-E0D5-A96DB798F4D0}"/>
              </a:ext>
            </a:extLst>
          </p:cNvPr>
          <p:cNvSpPr txBox="1"/>
          <p:nvPr/>
        </p:nvSpPr>
        <p:spPr>
          <a:xfrm>
            <a:off x="155959" y="81911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Sistemas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Operativos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Móviles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1EF48C-9790-61A7-1666-616A40DE227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533029-0859-E3C4-5425-C101F7D3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400C1F-F779-05D2-CDA6-A1F7ACF73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9D7FC-37CC-DC74-7E7B-E1F35322FF0A}"/>
              </a:ext>
            </a:extLst>
          </p:cNvPr>
          <p:cNvSpPr txBox="1"/>
          <p:nvPr/>
        </p:nvSpPr>
        <p:spPr>
          <a:xfrm>
            <a:off x="539321" y="1287348"/>
            <a:ext cx="793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Posee varias diferencias con los sistemas operativos de escritorio</a:t>
            </a:r>
            <a:r>
              <a:rPr lang="es-ES" sz="1800"/>
              <a:t>:</a:t>
            </a:r>
            <a:endParaRPr lang="es-A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66A4AD-D3A8-8535-979B-83F129A35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04579"/>
              </p:ext>
            </p:extLst>
          </p:nvPr>
        </p:nvGraphicFramePr>
        <p:xfrm>
          <a:off x="602130" y="1742444"/>
          <a:ext cx="7939740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580">
                  <a:extLst>
                    <a:ext uri="{9D8B030D-6E8A-4147-A177-3AD203B41FA5}">
                      <a16:colId xmlns:a16="http://schemas.microsoft.com/office/drawing/2014/main" val="4263750423"/>
                    </a:ext>
                  </a:extLst>
                </a:gridCol>
                <a:gridCol w="2646580">
                  <a:extLst>
                    <a:ext uri="{9D8B030D-6E8A-4147-A177-3AD203B41FA5}">
                      <a16:colId xmlns:a16="http://schemas.microsoft.com/office/drawing/2014/main" val="1367573572"/>
                    </a:ext>
                  </a:extLst>
                </a:gridCol>
                <a:gridCol w="2646580">
                  <a:extLst>
                    <a:ext uri="{9D8B030D-6E8A-4147-A177-3AD203B41FA5}">
                      <a16:colId xmlns:a16="http://schemas.microsoft.com/office/drawing/2014/main" val="669247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SO 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SO Escritorio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52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Multitarea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Limitado. Basado en estados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Completa y paralela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3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Distribución Aplicaciones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Cerrada vía </a:t>
                      </a:r>
                      <a:r>
                        <a:rPr lang="es-AR" sz="1100" err="1"/>
                        <a:t>Stores</a:t>
                      </a:r>
                      <a:r>
                        <a:rPr lang="es-AR" sz="1100"/>
                        <a:t> Oficiales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Abierta / Mixta (MS Store)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95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Actualizaciones del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Controladas por el fabricante del HW/Operador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Controladas por el administrador o usuario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0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Acceso al FS de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Limitado por parte del usuario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De fácil acceso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46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Acceso a Sensores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Nativo y de fácil acceso por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Requiere drivers e interfaces especiales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3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 err="1"/>
                        <a:t>Gestion</a:t>
                      </a:r>
                      <a:r>
                        <a:rPr lang="es-AR" sz="1100"/>
                        <a:t> 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Altamente eficiente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Optimizada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33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100"/>
                        <a:t>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err="1"/>
                        <a:t>Sandbok</a:t>
                      </a:r>
                      <a:r>
                        <a:rPr lang="es-AR" sz="1100"/>
                        <a:t> y permisos granulares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Menor aislamiento a nivel aplicación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414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4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724E-0EB1-7B7D-D317-93657E72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B920C2E3-CBD8-69EE-3A8B-704CF891C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F06FFE9-D1EC-2151-6F4B-28F887B3F811}"/>
              </a:ext>
            </a:extLst>
          </p:cNvPr>
          <p:cNvSpPr txBox="1"/>
          <p:nvPr/>
        </p:nvSpPr>
        <p:spPr>
          <a:xfrm>
            <a:off x="155959" y="81911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Sistemas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Operativos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Móviles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84C11F-2BD9-0FAE-401A-7A2E02ED31A3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7276B9-F70E-E633-E848-72AF3173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A465A3-819A-C1C9-6CD4-E9930CA18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31144D-60BD-6CCE-9362-4D42F3995A29}"/>
              </a:ext>
            </a:extLst>
          </p:cNvPr>
          <p:cNvSpPr txBox="1"/>
          <p:nvPr/>
        </p:nvSpPr>
        <p:spPr>
          <a:xfrm>
            <a:off x="602130" y="1606687"/>
            <a:ext cx="7939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Un sistema operativo móvil está diseñado con restricciones de energía, tamaño, conectividad y seguridad, y su prioridad es la usabilidad en movimiento, con una fuerte orientación a la gestión eficiente de recursos.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47535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7758913B-E651-C0D5-6623-4368D488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3A1E3522-9EE6-6E7A-08CF-3BEEA906AF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6BE77A6-88B3-D7D2-DBAF-0268ABA09052}"/>
              </a:ext>
            </a:extLst>
          </p:cNvPr>
          <p:cNvSpPr txBox="1"/>
          <p:nvPr/>
        </p:nvSpPr>
        <p:spPr>
          <a:xfrm>
            <a:off x="155959" y="819114"/>
            <a:ext cx="3717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Android: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55DDA8-E791-523B-3287-CED363F4D242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AF0336-A269-F138-4EA2-61081FFC3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4E43A9C-EDCA-140A-6C84-D3B864829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3C50F8-5801-04CA-D73F-7DD23A6A9407}"/>
              </a:ext>
            </a:extLst>
          </p:cNvPr>
          <p:cNvSpPr txBox="1"/>
          <p:nvPr/>
        </p:nvSpPr>
        <p:spPr>
          <a:xfrm>
            <a:off x="602130" y="1606687"/>
            <a:ext cx="7939739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400"/>
              <a:t>Un sistema operativo móvil está diseñado con restricciones de energía, tamaño, conectividad y seguridad, y su prioridad es la usabilidad en movimiento, con una fuerte orientación a la gestión eficiente de recursos.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488075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9F2C035-3B5A-6F6B-34B0-E6F67795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107C78DC-3BEB-9D57-2353-2D531FBB49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2B90C4F-C633-E272-1438-ADABB15970FF}"/>
              </a:ext>
            </a:extLst>
          </p:cNvPr>
          <p:cNvSpPr txBox="1"/>
          <p:nvPr/>
        </p:nvSpPr>
        <p:spPr>
          <a:xfrm>
            <a:off x="155959" y="819114"/>
            <a:ext cx="3717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Android: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AB11BC-1884-CF70-3FDC-0D79B28BEBAC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5E06AB-260F-760D-D86E-51279990A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4359088-2A05-9C5F-6FD2-E5827F11F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pic>
        <p:nvPicPr>
          <p:cNvPr id="11266" name="Picture 2" descr="Android Architecture Guides for beginners | Edureka">
            <a:extLst>
              <a:ext uri="{FF2B5EF4-FFF2-40B4-BE49-F238E27FC236}">
                <a16:creationId xmlns:a16="http://schemas.microsoft.com/office/drawing/2014/main" id="{05BF255D-C597-4AEE-0E2A-97C7FC8E8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404195"/>
            <a:ext cx="571500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409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9B9CCF3-3DDD-4598-1D35-3104BEBC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2249C37E-C936-89D1-70A1-96A4A5ED97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D00C828-712D-F704-2584-564F97F5FEC5}"/>
              </a:ext>
            </a:extLst>
          </p:cNvPr>
          <p:cNvSpPr txBox="1"/>
          <p:nvPr/>
        </p:nvSpPr>
        <p:spPr>
          <a:xfrm>
            <a:off x="155959" y="819114"/>
            <a:ext cx="444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Linux Kernel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786446-CBDA-2A10-80CF-5A24890EC93D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BD2C1E-2517-D875-7722-AFA2A4DB1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0A3B46-A561-3858-E3EF-88FE9861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807E9F-8E40-8117-22E8-15196AA3DD6E}"/>
              </a:ext>
            </a:extLst>
          </p:cNvPr>
          <p:cNvSpPr txBox="1"/>
          <p:nvPr/>
        </p:nvSpPr>
        <p:spPr>
          <a:xfrm>
            <a:off x="559028" y="1504703"/>
            <a:ext cx="79397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Base del sistema operativo.</a:t>
            </a:r>
          </a:p>
          <a:p>
            <a:r>
              <a:rPr lang="es-ES" sz="2400"/>
              <a:t>Administra recursos de hardware: memoria, procesos, red, energía.</a:t>
            </a:r>
          </a:p>
          <a:p>
            <a:r>
              <a:rPr lang="es-ES" sz="2400"/>
              <a:t>Incluye controladores para dispositivos específicos (</a:t>
            </a:r>
            <a:r>
              <a:rPr lang="es-ES" sz="2400" err="1"/>
              <a:t>Wi</a:t>
            </a:r>
            <a:r>
              <a:rPr lang="es-ES" sz="2400"/>
              <a:t>-Fi, cámara, audio, etc.).</a:t>
            </a:r>
          </a:p>
          <a:p>
            <a:endParaRPr lang="es-ES" sz="2400"/>
          </a:p>
          <a:p>
            <a:r>
              <a:rPr lang="es-ES" sz="1800"/>
              <a:t>El Android </a:t>
            </a:r>
            <a:r>
              <a:rPr lang="es-ES" sz="1800" err="1"/>
              <a:t>Kernel</a:t>
            </a:r>
            <a:r>
              <a:rPr lang="es-ES" sz="1800"/>
              <a:t> es el núcleo del sistema operativo Android, basado en el Linux </a:t>
            </a:r>
            <a:r>
              <a:rPr lang="es-ES" sz="1800" err="1"/>
              <a:t>Kernel</a:t>
            </a:r>
            <a:r>
              <a:rPr lang="es-ES" sz="1800"/>
              <a:t>. Se encarga de manejar directamente el hardware del dispositivo, actuando como puente entre las aplicaciones y los componentes físicos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198536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1B6033D7-62FB-37AA-9B38-2AF5A6D2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A1A6D5D7-7254-904A-DC3E-CD045380AE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FECA827-54C6-3F80-A471-393AC719F723}"/>
              </a:ext>
            </a:extLst>
          </p:cNvPr>
          <p:cNvSpPr txBox="1"/>
          <p:nvPr/>
        </p:nvSpPr>
        <p:spPr>
          <a:xfrm>
            <a:off x="155959" y="819114"/>
            <a:ext cx="444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Linux Kernel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1778788-E741-2159-442F-FAA3BDC33E88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2BEAB8C-DFFF-5578-BCEF-A396973EC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415BD80-D183-4C11-EB0A-81C7B9C09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E501A1-8C6A-EE3D-59FC-CCDF8E40214D}"/>
              </a:ext>
            </a:extLst>
          </p:cNvPr>
          <p:cNvSpPr txBox="1"/>
          <p:nvPr/>
        </p:nvSpPr>
        <p:spPr>
          <a:xfrm>
            <a:off x="559028" y="1504703"/>
            <a:ext cx="7939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Se encuentra optimizado para ARM y ARM64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Mandatorio desde Android 5.0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Soporte optimizado para batería.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Cada fabricante optimiza el </a:t>
            </a:r>
            <a:r>
              <a:rPr lang="es-ES" sz="2400" err="1"/>
              <a:t>Kernel</a:t>
            </a:r>
            <a:r>
              <a:rPr lang="es-ES" sz="2400"/>
              <a:t> de acuerdo con los requerimientos específicos del hardware.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868361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766C904-4B43-85F4-1226-3090C3D8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E0857F3D-99A9-D60A-F6F1-C7B7A2180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F4ADC9-07D1-F3DD-AEA6-D3A96F1BC542}"/>
              </a:ext>
            </a:extLst>
          </p:cNvPr>
          <p:cNvSpPr txBox="1"/>
          <p:nvPr/>
        </p:nvSpPr>
        <p:spPr>
          <a:xfrm>
            <a:off x="155959" y="819114"/>
            <a:ext cx="444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Linux Kernel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38478A-778A-EF14-974A-C5AACDA4AB49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B7ADB6F-E3AA-32F0-1583-F8FEC631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43C2EA-8059-E505-60D4-5979AB89C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A0FF22-DDA7-8A96-686B-160466A72079}"/>
              </a:ext>
            </a:extLst>
          </p:cNvPr>
          <p:cNvSpPr txBox="1"/>
          <p:nvPr/>
        </p:nvSpPr>
        <p:spPr>
          <a:xfrm>
            <a:off x="628331" y="2237799"/>
            <a:ext cx="7939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El </a:t>
            </a:r>
            <a:r>
              <a:rPr lang="es-ES" sz="2400" err="1"/>
              <a:t>kernel</a:t>
            </a:r>
            <a:r>
              <a:rPr lang="es-ES" sz="2400"/>
              <a:t> de Android es el corazón del sistema, y aunque esté basado en Linux, está profundamente modificado y adaptado ara las exigencias de los dispositivos móviles.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3354827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C2483DA6-2DD9-BB9D-692F-00E6CB6E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A6D73DF9-E772-30B5-2EA9-1EC57A99FA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6E7E171-9373-EC0E-4BB0-9D6D547755F1}"/>
              </a:ext>
            </a:extLst>
          </p:cNvPr>
          <p:cNvSpPr txBox="1"/>
          <p:nvPr/>
        </p:nvSpPr>
        <p:spPr>
          <a:xfrm>
            <a:off x="155959" y="819114"/>
            <a:ext cx="3084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HAL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49F331-6F97-7B2D-5392-C182AE607554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A03273-7A3D-421F-A580-ABC992ED7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62677B-7CCD-FCFF-55FA-5181EC677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F80C21-42EC-1FE9-EBF4-66632B747A41}"/>
              </a:ext>
            </a:extLst>
          </p:cNvPr>
          <p:cNvSpPr txBox="1"/>
          <p:nvPr/>
        </p:nvSpPr>
        <p:spPr>
          <a:xfrm>
            <a:off x="559028" y="1504703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Cada componente de hardware (como la cámara, GPS, Bluetooth, etc.) tiene un módulo HAL.</a:t>
            </a:r>
          </a:p>
          <a:p>
            <a:endParaRPr lang="es-ES" sz="2400"/>
          </a:p>
          <a:p>
            <a:r>
              <a:rPr lang="es-ES" sz="2400"/>
              <a:t>Estos módulos son librerías compartidas (.so) escritas en C/C++. *.so </a:t>
            </a:r>
            <a:r>
              <a:rPr lang="es-ES" sz="2400" err="1"/>
              <a:t>Shared</a:t>
            </a:r>
            <a:r>
              <a:rPr lang="es-ES" sz="2400"/>
              <a:t> </a:t>
            </a:r>
            <a:r>
              <a:rPr lang="es-ES" sz="2400" err="1"/>
              <a:t>Objects</a:t>
            </a:r>
            <a:endParaRPr lang="es-ES" sz="2400"/>
          </a:p>
          <a:p>
            <a:endParaRPr lang="es-ES" sz="2400"/>
          </a:p>
          <a:p>
            <a:r>
              <a:rPr lang="es-ES" sz="2400"/>
              <a:t>El sistema operativo Android llama a estas librerías para acceder al hardware.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346888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CBC83C41-B9F5-AD2D-2552-AFA8AB84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90CFB648-B884-22FE-C25F-4878719C9E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813DAF1-0941-7FD2-6890-B63663898A8C}"/>
              </a:ext>
            </a:extLst>
          </p:cNvPr>
          <p:cNvSpPr txBox="1"/>
          <p:nvPr/>
        </p:nvSpPr>
        <p:spPr>
          <a:xfrm>
            <a:off x="155959" y="819114"/>
            <a:ext cx="3084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HAL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1B8D33-B425-D4A3-FF97-0965399AEA60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D8192F1-0FCC-E23E-4743-CA02A421F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E00B3D-D6AD-4095-D9E3-D84DA61E4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7BE80-DD6A-7FFD-3E21-290B1C3763D9}"/>
              </a:ext>
            </a:extLst>
          </p:cNvPr>
          <p:cNvSpPr txBox="1"/>
          <p:nvPr/>
        </p:nvSpPr>
        <p:spPr>
          <a:xfrm>
            <a:off x="559028" y="1504703"/>
            <a:ext cx="7939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Cuando una app usa la cámara: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Llama a la API del </a:t>
            </a:r>
            <a:r>
              <a:rPr lang="es-ES" sz="2400" err="1"/>
              <a:t>framework</a:t>
            </a:r>
            <a:r>
              <a:rPr lang="es-ES" sz="2400"/>
              <a:t> (</a:t>
            </a:r>
            <a:r>
              <a:rPr lang="es-ES" sz="2400" err="1"/>
              <a:t>CameraManager</a:t>
            </a:r>
            <a:r>
              <a:rPr lang="es-E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El </a:t>
            </a:r>
            <a:r>
              <a:rPr lang="es-ES" sz="2400" err="1"/>
              <a:t>framework</a:t>
            </a:r>
            <a:r>
              <a:rPr lang="es-ES" sz="2400"/>
              <a:t> llama al módulo HAL de la cámara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El HAL interactúa con el driver del </a:t>
            </a:r>
            <a:r>
              <a:rPr lang="es-ES" sz="2400" err="1"/>
              <a:t>kernel</a:t>
            </a: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El </a:t>
            </a:r>
            <a:r>
              <a:rPr lang="es-ES" sz="2400" err="1"/>
              <a:t>kernel</a:t>
            </a:r>
            <a:r>
              <a:rPr lang="es-ES" sz="2400"/>
              <a:t> se comunica con el hardware real</a:t>
            </a:r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1058154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C8DE742D-28A6-3F6D-81FA-67D6DC58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4F501850-644A-9D2F-3510-8986BBD9D8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E608359-4173-AEB7-B044-F7FC6133809A}"/>
              </a:ext>
            </a:extLst>
          </p:cNvPr>
          <p:cNvSpPr txBox="1"/>
          <p:nvPr/>
        </p:nvSpPr>
        <p:spPr>
          <a:xfrm>
            <a:off x="155959" y="819114"/>
            <a:ext cx="3084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HAL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D98B77-3BCF-EE9C-D8AD-437D83196AA1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43123B-5EC8-72B5-C351-D3674C63A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7C5C75C-64FD-DF52-EA60-FFF224FE2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162CFF-9A8B-C23E-45DD-90257595DD57}"/>
              </a:ext>
            </a:extLst>
          </p:cNvPr>
          <p:cNvSpPr txBox="1"/>
          <p:nvPr/>
        </p:nvSpPr>
        <p:spPr>
          <a:xfrm>
            <a:off x="559028" y="1504703"/>
            <a:ext cx="793973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/>
              <a:t>Aunque un desarrollador de apps </a:t>
            </a:r>
            <a:r>
              <a:rPr lang="es-ES" sz="2800" b="1"/>
              <a:t>no programa </a:t>
            </a:r>
            <a:r>
              <a:rPr lang="es-ES" sz="2800" b="1" err="1"/>
              <a:t>HALs</a:t>
            </a:r>
            <a:r>
              <a:rPr lang="es-ES" sz="2800"/>
              <a:t>, entender su existencia es clave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/>
              <a:t>Comprender limitaciones de 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/>
              <a:t>Saber cómo funcionan dispositivos personalizados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/>
              <a:t>Explorar desarrollo a nivel </a:t>
            </a:r>
            <a:r>
              <a:rPr lang="es-ES" sz="2800" b="1" err="1"/>
              <a:t>low-level</a:t>
            </a:r>
            <a:r>
              <a:rPr lang="es-ES" sz="2800"/>
              <a:t> (NDK, firmware, </a:t>
            </a:r>
            <a:r>
              <a:rPr lang="es-ES" sz="2800" err="1"/>
              <a:t>custom</a:t>
            </a:r>
            <a:r>
              <a:rPr lang="es-ES" sz="2800"/>
              <a:t> </a:t>
            </a:r>
            <a:r>
              <a:rPr lang="es-ES" sz="2800" err="1"/>
              <a:t>ROMs</a:t>
            </a:r>
            <a:r>
              <a:rPr lang="es-ES" sz="2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1674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D824D1E-8A4D-F864-DD04-BA52C1D7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4E87F815-AC8B-4FE2-3F4F-FDB9C375E4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A6479D2-DF8B-790A-E8EB-E838D6709E35}"/>
              </a:ext>
            </a:extLst>
          </p:cNvPr>
          <p:cNvSpPr txBox="1"/>
          <p:nvPr/>
        </p:nvSpPr>
        <p:spPr>
          <a:xfrm>
            <a:off x="155959" y="819114"/>
            <a:ext cx="3084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HAL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2F6CD7-B14C-34C8-F5A8-202DD8F0958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D118CAB-00AD-DD47-0514-900B7BE24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5F16E3-F2A7-056B-9703-96D0B7FFC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D7064-8A42-91A3-3CDF-0D70809A604C}"/>
              </a:ext>
            </a:extLst>
          </p:cNvPr>
          <p:cNvSpPr txBox="1"/>
          <p:nvPr/>
        </p:nvSpPr>
        <p:spPr>
          <a:xfrm>
            <a:off x="559028" y="1504703"/>
            <a:ext cx="79397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/>
              <a:t>Para aplicaciones críticas, como Netflix o Juegos como el Diablo Inmortal se utiliza un tipo de librería llamada NDK (Native </a:t>
            </a:r>
            <a:r>
              <a:rPr lang="es-ES" sz="2800" err="1"/>
              <a:t>Development</a:t>
            </a:r>
            <a:r>
              <a:rPr lang="es-ES" sz="2800"/>
              <a:t> Kit) la cual mejora sustancialmente el rendimiento ya que permite acceder de manera más directa al HW.</a:t>
            </a:r>
          </a:p>
        </p:txBody>
      </p:sp>
    </p:spTree>
    <p:extLst>
      <p:ext uri="{BB962C8B-B14F-4D97-AF65-F5344CB8AC3E}">
        <p14:creationId xmlns:p14="http://schemas.microsoft.com/office/powerpoint/2010/main" val="2093240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3EEA2D4-DEE1-5CA7-8E24-B08E40D8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2476305E-D673-3B0B-3596-88FDB27799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E36EE2-88C4-B4D8-690C-4C13F29FE099}"/>
              </a:ext>
            </a:extLst>
          </p:cNvPr>
          <p:cNvSpPr txBox="1"/>
          <p:nvPr/>
        </p:nvSpPr>
        <p:spPr>
          <a:xfrm>
            <a:off x="155959" y="819114"/>
            <a:ext cx="381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C1C9DD9-81FF-6DDE-22F8-CF02777E5398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838EA5-D637-EC01-3073-61E17B484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E9F9237-FA12-851B-86D3-2A2B0E34A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896D63-B252-56DE-AA6A-4E1986683DDA}"/>
              </a:ext>
            </a:extLst>
          </p:cNvPr>
          <p:cNvSpPr txBox="1"/>
          <p:nvPr/>
        </p:nvSpPr>
        <p:spPr>
          <a:xfrm>
            <a:off x="559028" y="1504703"/>
            <a:ext cx="79397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/>
              <a:t>Una librería en Android es un conjunto de funciones, clases o recursos reutilizables que pueden ser utilizados por el sistema operativo, los desarrolladores o incluso por otras librerías.</a:t>
            </a:r>
          </a:p>
        </p:txBody>
      </p:sp>
    </p:spTree>
    <p:extLst>
      <p:ext uri="{BB962C8B-B14F-4D97-AF65-F5344CB8AC3E}">
        <p14:creationId xmlns:p14="http://schemas.microsoft.com/office/powerpoint/2010/main" val="650011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211E4D1-79D0-5FC4-BF5F-E023E12D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6FCB705D-F02A-2873-3F6A-F750D54B59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EAD9151-EFEB-DCC2-E631-9E95CC18DB33}"/>
              </a:ext>
            </a:extLst>
          </p:cNvPr>
          <p:cNvSpPr txBox="1"/>
          <p:nvPr/>
        </p:nvSpPr>
        <p:spPr>
          <a:xfrm>
            <a:off x="155959" y="819114"/>
            <a:ext cx="5099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Nativas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27F127-E4D9-AAD4-A66B-E79D2C6253FC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E2D7D0C-6225-FEF0-CF87-BBA2AC76C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96B840B-B056-E62B-F273-05C71DF89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78194-56FF-621A-F1E7-834F555FAFF6}"/>
              </a:ext>
            </a:extLst>
          </p:cNvPr>
          <p:cNvSpPr txBox="1"/>
          <p:nvPr/>
        </p:nvSpPr>
        <p:spPr>
          <a:xfrm>
            <a:off x="559028" y="1504703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/>
              <a:t>Estas están incluidas en el sistema operativo Android. Son fundamentales para el funcionamiento de las aplicaciones.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err="1"/>
              <a:t>android.os</a:t>
            </a:r>
            <a:r>
              <a:rPr lang="es-ES" sz="2400"/>
              <a:t> – para manejar procesos, hilos, servicios,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err="1"/>
              <a:t>android.view</a:t>
            </a:r>
            <a:r>
              <a:rPr lang="es-ES" sz="2400"/>
              <a:t> – para construir interfaces de usuario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err="1"/>
              <a:t>android.content</a:t>
            </a:r>
            <a:r>
              <a:rPr lang="es-ES" sz="2400"/>
              <a:t> – para acceder a recursos y contexto.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err="1"/>
              <a:t>android.media</a:t>
            </a:r>
            <a:r>
              <a:rPr lang="es-ES" sz="2400"/>
              <a:t>, </a:t>
            </a:r>
            <a:r>
              <a:rPr lang="es-ES" sz="2400" err="1"/>
              <a:t>android.bluetooth</a:t>
            </a:r>
            <a:r>
              <a:rPr lang="es-ES" sz="240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297872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44E4DEDC-E375-0F21-FF38-0D279389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3E623516-5D37-0BDA-810E-D784D8DD95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31C3CD-75E8-2642-C221-683A21B5FD3F}"/>
              </a:ext>
            </a:extLst>
          </p:cNvPr>
          <p:cNvSpPr txBox="1"/>
          <p:nvPr/>
        </p:nvSpPr>
        <p:spPr>
          <a:xfrm>
            <a:off x="155959" y="819114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Terceros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49058E-65B1-8C22-4DA2-2831423F4400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D4681F-2CC1-95DB-82BB-8312E4569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325DEA-53F2-7C1F-1C57-9945955D9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53FF5A-2107-26AC-B61C-6CCE5190AA02}"/>
              </a:ext>
            </a:extLst>
          </p:cNvPr>
          <p:cNvSpPr txBox="1"/>
          <p:nvPr/>
        </p:nvSpPr>
        <p:spPr>
          <a:xfrm>
            <a:off x="559028" y="1827896"/>
            <a:ext cx="7939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Retrofit</a:t>
            </a:r>
            <a:r>
              <a:rPr lang="es-ES" sz="2400"/>
              <a:t> / </a:t>
            </a:r>
            <a:r>
              <a:rPr lang="es-ES" sz="2400" err="1"/>
              <a:t>OkHttp</a:t>
            </a:r>
            <a:r>
              <a:rPr lang="es-ES" sz="2400"/>
              <a:t> – comunicación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HTTPGlide</a:t>
            </a:r>
            <a:r>
              <a:rPr lang="es-ES" sz="2400"/>
              <a:t> / Picasso – carga de imágenes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Room</a:t>
            </a:r>
            <a:r>
              <a:rPr lang="es-ES" sz="2400"/>
              <a:t> / </a:t>
            </a:r>
            <a:r>
              <a:rPr lang="es-ES" sz="2400" err="1"/>
              <a:t>Realm</a:t>
            </a:r>
            <a:r>
              <a:rPr lang="es-ES" sz="2400"/>
              <a:t> – persistencia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Jetpack</a:t>
            </a:r>
            <a:r>
              <a:rPr lang="es-ES" sz="2400"/>
              <a:t> (</a:t>
            </a:r>
            <a:r>
              <a:rPr lang="es-ES" sz="2400" err="1"/>
              <a:t>AndroidX</a:t>
            </a:r>
            <a:r>
              <a:rPr lang="es-ES" sz="2400"/>
              <a:t>) – conjunto moderno de componentes de arquitectura, UI, navegación, ciclo de vida, etc.</a:t>
            </a:r>
          </a:p>
        </p:txBody>
      </p:sp>
    </p:spTree>
    <p:extLst>
      <p:ext uri="{BB962C8B-B14F-4D97-AF65-F5344CB8AC3E}">
        <p14:creationId xmlns:p14="http://schemas.microsoft.com/office/powerpoint/2010/main" val="874642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FDA55804-5D51-21D7-CBE4-6AD55AA0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BA62CD71-2416-DDED-F26A-E292DFBC45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2EA2FCB-3D90-92AC-A2DF-CC999D638820}"/>
              </a:ext>
            </a:extLst>
          </p:cNvPr>
          <p:cNvSpPr txBox="1"/>
          <p:nvPr/>
        </p:nvSpPr>
        <p:spPr>
          <a:xfrm>
            <a:off x="155959" y="819114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Terceros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F7527C-F374-5E8F-FB37-00BFB01C067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547C4E-6FFF-CC8B-C674-B2D088894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C3A24D-1A53-EB5B-D70E-838E2DEB2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1E9E0-2939-6441-16C7-105BF32F76EF}"/>
              </a:ext>
            </a:extLst>
          </p:cNvPr>
          <p:cNvSpPr txBox="1"/>
          <p:nvPr/>
        </p:nvSpPr>
        <p:spPr>
          <a:xfrm>
            <a:off x="602130" y="1504703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Retrofit</a:t>
            </a:r>
            <a:r>
              <a:rPr lang="es-ES" sz="2400"/>
              <a:t> / </a:t>
            </a:r>
            <a:r>
              <a:rPr lang="es-ES" sz="2400" err="1"/>
              <a:t>OkHttp</a:t>
            </a:r>
            <a:r>
              <a:rPr lang="es-ES" sz="2400"/>
              <a:t> – comunicación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HTTPGlide</a:t>
            </a:r>
            <a:r>
              <a:rPr lang="es-ES" sz="2400"/>
              <a:t> / Picasso – carga de imágenes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Room</a:t>
            </a:r>
            <a:r>
              <a:rPr lang="es-ES" sz="2400"/>
              <a:t> / </a:t>
            </a:r>
            <a:r>
              <a:rPr lang="es-ES" sz="2400" err="1"/>
              <a:t>Realm</a:t>
            </a:r>
            <a:r>
              <a:rPr lang="es-ES" sz="2400"/>
              <a:t> – persistencia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Jetpack</a:t>
            </a:r>
            <a:r>
              <a:rPr lang="es-ES" sz="2400"/>
              <a:t> (</a:t>
            </a:r>
            <a:r>
              <a:rPr lang="es-ES" sz="2400" err="1"/>
              <a:t>AndroidX</a:t>
            </a:r>
            <a:r>
              <a:rPr lang="es-ES" sz="2400"/>
              <a:t>) – conjunto moderno de componentes de arquitectura, UI, navegación, ciclo de vida, </a:t>
            </a:r>
            <a:r>
              <a:rPr lang="es-ES" sz="2400" err="1"/>
              <a:t>etc.x</a:t>
            </a: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Se agregan </a:t>
            </a:r>
            <a:r>
              <a:rPr lang="es-ES" sz="2400" err="1"/>
              <a:t>via</a:t>
            </a:r>
            <a:r>
              <a:rPr lang="es-ES" sz="2400"/>
              <a:t> </a:t>
            </a:r>
            <a:r>
              <a:rPr lang="es-ES" sz="2400" err="1"/>
              <a:t>Gradle</a:t>
            </a:r>
            <a:r>
              <a:rPr lang="es-ES" sz="2400"/>
              <a:t>!!!!!!</a:t>
            </a:r>
          </a:p>
        </p:txBody>
      </p:sp>
    </p:spTree>
    <p:extLst>
      <p:ext uri="{BB962C8B-B14F-4D97-AF65-F5344CB8AC3E}">
        <p14:creationId xmlns:p14="http://schemas.microsoft.com/office/powerpoint/2010/main" val="1513772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DFB2FA19-A9F3-C6D4-55B3-168D40C0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96613176-B8ED-A1D6-7D1B-B292B4E20F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947C7D3-245B-6A98-0CB9-840E307CBA5A}"/>
              </a:ext>
            </a:extLst>
          </p:cNvPr>
          <p:cNvSpPr txBox="1"/>
          <p:nvPr/>
        </p:nvSpPr>
        <p:spPr>
          <a:xfrm>
            <a:off x="155959" y="819114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Terceros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2EB108-9DD2-41AD-256C-DC711C0DB4D0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5573DF-4500-5700-84B0-B85BA42B6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FAC7D0F-072D-B3AA-7EE5-4BA81571D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105BF7-2D4E-AD09-3616-5AF4483081A6}"/>
              </a:ext>
            </a:extLst>
          </p:cNvPr>
          <p:cNvSpPr txBox="1"/>
          <p:nvPr/>
        </p:nvSpPr>
        <p:spPr>
          <a:xfrm>
            <a:off x="602130" y="1504703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Retrofit</a:t>
            </a:r>
            <a:r>
              <a:rPr lang="es-ES" sz="2400"/>
              <a:t> / </a:t>
            </a:r>
            <a:r>
              <a:rPr lang="es-ES" sz="2400" err="1"/>
              <a:t>OkHttp</a:t>
            </a:r>
            <a:r>
              <a:rPr lang="es-ES" sz="2400"/>
              <a:t> – comunicación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HTTPGlide</a:t>
            </a:r>
            <a:r>
              <a:rPr lang="es-ES" sz="2400"/>
              <a:t> / Picasso – carga de imágenes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Room</a:t>
            </a:r>
            <a:r>
              <a:rPr lang="es-ES" sz="2400"/>
              <a:t> / </a:t>
            </a:r>
            <a:r>
              <a:rPr lang="es-ES" sz="2400" err="1"/>
              <a:t>Realm</a:t>
            </a:r>
            <a:r>
              <a:rPr lang="es-ES" sz="2400"/>
              <a:t> – persistencia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err="1"/>
              <a:t>Jetpack</a:t>
            </a:r>
            <a:r>
              <a:rPr lang="es-ES" sz="2400"/>
              <a:t> (</a:t>
            </a:r>
            <a:r>
              <a:rPr lang="es-ES" sz="2400" err="1"/>
              <a:t>AndroidX</a:t>
            </a:r>
            <a:r>
              <a:rPr lang="es-ES" sz="2400"/>
              <a:t>) – conjunto moderno de componentes de arquitectura, UI, navegación, ciclo de vida, </a:t>
            </a:r>
            <a:r>
              <a:rPr lang="es-ES" sz="2400" err="1"/>
              <a:t>etc.x</a:t>
            </a: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Se agregan </a:t>
            </a:r>
            <a:r>
              <a:rPr lang="es-ES" sz="2400" err="1"/>
              <a:t>via</a:t>
            </a:r>
            <a:r>
              <a:rPr lang="es-ES" sz="2400"/>
              <a:t> </a:t>
            </a:r>
            <a:r>
              <a:rPr lang="es-ES" sz="2400" err="1"/>
              <a:t>Gradle</a:t>
            </a:r>
            <a:r>
              <a:rPr lang="es-ES" sz="2400"/>
              <a:t>!!!!!!</a:t>
            </a:r>
          </a:p>
        </p:txBody>
      </p:sp>
    </p:spTree>
    <p:extLst>
      <p:ext uri="{BB962C8B-B14F-4D97-AF65-F5344CB8AC3E}">
        <p14:creationId xmlns:p14="http://schemas.microsoft.com/office/powerpoint/2010/main" val="1402534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FD18FFC7-6493-3BCF-0E7D-8442936A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77DC961F-FC95-FEED-7162-1EC57C2F8D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FA136F-E7AF-6CCB-06C3-86DAEE474381}"/>
              </a:ext>
            </a:extLst>
          </p:cNvPr>
          <p:cNvSpPr txBox="1"/>
          <p:nvPr/>
        </p:nvSpPr>
        <p:spPr>
          <a:xfrm>
            <a:off x="155959" y="819114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Terceros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1947D9-4186-6241-7AA9-A23ECA9D6B2E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EC64B5-D1A9-CB91-1C90-0577EC994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984DDF-E8DA-D152-5863-D546BF62E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E98F5-BB01-1678-7565-9D43A0391D00}"/>
              </a:ext>
            </a:extLst>
          </p:cNvPr>
          <p:cNvSpPr txBox="1"/>
          <p:nvPr/>
        </p:nvSpPr>
        <p:spPr>
          <a:xfrm>
            <a:off x="602130" y="1504703"/>
            <a:ext cx="7939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Las encontramos en \</a:t>
            </a:r>
            <a:r>
              <a:rPr lang="es-ES" sz="2400" err="1"/>
              <a:t>lib</a:t>
            </a:r>
            <a:r>
              <a:rPr lang="es-ES" sz="2400"/>
              <a:t>\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En el proyecto en si.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Por seguridad solo permite acceder a librerías del sistema o integradas en las aplicaciones.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3710320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74E1913B-C429-2385-1943-540E5FA6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C9413B26-2902-5FCD-2E21-D8E55D59D7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A61A7DE-B7D7-E591-6767-F61B28D902FA}"/>
              </a:ext>
            </a:extLst>
          </p:cNvPr>
          <p:cNvSpPr txBox="1"/>
          <p:nvPr/>
        </p:nvSpPr>
        <p:spPr>
          <a:xfrm>
            <a:off x="155959" y="819114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Librerias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Terceros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9E94A3-1987-A47D-01D3-494A2E9A3046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BC0310D-A027-2DD2-230C-A0664B4C2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16219A-A753-570C-C63F-A40FD7A0C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794E4-21CA-0B30-8228-5E01B387F26B}"/>
              </a:ext>
            </a:extLst>
          </p:cNvPr>
          <p:cNvSpPr txBox="1"/>
          <p:nvPr/>
        </p:nvSpPr>
        <p:spPr>
          <a:xfrm>
            <a:off x="602130" y="2009200"/>
            <a:ext cx="7939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Las librerías en Android son los bloques Lego del sistema: algunas vienen con la caja, otras las </a:t>
            </a:r>
            <a:r>
              <a:rPr lang="es-ES" sz="2400" err="1"/>
              <a:t>agregás</a:t>
            </a:r>
            <a:r>
              <a:rPr lang="es-ES" sz="2400"/>
              <a:t> vos, pero todas permiten construir sin reinventar la rueda</a:t>
            </a:r>
            <a:endParaRPr lang="es-ES" sz="1800"/>
          </a:p>
          <a:p>
            <a:endParaRPr lang="es-ES" sz="2400"/>
          </a:p>
        </p:txBody>
      </p:sp>
      <p:pic>
        <p:nvPicPr>
          <p:cNvPr id="13314" name="Picture 2" descr="LEGO es mejor inversión que las acciones y los bonos | Architectural Digest">
            <a:extLst>
              <a:ext uri="{FF2B5EF4-FFF2-40B4-BE49-F238E27FC236}">
                <a16:creationId xmlns:a16="http://schemas.microsoft.com/office/drawing/2014/main" id="{0B64BAF6-BB48-1513-0A0C-FEFA8D7F8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118" y="3561936"/>
            <a:ext cx="2123481" cy="119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453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1A777F1-4106-B55B-3D06-EBE6BDDC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7ADFA83B-742C-D5A6-C65F-E58C32327C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3B50F9F-0F97-D40E-5E09-A58DE552F8A7}"/>
              </a:ext>
            </a:extLst>
          </p:cNvPr>
          <p:cNvSpPr txBox="1"/>
          <p:nvPr/>
        </p:nvSpPr>
        <p:spPr>
          <a:xfrm>
            <a:off x="155959" y="819114"/>
            <a:ext cx="6009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Aplication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Framework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65EB98-7A2B-1D40-AF01-18EEB24389FD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0C9B87F-77EB-A238-AF68-AE2001D8E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BDD6202-2A1F-8A03-7024-B80DD4B1D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6BA924-157E-E879-EA11-60964BFD48B2}"/>
              </a:ext>
            </a:extLst>
          </p:cNvPr>
          <p:cNvSpPr txBox="1"/>
          <p:nvPr/>
        </p:nvSpPr>
        <p:spPr>
          <a:xfrm>
            <a:off x="542109" y="1938450"/>
            <a:ext cx="79397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/>
              <a:t>El </a:t>
            </a:r>
            <a:r>
              <a:rPr lang="es-ES" sz="2800" b="1" err="1"/>
              <a:t>Application</a:t>
            </a:r>
            <a:r>
              <a:rPr lang="es-ES" sz="2800" b="1"/>
              <a:t> Framework</a:t>
            </a:r>
            <a:r>
              <a:rPr lang="es-ES" sz="2800"/>
              <a:t> es una </a:t>
            </a:r>
            <a:r>
              <a:rPr lang="es-ES" sz="2800" b="1"/>
              <a:t>capa intermedia</a:t>
            </a:r>
            <a:r>
              <a:rPr lang="es-ES" sz="2800"/>
              <a:t> en la arquitectura de Android que proporciona un conjunto de </a:t>
            </a:r>
            <a:r>
              <a:rPr lang="es-ES" sz="2800" b="1"/>
              <a:t>servicios, clases y componentes de alto nivel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597558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5FF620F-BF90-3A13-CA6B-2AAB2AB3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92E3C363-8FC5-4AC2-3B93-9D6610F360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E4DAE38-E149-5E8C-6697-C45D9DDFBC27}"/>
              </a:ext>
            </a:extLst>
          </p:cNvPr>
          <p:cNvSpPr txBox="1"/>
          <p:nvPr/>
        </p:nvSpPr>
        <p:spPr>
          <a:xfrm>
            <a:off x="155959" y="819114"/>
            <a:ext cx="6009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Arquitectura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: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Aplication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Framework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9ACB3F-6275-C971-20B5-4AD7EA601A52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627C1C-F7ED-6745-5BAF-63590C9E8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B4AB7C7-25F8-0FC6-9B92-3921D6177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FDDCD3-0329-ED05-FE98-F704B3F4910D}"/>
              </a:ext>
            </a:extLst>
          </p:cNvPr>
          <p:cNvSpPr txBox="1"/>
          <p:nvPr/>
        </p:nvSpPr>
        <p:spPr>
          <a:xfrm>
            <a:off x="602130" y="1504703"/>
            <a:ext cx="793973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 err="1"/>
              <a:t>Telephony</a:t>
            </a:r>
            <a:r>
              <a:rPr lang="es-AR" sz="2800"/>
              <a:t> Manager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/>
              <a:t>Content </a:t>
            </a:r>
            <a:r>
              <a:rPr lang="es-AR" sz="2800" err="1"/>
              <a:t>Providers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/>
              <a:t>Content </a:t>
            </a:r>
            <a:r>
              <a:rPr lang="es-AR" sz="2800" err="1"/>
              <a:t>Providers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 err="1"/>
              <a:t>Location</a:t>
            </a:r>
            <a:r>
              <a:rPr lang="es-AR" sz="2800"/>
              <a:t> Manager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 err="1"/>
              <a:t>Window</a:t>
            </a:r>
            <a:r>
              <a:rPr lang="es-AR" sz="2800"/>
              <a:t> Manager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 err="1"/>
              <a:t>Activity</a:t>
            </a:r>
            <a:r>
              <a:rPr lang="es-AR" sz="2800"/>
              <a:t> Manager</a:t>
            </a:r>
            <a:endParaRPr lang="es-E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/>
              <a:t>View </a:t>
            </a:r>
            <a:r>
              <a:rPr lang="es-AR" sz="2800" err="1"/>
              <a:t>System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052969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3784167F-400C-5044-C8EE-77777615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01BD52AD-7832-CBCA-34B2-AFAC5DB3D1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E39B3B6-1508-BDC5-3579-98EFCFF815E3}"/>
              </a:ext>
            </a:extLst>
          </p:cNvPr>
          <p:cNvSpPr txBox="1"/>
          <p:nvPr/>
        </p:nvSpPr>
        <p:spPr>
          <a:xfrm>
            <a:off x="155959" y="819114"/>
            <a:ext cx="321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Seguridad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(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Parte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I)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FB6138E-4E57-D78F-48CF-360FB5F949E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EB7A06-99C7-D4CD-2236-BF5411B8F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FE4E78-76E5-3DF1-9FFB-07734013D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5AFCEB-FA4D-5F81-FCA6-BFF539B5F4EC}"/>
              </a:ext>
            </a:extLst>
          </p:cNvPr>
          <p:cNvSpPr txBox="1"/>
          <p:nvPr/>
        </p:nvSpPr>
        <p:spPr>
          <a:xfrm>
            <a:off x="602130" y="1504703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Aislamiento de Aplicaciones (</a:t>
            </a:r>
            <a:r>
              <a:rPr lang="es-AR" sz="2400" err="1"/>
              <a:t>Sandboxing</a:t>
            </a:r>
            <a:r>
              <a:rPr lang="es-AR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Permisos (</a:t>
            </a:r>
            <a:r>
              <a:rPr lang="es-AR" sz="2400" err="1"/>
              <a:t>Permission</a:t>
            </a:r>
            <a:r>
              <a:rPr lang="es-AR" sz="2400"/>
              <a:t> </a:t>
            </a:r>
            <a:r>
              <a:rPr lang="es-AR" sz="2400" err="1"/>
              <a:t>System</a:t>
            </a:r>
            <a:r>
              <a:rPr lang="es-AR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SELinux (Security-</a:t>
            </a:r>
            <a:r>
              <a:rPr lang="es-AR" sz="2400" err="1"/>
              <a:t>Enhanced</a:t>
            </a:r>
            <a:r>
              <a:rPr lang="es-AR" sz="2400"/>
              <a:t> Linux)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Verificación de integridad (</a:t>
            </a:r>
            <a:r>
              <a:rPr lang="es-ES" sz="2400" err="1"/>
              <a:t>Verified</a:t>
            </a:r>
            <a:r>
              <a:rPr lang="es-ES" sz="2400"/>
              <a:t> </a:t>
            </a:r>
            <a:r>
              <a:rPr lang="es-ES" sz="2400" err="1"/>
              <a:t>Boot</a:t>
            </a:r>
            <a:r>
              <a:rPr lang="es-ES" sz="2400"/>
              <a:t>)</a:t>
            </a:r>
            <a:endParaRPr lang="es-A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Google Play </a:t>
            </a:r>
            <a:r>
              <a:rPr lang="es-AR" sz="2400" err="1"/>
              <a:t>Protect</a:t>
            </a:r>
            <a:r>
              <a:rPr lang="es-AR" sz="2400"/>
              <a:t>: Analiza apps en tiempo real.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Cifrado de almacenamiento. (FDE, FBE)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Control de ejecución (App </a:t>
            </a:r>
            <a:r>
              <a:rPr lang="es-ES" sz="2400" err="1"/>
              <a:t>Signing</a:t>
            </a:r>
            <a:r>
              <a:rPr lang="es-ES" sz="2400"/>
              <a:t> + </a:t>
            </a:r>
            <a:r>
              <a:rPr lang="es-ES" sz="2400" err="1"/>
              <a:t>Verified</a:t>
            </a:r>
            <a:r>
              <a:rPr lang="es-ES" sz="2400"/>
              <a:t> APK)</a:t>
            </a:r>
            <a:endParaRPr lang="es-A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/>
              <a:t>Seguridad en comunicación (TLS/HTTPS)</a:t>
            </a: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491163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345"/>
        </a:solidFill>
        <a:effectLst/>
      </p:bgPr>
    </p:bg>
    <p:spTree>
      <p:nvGrpSpPr>
        <p:cNvPr id="1" name="Shape 50">
          <a:extLst>
            <a:ext uri="{FF2B5EF4-FFF2-40B4-BE49-F238E27FC236}">
              <a16:creationId xmlns:a16="http://schemas.microsoft.com/office/drawing/2014/main" id="{C124B5F4-6D0D-1EDD-380F-AFB0E724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4B4D38A-AE8C-4EBD-1AD7-8A30B8E36F27}"/>
              </a:ext>
            </a:extLst>
          </p:cNvPr>
          <p:cNvSpPr txBox="1"/>
          <p:nvPr/>
        </p:nvSpPr>
        <p:spPr>
          <a:xfrm>
            <a:off x="1980589" y="1802308"/>
            <a:ext cx="518282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Otros</a:t>
            </a:r>
            <a:r>
              <a:rPr lang="en-US" sz="2800" b="1">
                <a:solidFill>
                  <a:schemeClr val="bg1"/>
                </a:solidFill>
                <a:latin typeface="Montserrat" panose="00000500000000000000" pitchFamily="2" charset="0"/>
              </a:rPr>
              <a:t> Sistemas </a:t>
            </a:r>
            <a:r>
              <a:rPr lang="en-US" sz="2800" b="1" err="1">
                <a:solidFill>
                  <a:schemeClr val="bg1"/>
                </a:solidFill>
                <a:latin typeface="Montserrat" panose="00000500000000000000" pitchFamily="2" charset="0"/>
              </a:rPr>
              <a:t>Operativos</a:t>
            </a:r>
            <a:endParaRPr lang="en-US" sz="2800" b="1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endParaRPr lang="en-US" sz="24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s-MX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70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924613C8-D66D-1400-1EEF-11BF6AB6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D168F7D7-D3AB-670F-FBC7-9E5E9F77D5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8CF305-E6AC-7693-EA37-AFBB423E1335}"/>
              </a:ext>
            </a:extLst>
          </p:cNvPr>
          <p:cNvSpPr txBox="1"/>
          <p:nvPr/>
        </p:nvSpPr>
        <p:spPr>
          <a:xfrm>
            <a:off x="155959" y="819114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iOS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90B1DFB-4A7E-FB89-6A7E-BC8B760A62E2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D8E9CB-9F9B-AA71-E9BA-1A9C5010C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A3189DB-EE7E-A385-D563-F8B49A16A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96C7A-1681-C099-612C-BF998725D03A}"/>
              </a:ext>
            </a:extLst>
          </p:cNvPr>
          <p:cNvSpPr txBox="1"/>
          <p:nvPr/>
        </p:nvSpPr>
        <p:spPr>
          <a:xfrm>
            <a:off x="602130" y="1327172"/>
            <a:ext cx="79397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Desarrollado por Apple Inc.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Basado en Darwin y </a:t>
            </a:r>
            <a:r>
              <a:rPr lang="es-ES" sz="2400" err="1"/>
              <a:t>Kernel</a:t>
            </a:r>
            <a:r>
              <a:rPr lang="es-ES" sz="2400"/>
              <a:t> XNU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Cerrado y controlado por Apple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Utiliza Swift y Objetive-C como lenguajes principales.</a:t>
            </a:r>
          </a:p>
        </p:txBody>
      </p:sp>
      <p:pic>
        <p:nvPicPr>
          <p:cNvPr id="14338" name="Picture 2" descr="Overview of iOS frameworks. This article contains list of Apple iOS… | by  Vikas Kore | Medium">
            <a:extLst>
              <a:ext uri="{FF2B5EF4-FFF2-40B4-BE49-F238E27FC236}">
                <a16:creationId xmlns:a16="http://schemas.microsoft.com/office/drawing/2014/main" id="{3FEFCCFA-C080-4C01-0FC8-0DC534F69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08" y="3107586"/>
            <a:ext cx="3209268" cy="175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529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A49DBDCA-02A3-0F6D-2EB2-EA3435FB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68D62702-694E-9E41-6AD9-13F48D3C12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4267400-C196-451C-9EFE-99AB0F4803CE}"/>
              </a:ext>
            </a:extLst>
          </p:cNvPr>
          <p:cNvSpPr txBox="1"/>
          <p:nvPr/>
        </p:nvSpPr>
        <p:spPr>
          <a:xfrm>
            <a:off x="155959" y="819114"/>
            <a:ext cx="2132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HarmonyOS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B419BE-B17E-E2CD-32E9-8AE742C5176B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3B6055-F5A5-AB7B-2908-F894AC0DE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582AA1C-D973-98C3-16F1-836908FF0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3C1E79-95E8-1F9D-89E2-445A316A7914}"/>
              </a:ext>
            </a:extLst>
          </p:cNvPr>
          <p:cNvSpPr txBox="1"/>
          <p:nvPr/>
        </p:nvSpPr>
        <p:spPr>
          <a:xfrm>
            <a:off x="602130" y="1327172"/>
            <a:ext cx="79397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2400"/>
              <a:t>Sistema operativo desarrollado por </a:t>
            </a:r>
            <a:r>
              <a:rPr lang="es-AR" sz="2400" b="1"/>
              <a:t>Huawei</a:t>
            </a:r>
            <a:r>
              <a:rPr lang="es-AR" sz="2400"/>
              <a:t> desde 2019.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400"/>
              <a:t>Diseñado para funcionar en móviles, </a:t>
            </a:r>
            <a:r>
              <a:rPr lang="es-AR" sz="2400" err="1"/>
              <a:t>tablets</a:t>
            </a:r>
            <a:r>
              <a:rPr lang="es-AR" sz="2400"/>
              <a:t>, </a:t>
            </a:r>
            <a:r>
              <a:rPr lang="es-AR" sz="2400" err="1"/>
              <a:t>smart</a:t>
            </a:r>
            <a:r>
              <a:rPr lang="es-AR" sz="2400"/>
              <a:t> </a:t>
            </a:r>
            <a:r>
              <a:rPr lang="es-AR" sz="2400" err="1"/>
              <a:t>TVs</a:t>
            </a:r>
            <a:r>
              <a:rPr lang="es-AR" sz="2400"/>
              <a:t>, </a:t>
            </a:r>
            <a:r>
              <a:rPr lang="es-AR" sz="2400" err="1"/>
              <a:t>IoT</a:t>
            </a:r>
            <a:r>
              <a:rPr lang="es-AR" sz="24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400"/>
              <a:t>Reemplazo de Android tras restricciones de EE.UU.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400"/>
              <a:t>Usa elementos de AOSP (Android Open </a:t>
            </a:r>
            <a:r>
              <a:rPr lang="es-AR" sz="2400" err="1"/>
              <a:t>Source</a:t>
            </a:r>
            <a:r>
              <a:rPr lang="es-AR" sz="2400"/>
              <a:t> Project) en móviles.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400"/>
              <a:t>Basado en un </a:t>
            </a:r>
            <a:r>
              <a:rPr lang="es-AR" sz="2400" err="1"/>
              <a:t>microkernel</a:t>
            </a:r>
            <a:r>
              <a:rPr lang="es-AR" sz="2400"/>
              <a:t> con enfoque distribuido (</a:t>
            </a:r>
            <a:r>
              <a:rPr lang="es-AR" sz="2400" err="1"/>
              <a:t>multi-device</a:t>
            </a:r>
            <a:r>
              <a:rPr lang="es-AR" sz="240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</p:txBody>
      </p:sp>
      <p:pic>
        <p:nvPicPr>
          <p:cNvPr id="15362" name="Picture 2" descr="14,500+ China Flag Stock Photos, Pictures &amp; Royalty-Free Images - iStock |  American flag, Four seasons, China">
            <a:extLst>
              <a:ext uri="{FF2B5EF4-FFF2-40B4-BE49-F238E27FC236}">
                <a16:creationId xmlns:a16="http://schemas.microsoft.com/office/drawing/2014/main" id="{5B29F810-9B13-39B2-BE38-D5C020ACF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781" y="4002685"/>
            <a:ext cx="856386" cy="8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565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FE8891A0-790A-1186-EBEF-8E0A504C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4EC35749-6C37-6E96-36B1-386D8A3206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CCA916C-75AC-4D44-FA70-63FA7636C827}"/>
              </a:ext>
            </a:extLst>
          </p:cNvPr>
          <p:cNvSpPr txBox="1"/>
          <p:nvPr/>
        </p:nvSpPr>
        <p:spPr>
          <a:xfrm>
            <a:off x="155959" y="819114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iOS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289D83-6FBB-0547-1852-CC90FF387362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8596CE-BC46-0EE0-84CD-6A510A35B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4C8592-94D7-362C-7C40-F15B97F22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4EA9E3-6979-96D7-9CC3-81DADD9C3D57}"/>
              </a:ext>
            </a:extLst>
          </p:cNvPr>
          <p:cNvSpPr txBox="1"/>
          <p:nvPr/>
        </p:nvSpPr>
        <p:spPr>
          <a:xfrm>
            <a:off x="602130" y="1327172"/>
            <a:ext cx="79397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Ejemplo en Objetive-C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#import "</a:t>
            </a:r>
            <a:r>
              <a:rPr lang="es-ES" sz="1200" b="1" err="1">
                <a:latin typeface="Consolas" panose="020B0609020204030204" pitchFamily="49" charset="0"/>
              </a:rPr>
              <a:t>ViewController.h</a:t>
            </a:r>
            <a:r>
              <a:rPr lang="es-ES" sz="1200" b="1">
                <a:latin typeface="Consolas" panose="020B0609020204030204" pitchFamily="49" charset="0"/>
              </a:rPr>
              <a:t>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@interface </a:t>
            </a:r>
            <a:r>
              <a:rPr lang="es-ES" sz="1200" b="1" err="1">
                <a:latin typeface="Consolas" panose="020B0609020204030204" pitchFamily="49" charset="0"/>
              </a:rPr>
              <a:t>ViewController</a:t>
            </a:r>
            <a:r>
              <a:rPr lang="es-ES" sz="1200" b="1">
                <a:latin typeface="Consolas" panose="020B0609020204030204" pitchFamily="49" charset="0"/>
              </a:rPr>
              <a:t> 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@end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@implementation </a:t>
            </a:r>
            <a:r>
              <a:rPr lang="es-ES" sz="1200" b="1" err="1">
                <a:latin typeface="Consolas" panose="020B0609020204030204" pitchFamily="49" charset="0"/>
              </a:rPr>
              <a:t>ViewController</a:t>
            </a: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- (</a:t>
            </a:r>
            <a:r>
              <a:rPr lang="es-ES" sz="1200" b="1" err="1">
                <a:latin typeface="Consolas" panose="020B0609020204030204" pitchFamily="49" charset="0"/>
              </a:rPr>
              <a:t>void</a:t>
            </a:r>
            <a:r>
              <a:rPr lang="es-ES" sz="1200" b="1">
                <a:latin typeface="Consolas" panose="020B0609020204030204" pitchFamily="49" charset="0"/>
              </a:rPr>
              <a:t>)</a:t>
            </a:r>
            <a:r>
              <a:rPr lang="es-ES" sz="1200" b="1" err="1">
                <a:latin typeface="Consolas" panose="020B0609020204030204" pitchFamily="49" charset="0"/>
              </a:rPr>
              <a:t>viewDidLoad</a:t>
            </a:r>
            <a:r>
              <a:rPr lang="es-ES" sz="1200" b="1">
                <a:latin typeface="Consolas" panose="020B0609020204030204" pitchFamily="49" charset="0"/>
              </a:rPr>
              <a:t> {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    [super </a:t>
            </a:r>
            <a:r>
              <a:rPr lang="es-ES" sz="1200" b="1" err="1">
                <a:latin typeface="Consolas" panose="020B0609020204030204" pitchFamily="49" charset="0"/>
              </a:rPr>
              <a:t>viewDidLoad</a:t>
            </a:r>
            <a:r>
              <a:rPr lang="es-ES" sz="1200" b="1">
                <a:latin typeface="Consolas" panose="020B0609020204030204" pitchFamily="49" charset="0"/>
              </a:rPr>
              <a:t>];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    </a:t>
            </a:r>
            <a:r>
              <a:rPr lang="es-ES" sz="1200" b="1" err="1">
                <a:latin typeface="Consolas" panose="020B0609020204030204" pitchFamily="49" charset="0"/>
              </a:rPr>
              <a:t>UILabel</a:t>
            </a:r>
            <a:r>
              <a:rPr lang="es-ES" sz="1200" b="1">
                <a:latin typeface="Consolas" panose="020B0609020204030204" pitchFamily="49" charset="0"/>
              </a:rPr>
              <a:t> *</a:t>
            </a:r>
            <a:r>
              <a:rPr lang="es-ES" sz="1200" b="1" err="1">
                <a:latin typeface="Consolas" panose="020B0609020204030204" pitchFamily="49" charset="0"/>
              </a:rPr>
              <a:t>label</a:t>
            </a:r>
            <a:r>
              <a:rPr lang="es-ES" sz="1200" b="1">
                <a:latin typeface="Consolas" panose="020B0609020204030204" pitchFamily="49" charset="0"/>
              </a:rPr>
              <a:t> = [[</a:t>
            </a:r>
            <a:r>
              <a:rPr lang="es-ES" sz="1200" b="1" err="1">
                <a:latin typeface="Consolas" panose="020B0609020204030204" pitchFamily="49" charset="0"/>
              </a:rPr>
              <a:t>UILabel</a:t>
            </a:r>
            <a:r>
              <a:rPr lang="es-ES" sz="1200" b="1">
                <a:latin typeface="Consolas" panose="020B0609020204030204" pitchFamily="49" charset="0"/>
              </a:rPr>
              <a:t> </a:t>
            </a:r>
            <a:r>
              <a:rPr lang="es-ES" sz="1200" b="1" err="1">
                <a:latin typeface="Consolas" panose="020B0609020204030204" pitchFamily="49" charset="0"/>
              </a:rPr>
              <a:t>alloc</a:t>
            </a:r>
            <a:r>
              <a:rPr lang="es-ES" sz="1200" b="1">
                <a:latin typeface="Consolas" panose="020B0609020204030204" pitchFamily="49" charset="0"/>
              </a:rPr>
              <a:t>] </a:t>
            </a:r>
            <a:r>
              <a:rPr lang="es-ES" sz="1200" b="1" err="1">
                <a:latin typeface="Consolas" panose="020B0609020204030204" pitchFamily="49" charset="0"/>
              </a:rPr>
              <a:t>initWithFrame:CGRectMake</a:t>
            </a:r>
            <a:r>
              <a:rPr lang="es-ES" sz="1200" b="1">
                <a:latin typeface="Consolas" panose="020B0609020204030204" pitchFamily="49" charset="0"/>
              </a:rPr>
              <a:t>(50, 200, 220, 40)];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    </a:t>
            </a:r>
            <a:r>
              <a:rPr lang="es-ES" sz="1200" b="1" err="1">
                <a:latin typeface="Consolas" panose="020B0609020204030204" pitchFamily="49" charset="0"/>
              </a:rPr>
              <a:t>label.text</a:t>
            </a:r>
            <a:r>
              <a:rPr lang="es-ES" sz="1200" b="1">
                <a:latin typeface="Consolas" panose="020B0609020204030204" pitchFamily="49" charset="0"/>
              </a:rPr>
              <a:t> = @"Hola Mundo";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    </a:t>
            </a:r>
            <a:r>
              <a:rPr lang="es-ES" sz="1200" b="1" err="1">
                <a:latin typeface="Consolas" panose="020B0609020204030204" pitchFamily="49" charset="0"/>
              </a:rPr>
              <a:t>label.textAlignment</a:t>
            </a:r>
            <a:r>
              <a:rPr lang="es-ES" sz="1200" b="1">
                <a:latin typeface="Consolas" panose="020B0609020204030204" pitchFamily="49" charset="0"/>
              </a:rPr>
              <a:t> = </a:t>
            </a:r>
            <a:r>
              <a:rPr lang="es-ES" sz="1200" b="1" err="1">
                <a:latin typeface="Consolas" panose="020B0609020204030204" pitchFamily="49" charset="0"/>
              </a:rPr>
              <a:t>NSTextAlignmentCenter</a:t>
            </a:r>
            <a:r>
              <a:rPr lang="es-ES" sz="1200" b="1">
                <a:latin typeface="Consolas" panose="020B0609020204030204" pitchFamily="49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    [</a:t>
            </a:r>
            <a:r>
              <a:rPr lang="es-ES" sz="1200" b="1" err="1">
                <a:latin typeface="Consolas" panose="020B0609020204030204" pitchFamily="49" charset="0"/>
              </a:rPr>
              <a:t>self.view</a:t>
            </a:r>
            <a:r>
              <a:rPr lang="es-ES" sz="1200" b="1">
                <a:latin typeface="Consolas" panose="020B0609020204030204" pitchFamily="49" charset="0"/>
              </a:rPr>
              <a:t> </a:t>
            </a:r>
            <a:r>
              <a:rPr lang="es-ES" sz="1200" b="1" err="1">
                <a:latin typeface="Consolas" panose="020B0609020204030204" pitchFamily="49" charset="0"/>
              </a:rPr>
              <a:t>addSubview:label</a:t>
            </a:r>
            <a:r>
              <a:rPr lang="es-ES" sz="1200" b="1">
                <a:latin typeface="Consolas" panose="020B0609020204030204" pitchFamily="49" charset="0"/>
              </a:rPr>
              <a:t>];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b="1">
                <a:latin typeface="Consolas" panose="020B0609020204030204" pitchFamily="49" charset="0"/>
              </a:rPr>
              <a:t>@end</a:t>
            </a:r>
          </a:p>
        </p:txBody>
      </p:sp>
    </p:spTree>
    <p:extLst>
      <p:ext uri="{BB962C8B-B14F-4D97-AF65-F5344CB8AC3E}">
        <p14:creationId xmlns:p14="http://schemas.microsoft.com/office/powerpoint/2010/main" val="2995898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5191EDB0-6088-5BAE-9172-EA0B03A7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836A4660-0CFE-5D57-7BA4-6BA29DDF0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6E2E5C5-254E-2748-9D59-CE8B1F26BD9B}"/>
              </a:ext>
            </a:extLst>
          </p:cNvPr>
          <p:cNvSpPr txBox="1"/>
          <p:nvPr/>
        </p:nvSpPr>
        <p:spPr>
          <a:xfrm>
            <a:off x="155959" y="819114"/>
            <a:ext cx="5883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Lenguajes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programación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Mobile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A4254D-FF21-3EC6-286C-CF99FFB3C88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A8AE1B3-4796-7C29-270E-607E545E7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B241CA-C98B-0B83-40D7-285B7B5B2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2ED16C-7451-4B99-B810-F8343A0FDBFE}"/>
              </a:ext>
            </a:extLst>
          </p:cNvPr>
          <p:cNvSpPr txBox="1"/>
          <p:nvPr/>
        </p:nvSpPr>
        <p:spPr>
          <a:xfrm>
            <a:off x="542109" y="1280779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err="1"/>
              <a:t>Kotlin</a:t>
            </a:r>
            <a:r>
              <a:rPr lang="es-ES" sz="2400"/>
              <a:t> → Lenguaje oficial recomendado por Google.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Java</a:t>
            </a:r>
            <a:r>
              <a:rPr lang="es-ES" sz="2400"/>
              <a:t> → Todavía muy usado, aunque va siendo reemplazado por </a:t>
            </a:r>
            <a:r>
              <a:rPr lang="es-ES" sz="2400" err="1"/>
              <a:t>Kotlin</a:t>
            </a:r>
            <a:r>
              <a:rPr lang="es-E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Dart </a:t>
            </a:r>
            <a:r>
              <a:rPr lang="es-ES" sz="2400"/>
              <a:t>→ Usado con </a:t>
            </a:r>
            <a:r>
              <a:rPr lang="es-ES" sz="2400" err="1"/>
              <a:t>Flutter</a:t>
            </a:r>
            <a:r>
              <a:rPr lang="es-ES" sz="2400"/>
              <a:t>, </a:t>
            </a:r>
            <a:r>
              <a:rPr lang="es-ES" sz="2400" err="1"/>
              <a:t>framework</a:t>
            </a:r>
            <a:r>
              <a:rPr lang="es-ES" sz="2400"/>
              <a:t> multiplataforma.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C++ </a:t>
            </a:r>
            <a:r>
              <a:rPr lang="es-ES" sz="2400"/>
              <a:t>→ Para partes nativas de alto rendimiento (usando NDK).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JavaScript/</a:t>
            </a:r>
            <a:r>
              <a:rPr lang="es-ES" sz="2400" b="1" err="1"/>
              <a:t>TypeScript</a:t>
            </a:r>
            <a:r>
              <a:rPr lang="es-ES" sz="2400" b="1"/>
              <a:t> </a:t>
            </a:r>
            <a:r>
              <a:rPr lang="es-ES" sz="2400"/>
              <a:t>→ Usado con </a:t>
            </a:r>
            <a:r>
              <a:rPr lang="es-ES" sz="2400" err="1"/>
              <a:t>frameworks</a:t>
            </a:r>
            <a:r>
              <a:rPr lang="es-ES" sz="2400"/>
              <a:t> como </a:t>
            </a:r>
            <a:r>
              <a:rPr lang="es-ES" sz="2400" err="1"/>
              <a:t>React</a:t>
            </a:r>
            <a:r>
              <a:rPr lang="es-ES" sz="2400"/>
              <a:t> Native.</a:t>
            </a:r>
          </a:p>
        </p:txBody>
      </p:sp>
    </p:spTree>
    <p:extLst>
      <p:ext uri="{BB962C8B-B14F-4D97-AF65-F5344CB8AC3E}">
        <p14:creationId xmlns:p14="http://schemas.microsoft.com/office/powerpoint/2010/main" val="3161312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B61A31B1-F4AD-D000-94DF-1DDEA63C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>
            <a:extLst>
              <a:ext uri="{FF2B5EF4-FFF2-40B4-BE49-F238E27FC236}">
                <a16:creationId xmlns:a16="http://schemas.microsoft.com/office/drawing/2014/main" id="{88EEA5E2-81F8-4A8B-BCB3-397AA7F4F0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574" y="4664766"/>
            <a:ext cx="856386" cy="309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90D434D-42E9-FDC0-7193-DB1092630CF2}"/>
              </a:ext>
            </a:extLst>
          </p:cNvPr>
          <p:cNvSpPr txBox="1"/>
          <p:nvPr/>
        </p:nvSpPr>
        <p:spPr>
          <a:xfrm>
            <a:off x="155959" y="819114"/>
            <a:ext cx="5883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Lenguajes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de </a:t>
            </a:r>
            <a:r>
              <a:rPr lang="en-US" sz="2400" b="1" err="1">
                <a:solidFill>
                  <a:srgbClr val="163345"/>
                </a:solidFill>
                <a:latin typeface="Montserrat" panose="00000500000000000000" pitchFamily="2" charset="0"/>
              </a:rPr>
              <a:t>programación</a:t>
            </a:r>
            <a:r>
              <a:rPr lang="en-US" sz="2400" b="1">
                <a:solidFill>
                  <a:srgbClr val="163345"/>
                </a:solidFill>
                <a:latin typeface="Montserrat" panose="00000500000000000000" pitchFamily="2" charset="0"/>
              </a:rPr>
              <a:t> Mobile</a:t>
            </a:r>
            <a:endParaRPr lang="es-MX">
              <a:solidFill>
                <a:srgbClr val="163345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C8F4E2-A352-CF00-AE38-7F2A51B983B5}"/>
              </a:ext>
            </a:extLst>
          </p:cNvPr>
          <p:cNvSpPr/>
          <p:nvPr/>
        </p:nvSpPr>
        <p:spPr>
          <a:xfrm>
            <a:off x="0" y="0"/>
            <a:ext cx="9144000" cy="595190"/>
          </a:xfrm>
          <a:prstGeom prst="rect">
            <a:avLst/>
          </a:prstGeom>
          <a:solidFill>
            <a:srgbClr val="16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232B01A-EE02-37D8-D2CA-FE432BA9B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" y="36151"/>
            <a:ext cx="460148" cy="51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6CA040D-5416-EA71-B399-6FBFA745B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09" y="138855"/>
            <a:ext cx="1981085" cy="319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834A55-7325-9F36-7DC7-86AD507287CC}"/>
              </a:ext>
            </a:extLst>
          </p:cNvPr>
          <p:cNvSpPr txBox="1"/>
          <p:nvPr/>
        </p:nvSpPr>
        <p:spPr>
          <a:xfrm>
            <a:off x="542109" y="1280779"/>
            <a:ext cx="7939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err="1"/>
              <a:t>Kotlin</a:t>
            </a:r>
            <a:r>
              <a:rPr lang="es-ES" sz="2400"/>
              <a:t> → Lenguaje oficial recomendado por Google.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Java</a:t>
            </a:r>
            <a:r>
              <a:rPr lang="es-ES" sz="2400"/>
              <a:t> → Todavía muy usado, aunque va siendo reemplazado por </a:t>
            </a:r>
            <a:r>
              <a:rPr lang="es-ES" sz="2400" err="1"/>
              <a:t>Kotlin</a:t>
            </a:r>
            <a:r>
              <a:rPr lang="es-E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Dart </a:t>
            </a:r>
            <a:r>
              <a:rPr lang="es-ES" sz="2400"/>
              <a:t>→ Usado con </a:t>
            </a:r>
            <a:r>
              <a:rPr lang="es-ES" sz="2400" err="1"/>
              <a:t>Flutter</a:t>
            </a:r>
            <a:r>
              <a:rPr lang="es-ES" sz="2400"/>
              <a:t>, </a:t>
            </a:r>
            <a:r>
              <a:rPr lang="es-ES" sz="2400" err="1"/>
              <a:t>framework</a:t>
            </a:r>
            <a:r>
              <a:rPr lang="es-ES" sz="2400"/>
              <a:t> multiplataforma.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C++ </a:t>
            </a:r>
            <a:r>
              <a:rPr lang="es-ES" sz="2400"/>
              <a:t>→ Para partes nativas de alto rendimiento (usando NDK).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/>
              <a:t>JavaScript/</a:t>
            </a:r>
            <a:r>
              <a:rPr lang="es-ES" sz="2400" b="1" err="1"/>
              <a:t>TypeScript</a:t>
            </a:r>
            <a:r>
              <a:rPr lang="es-ES" sz="2400" b="1"/>
              <a:t> </a:t>
            </a:r>
            <a:r>
              <a:rPr lang="es-ES" sz="2400"/>
              <a:t>→ Usado con </a:t>
            </a:r>
            <a:r>
              <a:rPr lang="es-ES" sz="2400" err="1"/>
              <a:t>frameworks</a:t>
            </a:r>
            <a:r>
              <a:rPr lang="es-ES" sz="2400"/>
              <a:t> como </a:t>
            </a:r>
            <a:r>
              <a:rPr lang="es-ES" sz="2400" err="1"/>
              <a:t>React</a:t>
            </a:r>
            <a:r>
              <a:rPr lang="es-ES" sz="2400"/>
              <a:t> Native.</a:t>
            </a:r>
          </a:p>
        </p:txBody>
      </p:sp>
    </p:spTree>
    <p:extLst>
      <p:ext uri="{BB962C8B-B14F-4D97-AF65-F5344CB8AC3E}">
        <p14:creationId xmlns:p14="http://schemas.microsoft.com/office/powerpoint/2010/main" val="262943652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7" ma:contentTypeDescription="Crear nuevo documento." ma:contentTypeScope="" ma:versionID="b8f9f304219515137087e73dbb27e9d8">
  <xsd:schema xmlns:xsd="http://www.w3.org/2001/XMLSchema" xmlns:xs="http://www.w3.org/2001/XMLSchema" xmlns:p="http://schemas.microsoft.com/office/2006/metadata/properties" xmlns:ns2="6817ed02-5f63-452f-a9ab-4e2e87cdde74" targetNamespace="http://schemas.microsoft.com/office/2006/metadata/properties" ma:root="true" ma:fieldsID="7368f7f269e55e9201cd92fa5041eb77" ns2:_="">
    <xsd:import namespace="6817ed02-5f63-452f-a9ab-4e2e87cdd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C23D1A-7753-4E28-894C-9F8C1C7DB2BE}">
  <ds:schemaRefs>
    <ds:schemaRef ds:uri="6817ed02-5f63-452f-a9ab-4e2e87cdde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F0A1D9E-3697-4304-A105-4D5C39F272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087B445-3814-43D6-82A4-81D5A88154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45</Slides>
  <Notes>45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N3mo</dc:creator>
  <cp:revision>1</cp:revision>
  <dcterms:modified xsi:type="dcterms:W3CDTF">2026-04-30T21:20:55Z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